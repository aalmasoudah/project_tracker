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d615bfe1f94ab2" /><Relationship Type="http://schemas.openxmlformats.org/officeDocument/2006/relationships/extended-properties" Target="/docProps/app.xml" Id="R75c23131ddf841a1" /><Relationship Type="http://schemas.openxmlformats.org/officeDocument/2006/relationships/officeDocument" Target="/ppt/presentation.xml" Id="R4c431330be8e4523" /></Relationships>
</file>

<file path=ppt/presentation.xml><?xml version="1.0" encoding="utf-8"?>
<p:presentation xmlns:p="http://schemas.openxmlformats.org/presentationml/2006/main">
  <p:sldMasterIdLst>
    <p:sldMasterId xmlns:r="http://schemas.openxmlformats.org/officeDocument/2006/relationships" id="2147483648" r:id="R7da3ebbf1d4d44fc"/>
  </p:sldMasterIdLst>
  <p:notesMasterIdLst>
    <p:notesMasterId xmlns:r="http://schemas.openxmlformats.org/officeDocument/2006/relationships" r:id="Rcd45164693cb48a1"/>
  </p:notesMasterIdLst>
  <p:sldIdLst>
    <p:sldId xmlns:r="http://schemas.openxmlformats.org/officeDocument/2006/relationships" id="256" r:id="Rd1a0e53fce504ce1"/>
    <p:sldId xmlns:r="http://schemas.openxmlformats.org/officeDocument/2006/relationships" id="257" r:id="Rd802b29f8743449c"/>
    <p:sldId xmlns:r="http://schemas.openxmlformats.org/officeDocument/2006/relationships" id="258" r:id="R24d23d6df7aa432b"/>
    <p:sldId xmlns:r="http://schemas.openxmlformats.org/officeDocument/2006/relationships" id="259" r:id="R690f4078e394462b"/>
    <p:sldId xmlns:r="http://schemas.openxmlformats.org/officeDocument/2006/relationships" id="260" r:id="Rfe6c966107144f19"/>
    <p:sldId xmlns:r="http://schemas.openxmlformats.org/officeDocument/2006/relationships" id="261" r:id="R80ea68a05e8247fe"/>
    <p:sldId xmlns:r="http://schemas.openxmlformats.org/officeDocument/2006/relationships" id="262" r:id="R5dc0b78984e74434"/>
    <p:sldId xmlns:r="http://schemas.openxmlformats.org/officeDocument/2006/relationships" id="263" r:id="R41ea08058fec4beb"/>
    <p:sldId xmlns:r="http://schemas.openxmlformats.org/officeDocument/2006/relationships" id="264" r:id="R26f45d8c09234d98"/>
    <p:sldId xmlns:r="http://schemas.openxmlformats.org/officeDocument/2006/relationships" id="265" r:id="R3674919984b64ada"/>
    <p:sldId xmlns:r="http://schemas.openxmlformats.org/officeDocument/2006/relationships" id="266" r:id="R15fa7b70a51f475c"/>
    <p:sldId xmlns:r="http://schemas.openxmlformats.org/officeDocument/2006/relationships" id="267" r:id="R71cf9c1daf53460c"/>
    <p:sldId xmlns:r="http://schemas.openxmlformats.org/officeDocument/2006/relationships" id="268" r:id="Rb0f174dcca88475f"/>
    <p:sldId xmlns:r="http://schemas.openxmlformats.org/officeDocument/2006/relationships" id="269" r:id="R3346c9d2005342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fc948442b14080" /><Relationship Type="http://schemas.openxmlformats.org/officeDocument/2006/relationships/slideMaster" Target="/ppt/slideMasters/slideMaster1.xml" Id="R7da3ebbf1d4d44fc" /><Relationship Type="http://schemas.openxmlformats.org/officeDocument/2006/relationships/notesMaster" Target="/ppt/notesMasters/notesMaster1.xml" Id="Rcd45164693cb48a1" /><Relationship Type="http://schemas.openxmlformats.org/officeDocument/2006/relationships/presProps" Target="/ppt/presProps.xml" Id="R87f2fb15db9144eb" /><Relationship Type="http://schemas.openxmlformats.org/officeDocument/2006/relationships/tableStyles" Target="/ppt/tableStyles.xml" Id="R581636519c024b60" /><Relationship Type="http://schemas.openxmlformats.org/officeDocument/2006/relationships/slide" Target="/ppt/slides/slide1.xml" Id="Rd1a0e53fce504ce1" /><Relationship Type="http://schemas.openxmlformats.org/officeDocument/2006/relationships/slide" Target="/ppt/slides/slide2.xml" Id="Rd802b29f8743449c" /><Relationship Type="http://schemas.openxmlformats.org/officeDocument/2006/relationships/slide" Target="/ppt/slides/slide3.xml" Id="R24d23d6df7aa432b" /><Relationship Type="http://schemas.openxmlformats.org/officeDocument/2006/relationships/slide" Target="/ppt/slides/slide4.xml" Id="R690f4078e394462b" /><Relationship Type="http://schemas.openxmlformats.org/officeDocument/2006/relationships/slide" Target="/ppt/slides/slide5.xml" Id="Rfe6c966107144f19" /><Relationship Type="http://schemas.openxmlformats.org/officeDocument/2006/relationships/slide" Target="/ppt/slides/slide6.xml" Id="R80ea68a05e8247fe" /><Relationship Type="http://schemas.openxmlformats.org/officeDocument/2006/relationships/slide" Target="/ppt/slides/slide7.xml" Id="R5dc0b78984e74434" /><Relationship Type="http://schemas.openxmlformats.org/officeDocument/2006/relationships/slide" Target="/ppt/slides/slide8.xml" Id="R41ea08058fec4beb" /><Relationship Type="http://schemas.openxmlformats.org/officeDocument/2006/relationships/slide" Target="/ppt/slides/slide9.xml" Id="R26f45d8c09234d98" /><Relationship Type="http://schemas.openxmlformats.org/officeDocument/2006/relationships/slide" Target="/ppt/slides/slide10.xml" Id="R3674919984b64ada" /><Relationship Type="http://schemas.openxmlformats.org/officeDocument/2006/relationships/slide" Target="/ppt/slides/slide11.xml" Id="R15fa7b70a51f475c" /><Relationship Type="http://schemas.openxmlformats.org/officeDocument/2006/relationships/slide" Target="/ppt/slides/slide12.xml" Id="R71cf9c1daf53460c" /><Relationship Type="http://schemas.openxmlformats.org/officeDocument/2006/relationships/slide" Target="/ppt/slides/slide13.xml" Id="Rb0f174dcca88475f" /><Relationship Type="http://schemas.openxmlformats.org/officeDocument/2006/relationships/slide" Target="/ppt/slides/slide14.xml" Id="R3346c9d2005342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2f7741313f42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049bf5d8894cab" /><Relationship Type="http://schemas.openxmlformats.org/officeDocument/2006/relationships/notesMaster" Target="/ppt/notesMasters/notesMaster1.xml" Id="R54e8e9219a054b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b01fc6c6454893" /><Relationship Type="http://schemas.openxmlformats.org/officeDocument/2006/relationships/notesMaster" Target="/ppt/notesMasters/notesMaster1.xml" Id="R78785d6c273c49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015e6856244c57" /><Relationship Type="http://schemas.openxmlformats.org/officeDocument/2006/relationships/notesMaster" Target="/ppt/notesMasters/notesMaster1.xml" Id="R36609dfdfa5344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ebcd333d184bc3" /><Relationship Type="http://schemas.openxmlformats.org/officeDocument/2006/relationships/notesMaster" Target="/ppt/notesMasters/notesMaster1.xml" Id="R0f28b2b8523e4f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aeff844a37415e" /><Relationship Type="http://schemas.openxmlformats.org/officeDocument/2006/relationships/notesMaster" Target="/ppt/notesMasters/notesMaster1.xml" Id="Rd4f7031e6a8540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2443ebbc9c4f47" /><Relationship Type="http://schemas.openxmlformats.org/officeDocument/2006/relationships/notesMaster" Target="/ppt/notesMasters/notesMaster1.xml" Id="R9cbe06ec45c245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72b29021b04a85" /><Relationship Type="http://schemas.openxmlformats.org/officeDocument/2006/relationships/notesMaster" Target="/ppt/notesMasters/notesMaster1.xml" Id="R5913720d189944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2ab681689f4334" /><Relationship Type="http://schemas.openxmlformats.org/officeDocument/2006/relationships/notesMaster" Target="/ppt/notesMasters/notesMaster1.xml" Id="R9b94df22d98d4b9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fc31bdb5a9443c" /><Relationship Type="http://schemas.openxmlformats.org/officeDocument/2006/relationships/notesMaster" Target="/ppt/notesMasters/notesMaster1.xml" Id="R09d7d5bec20c44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4bc8e7fa2f4183" /><Relationship Type="http://schemas.openxmlformats.org/officeDocument/2006/relationships/notesMaster" Target="/ppt/notesMasters/notesMaster1.xml" Id="R1872829f69754f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c302f7ad2fe4531" /><Relationship Type="http://schemas.openxmlformats.org/officeDocument/2006/relationships/notesMaster" Target="/ppt/notesMasters/notesMaster1.xml" Id="R27771fca982a496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6b5762888f44306" /><Relationship Type="http://schemas.openxmlformats.org/officeDocument/2006/relationships/notesMaster" Target="/ppt/notesMasters/notesMaster1.xml" Id="R6476e80eefbf437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1c5cd3d5656446e" /><Relationship Type="http://schemas.openxmlformats.org/officeDocument/2006/relationships/notesMaster" Target="/ppt/notesMasters/notesMaster1.xml" Id="R8812b11088dc405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761b886357d4f6e" /><Relationship Type="http://schemas.openxmlformats.org/officeDocument/2006/relationships/notesMaster" Target="/ppt/notesMasters/notesMaster1.xml" Id="Rf9a92e2abd4444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Insight Tracker started as a complete operational system, then AI was added where it creates real value. The key idea is that the AI never replaces the system's permissions or business rules.</a:t>
            </a:r>
          </a:p>
          <a:p xmlns:a="http://schemas.openxmlformats.org/drawingml/2006/main">
            <a:r>
              <a:t/>
            </a:r>
          </a:p>
          <a:p xmlns:a="http://schemas.openxmlformats.org/drawingml/2006/main">
            <a:r>
              <a:t>[Sources]</a:t>
            </a:r>
          </a:p>
          <a:p xmlns:a="http://schemas.openxmlformats.org/drawingml/2006/main">
            <a:r>
              <a:t>- Repository scope and architecture documents</a:t>
            </a:r>
          </a:p>
          <a:p xmlns:a="http://schemas.openxmlformats.org/drawingml/2006/main">
            <a:r>
              <a:t>- Insight Tracker logo supplied by the project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hierarchy from program to project to task. The showcase data uses three Saudi universities and includes both dedicated and shared workers so permissions and workload are easy to demonstrate.</a:t>
            </a:r>
          </a:p>
          <a:p xmlns:a="http://schemas.openxmlformats.org/drawingml/2006/main">
            <a:r>
              <a:t/>
            </a:r>
          </a:p>
          <a:p xmlns:a="http://schemas.openxmlformats.org/drawingml/2006/main">
            <a:r>
              <a:t>[Sources]</a:t>
            </a:r>
          </a:p>
          <a:p xmlns:a="http://schemas.openxmlformats.org/drawingml/2006/main">
            <a:r>
              <a:t>- docs/SCOPE.md</a:t>
            </a:r>
          </a:p>
          <a:p xmlns:a="http://schemas.openxmlformats.org/drawingml/2006/main">
            <a:r>
              <a:t>- docs/USER_ROLES.md</a:t>
            </a:r>
          </a:p>
          <a:p xmlns:a="http://schemas.openxmlformats.org/drawingml/2006/main">
            <a:r>
              <a:t>- docs/RUNBOOKS/UNIVERSITY_SHOWCASE.md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one task from creation to assignment, collaboration, completion approval and progress calculation. Stress that progress is calculated once in services so the dashboard and reports cannot disagree.</a:t>
            </a:r>
          </a:p>
          <a:p xmlns:a="http://schemas.openxmlformats.org/drawingml/2006/main">
            <a:r>
              <a:t/>
            </a:r>
          </a:p>
          <a:p xmlns:a="http://schemas.openxmlformats.org/drawingml/2006/main">
            <a:r>
              <a:t>[Sources]</a:t>
            </a:r>
          </a:p>
          <a:p xmlns:a="http://schemas.openxmlformats.org/drawingml/2006/main">
            <a:r>
              <a:t>- docs/BUSINESS_RULES.md</a:t>
            </a:r>
          </a:p>
          <a:p xmlns:a="http://schemas.openxmlformats.org/drawingml/2006/main">
            <a:r>
              <a:t>- docs/WORKFLOWS.md</a:t>
            </a:r>
          </a:p>
          <a:p xmlns:a="http://schemas.openxmlformats.org/drawingml/2006/main">
            <a:r>
              <a:t>- Local fictional dashboard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prove that AI is not a disconnected demo. It sits on top of a complete application covering planning, delivery, training, reporting, administration and audit.</a:t>
            </a:r>
          </a:p>
          <a:p xmlns:a="http://schemas.openxmlformats.org/drawingml/2006/main">
            <a:r>
              <a:t/>
            </a:r>
          </a:p>
          <a:p xmlns:a="http://schemas.openxmlformats.org/drawingml/2006/main">
            <a:r>
              <a:t>[Sources]</a:t>
            </a:r>
          </a:p>
          <a:p xmlns:a="http://schemas.openxmlformats.org/drawingml/2006/main">
            <a:r>
              <a:t>- docs/SCOPE.md</a:t>
            </a:r>
          </a:p>
          <a:p xmlns:a="http://schemas.openxmlformats.org/drawingml/2006/main">
            <a:r>
              <a:t>- docs/WORKFLOWS.md</a:t>
            </a:r>
          </a:p>
          <a:p xmlns:a="http://schemas.openxmlformats.org/drawingml/2006/main">
            <a:r>
              <a:t>- docs/ACCEPTANCE_CRITERIA.md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RAG in plain language: retrieve approved live evidence, ask the model to explain it, then validate the answer. This implementation uses structured database retrieval rather than a vector database because project records already have clear relationships and filters.</a:t>
            </a:r>
          </a:p>
          <a:p xmlns:a="http://schemas.openxmlformats.org/drawingml/2006/main">
            <a:r>
              <a:t/>
            </a:r>
          </a:p>
          <a:p xmlns:a="http://schemas.openxmlformats.org/drawingml/2006/main">
            <a:r>
              <a:t>[Sources]</a:t>
            </a:r>
          </a:p>
          <a:p xmlns:a="http://schemas.openxmlformats.org/drawingml/2006/main">
            <a:r>
              <a:t>- docs/PHASES/PHASE_15_AI_PROJECT_BRIEFINGS.md</a:t>
            </a:r>
          </a:p>
          <a:p xmlns:a="http://schemas.openxmlformats.org/drawingml/2006/main">
            <a:r>
              <a:t>- Local deterministic AI briefing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AI engineering lesson: model choice alone does not make the feature safe. Selection, schemas, citation checks, output escaping and bounded storage are application responsibilities.</a:t>
            </a:r>
          </a:p>
          <a:p xmlns:a="http://schemas.openxmlformats.org/drawingml/2006/main">
            <a:r>
              <a:t/>
            </a:r>
          </a:p>
          <a:p xmlns:a="http://schemas.openxmlformats.org/drawingml/2006/main">
            <a:r>
              <a:t>[Sources]</a:t>
            </a:r>
          </a:p>
          <a:p xmlns:a="http://schemas.openxmlformats.org/drawingml/2006/main">
            <a:r>
              <a:t>- docs/PHASES/PHASE_15_AI_PROJECT_BRIEFINGS.md</a:t>
            </a:r>
          </a:p>
          <a:p xmlns:a="http://schemas.openxmlformats.org/drawingml/2006/main">
            <a:r>
              <a:t>- docs/SECURITY.md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agent loop. At least two distinct read tools must succeed. An observation is returned to the model and changes the next decision. Write intentions are stored only as proposals and the run pauses.</a:t>
            </a:r>
          </a:p>
          <a:p xmlns:a="http://schemas.openxmlformats.org/drawingml/2006/main">
            <a:r>
              <a:t/>
            </a:r>
          </a:p>
          <a:p xmlns:a="http://schemas.openxmlformats.org/drawingml/2006/main">
            <a:r>
              <a:t>[Sources]</a:t>
            </a:r>
          </a:p>
          <a:p xmlns:a="http://schemas.openxmlformats.org/drawingml/2006/main">
            <a:r>
              <a:t>- docs/PHASES/PHASE_17_AGENTIC_PROJECT_RECOVERY.md</a:t>
            </a:r>
          </a:p>
          <a:p xmlns:a="http://schemas.openxmlformats.org/drawingml/2006/main">
            <a:r>
              <a:t>- Local deterministic project-agent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how Human-in-the-Loop works. Approval is not enough by itself: execution rechecks permission and the original state, uses the existing domain service, applies the action transactionally once, then verifies the result.</a:t>
            </a:r>
          </a:p>
          <a:p xmlns:a="http://schemas.openxmlformats.org/drawingml/2006/main">
            <a:r>
              <a:t/>
            </a:r>
          </a:p>
          <a:p xmlns:a="http://schemas.openxmlformats.org/drawingml/2006/main">
            <a:r>
              <a:t>[Sources]</a:t>
            </a:r>
          </a:p>
          <a:p xmlns:a="http://schemas.openxmlformats.org/drawingml/2006/main">
            <a:r>
              <a:t>- docs/PHASES/PHASE_17_AGENTIC_PROJECT_RECOVERY.md</a:t>
            </a:r>
          </a:p>
          <a:p xmlns:a="http://schemas.openxmlformats.org/drawingml/2006/main">
            <a:r>
              <a:t>- docs/BUSINESS_RULES.md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n8n is used: it is a visual automation layer for Telegram events, waits, polling, PDF delivery and schedules. It does not receive database access and it does not decide permissions. Natural-language questions use the separate read-only executive assistant.</a:t>
            </a:r>
          </a:p>
          <a:p xmlns:a="http://schemas.openxmlformats.org/drawingml/2006/main">
            <a:r>
              <a:t/>
            </a:r>
          </a:p>
          <a:p xmlns:a="http://schemas.openxmlformats.org/drawingml/2006/main">
            <a:r>
              <a:t>[Sources]</a:t>
            </a:r>
          </a:p>
          <a:p xmlns:a="http://schemas.openxmlformats.org/drawingml/2006/main">
            <a:r>
              <a:t>- docs/PHASES/PHASE_16_CEO_TELEGRAM_N8N.md</a:t>
            </a:r>
          </a:p>
          <a:p xmlns:a="http://schemas.openxmlformats.org/drawingml/2006/main">
            <a:r>
              <a:t>- docs/PHASES/PHASE_19_TELEGRAM_AI_ASSISTANT.md</a:t>
            </a:r>
          </a:p>
          <a:p xmlns:a="http://schemas.openxmlformats.org/drawingml/2006/main">
            <a:r>
              <a:t>- Local n8n workflow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trust boundary. Telegram events are filtered, requests are signed, old or repeated requests fail, and n8n is not allowed to access PostgreSQL or Redis. Secrets are supplied at runtime and never committed.</a:t>
            </a:r>
          </a:p>
          <a:p xmlns:a="http://schemas.openxmlformats.org/drawingml/2006/main">
            <a:r>
              <a:t/>
            </a:r>
          </a:p>
          <a:p xmlns:a="http://schemas.openxmlformats.org/drawingml/2006/main">
            <a:r>
              <a:t>[Sources]</a:t>
            </a:r>
          </a:p>
          <a:p xmlns:a="http://schemas.openxmlformats.org/drawingml/2006/main">
            <a:r>
              <a:t>- docs/RUNBOOKS/PHASE_16_CEO_TELEGRAM_N8N.md</a:t>
            </a:r>
          </a:p>
          <a:p xmlns:a="http://schemas.openxmlformats.org/drawingml/2006/main">
            <a:r>
              <a:t>- docs/SECURITY.md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tool choices. Django keeps permissions and business rules together. PostgreSQL provides durable constraints and transactions. Celery and Redis keep slow work outside web requests. Groq provides hosted GPT-OSS inference. n8n connects Telegram without embedding bot logic into every business service.</a:t>
            </a:r>
          </a:p>
          <a:p xmlns:a="http://schemas.openxmlformats.org/drawingml/2006/main">
            <a:r>
              <a:t/>
            </a:r>
          </a:p>
          <a:p xmlns:a="http://schemas.openxmlformats.org/drawingml/2006/main">
            <a:r>
              <a:t>[Sources]</a:t>
            </a:r>
          </a:p>
          <a:p xmlns:a="http://schemas.openxmlformats.org/drawingml/2006/main">
            <a:r>
              <a:t>- AGENTS.md required stack</a:t>
            </a:r>
          </a:p>
          <a:p xmlns:a="http://schemas.openxmlformats.org/drawingml/2006/main">
            <a:r>
              <a:t>- docs/DEPLOYMENT.md</a:t>
            </a:r>
          </a:p>
          <a:p xmlns:a="http://schemas.openxmlformats.org/drawingml/2006/main">
            <a:r>
              <a:t>- docs/PHASES/PHASE_18_DEPLOYMENT_READINESS.md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Mention that Arabic is not only translated text. Direction, dates, search normalization, report layouts, mixed-direction model IDs and mobile behavior are part of implementation and testing.</a:t>
            </a:r>
          </a:p>
          <a:p xmlns:a="http://schemas.openxmlformats.org/drawingml/2006/main">
            <a:r>
              <a:t/>
            </a:r>
          </a:p>
          <a:p xmlns:a="http://schemas.openxmlformats.org/drawingml/2006/main">
            <a:r>
              <a:t>[Sources]</a:t>
            </a:r>
          </a:p>
          <a:p xmlns:a="http://schemas.openxmlformats.org/drawingml/2006/main">
            <a:r>
              <a:t>- docs/LOCALIZATION.md</a:t>
            </a:r>
          </a:p>
          <a:p xmlns:a="http://schemas.openxmlformats.org/drawingml/2006/main">
            <a:r>
              <a:t>- Local Arabic dashboard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only say that tests passed. Explain what was tested: object permissions, prompt injection, replay, stale state, idempotency, provider failures, Arabic, English and mobile browser workflows. The 244 figure is the documented Phase 19 gate: 228 unit/integration plus 16 browser tests.</a:t>
            </a:r>
          </a:p>
          <a:p xmlns:a="http://schemas.openxmlformats.org/drawingml/2006/main">
            <a:r>
              <a:t/>
            </a:r>
          </a:p>
          <a:p xmlns:a="http://schemas.openxmlformats.org/drawingml/2006/main">
            <a:r>
              <a:t>[Sources]</a:t>
            </a:r>
          </a:p>
          <a:p xmlns:a="http://schemas.openxmlformats.org/drawingml/2006/main">
            <a:r>
              <a:t>- docs/PHASES/PHASE_19_VERIFICATION.md</a:t>
            </a:r>
          </a:p>
          <a:p xmlns:a="http://schemas.openxmlformats.org/drawingml/2006/main">
            <a:r>
              <a:t>- Local focused regression run on 2026-08-06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connecting the product to the training goals. The result is not only an LLM call: it combines data engineering, retrieval, agent design, automation, security, testing and deployment thinking. The remaining step for real use is a stable HTTPS deployment and controlled pilot.</a:t>
            </a:r>
          </a:p>
          <a:p xmlns:a="http://schemas.openxmlformats.org/drawingml/2006/main">
            <a:r>
              <a:t/>
            </a:r>
          </a:p>
          <a:p xmlns:a="http://schemas.openxmlformats.org/drawingml/2006/main">
            <a:r>
              <a:t>[Sources]</a:t>
            </a:r>
          </a:p>
          <a:p xmlns:a="http://schemas.openxmlformats.org/drawingml/2006/main">
            <a:r>
              <a:t>- docs/PHASES/PHASE_18_DEPLOYMENT_READINESS.md</a:t>
            </a:r>
          </a:p>
          <a:p xmlns:a="http://schemas.openxmlformats.org/drawingml/2006/main">
            <a:r>
              <a:t>- docs/PHASES/PHASE_19_VERIFICATION.md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5ec004e72e41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732465ebd34e3f" /><Relationship Type="http://schemas.openxmlformats.org/officeDocument/2006/relationships/slideLayout" Target="/ppt/slideLayouts/slideLayout1.xml" Id="R8badf9716cba48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adf9716cba48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4e368a8b2d4d3d" /><Relationship Type="http://schemas.openxmlformats.org/officeDocument/2006/relationships/image" Target="/ppt/media/image.png" Id="R2f8aba01ca274e6d" /><Relationship Type="http://schemas.openxmlformats.org/officeDocument/2006/relationships/notesSlide" Target="/ppt/notesSlides/notesSlide1.xml" Id="R7e3a75ee62ec46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1fdc7409a4d4baa" /><Relationship Type="http://schemas.openxmlformats.org/officeDocument/2006/relationships/notesSlide" Target="/ppt/notesSlides/notesSlide2.xml" Id="R86c46346961448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79b19ec938a49fb" /><Relationship Type="http://schemas.openxmlformats.org/officeDocument/2006/relationships/image" Target="/ppt/media/image.jpeg" Id="Red707027bf6e4812" /><Relationship Type="http://schemas.openxmlformats.org/officeDocument/2006/relationships/notesSlide" Target="/ppt/notesSlides/notesSlide3.xml" Id="R6a2ec53fbe1346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daf04eacfae41db" /><Relationship Type="http://schemas.openxmlformats.org/officeDocument/2006/relationships/notesSlide" Target="/ppt/notesSlides/notesSlide4.xml" Id="Rde8c2e911ae745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f7e3d0325004187" /><Relationship Type="http://schemas.openxmlformats.org/officeDocument/2006/relationships/image" Target="/ppt/media/image2.jpeg" Id="R2a8ddfa3b0414262" /><Relationship Type="http://schemas.openxmlformats.org/officeDocument/2006/relationships/notesSlide" Target="/ppt/notesSlides/notesSlide5.xml" Id="R1452b79d3f3d4b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36e863fe56545c6" /><Relationship Type="http://schemas.openxmlformats.org/officeDocument/2006/relationships/notesSlide" Target="/ppt/notesSlides/notesSlide6.xml" Id="R9ed948c4db4148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a742921c088416a" /><Relationship Type="http://schemas.openxmlformats.org/officeDocument/2006/relationships/notesSlide" Target="/ppt/notesSlides/notesSlide7.xml" Id="Rdc35aace3dad4c1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4b9a976c04f46f0" /><Relationship Type="http://schemas.openxmlformats.org/officeDocument/2006/relationships/notesSlide" Target="/ppt/notesSlides/notesSlide8.xml" Id="R2754198b3a0044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d61ffc2090f4bf2" /><Relationship Type="http://schemas.openxmlformats.org/officeDocument/2006/relationships/image" Target="/ppt/media/image3.jpeg" Id="Re43c14c144614cb4" /><Relationship Type="http://schemas.openxmlformats.org/officeDocument/2006/relationships/notesSlide" Target="/ppt/notesSlides/notesSlide9.xml" Id="R01d081efa92b4d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2d7a57ad34f48e4" /><Relationship Type="http://schemas.openxmlformats.org/officeDocument/2006/relationships/notesSlide" Target="/ppt/notesSlides/notesSlide10.xml" Id="R749a5d57fb694a5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02337d9f9ad48c8" /><Relationship Type="http://schemas.openxmlformats.org/officeDocument/2006/relationships/notesSlide" Target="/ppt/notesSlides/notesSlide11.xml" Id="R862f0d6ac284428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fab4610eb0c4f12" /><Relationship Type="http://schemas.openxmlformats.org/officeDocument/2006/relationships/image" Target="/ppt/media/image4.jpeg" Id="R82ae0c18c1d846b4" /><Relationship Type="http://schemas.openxmlformats.org/officeDocument/2006/relationships/notesSlide" Target="/ppt/notesSlides/notesSlide12.xml" Id="R39d49bb1b1584e2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36edae98cc0402b" /><Relationship Type="http://schemas.openxmlformats.org/officeDocument/2006/relationships/notesSlide" Target="/ppt/notesSlides/notesSlide13.xml" Id="R2b5e8a8af89a41d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48552d332cf4df2" /><Relationship Type="http://schemas.openxmlformats.org/officeDocument/2006/relationships/image" Target="/ppt/media/image2.png" Id="R2e37e35571604fad" /><Relationship Type="http://schemas.openxmlformats.org/officeDocument/2006/relationships/notesSlide" Target="/ppt/notesSlides/notesSlide14.xml" Id="R95675bc43d194daf" /></Relationships>
</file>

<file path=ppt/slides/slide1.xml><?xml version="1.0" encoding="utf-8"?>
<p:sld xmlns:p="http://schemas.openxmlformats.org/presentationml/2006/main">
  <p:cSld>
    <p:bg>
      <p:bgPr>
        <a:solidFill xmlns:a="http://schemas.openxmlformats.org/drawingml/2006/main">
          <a:srgbClr val="0A400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C708A85-8D96-4FF7-93C9-60E9B7E24C9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400C"/>
          </a:solidFill>
          <a:ln xmlns:a="http://schemas.openxmlformats.org/drawingml/2006/main" w="0">
            <a:solidFill>
              <a:srgbClr val="0A400C"/>
            </a:solidFill>
            <a:prstDash val="solid"/>
          </a:ln>
        </p:spPr>
      </p:sp>
      <p:sp>
        <p:nvSpPr>
          <p:cNvPr id="2" name="">
            <a:extLst xmlns:a="http://schemas.openxmlformats.org/drawingml/2006/main">
              <a:ext uri="{FF2B5EF4-FFF2-40B4-BE49-F238E27FC236}">
                <a16:creationId xmlns:a16="http://schemas.microsoft.com/office/drawing/2014/main" id="{FD9AEC29-A5B9-497F-8CE1-3C03A9CA120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819067"/>
          </a:solidFill>
          <a:ln xmlns:a="http://schemas.openxmlformats.org/drawingml/2006/main" w="0">
            <a:solidFill>
              <a:srgbClr val="819067"/>
            </a:solidFill>
            <a:prstDash val="solid"/>
          </a:ln>
        </p:spPr>
      </p:sp>
      <p:sp>
        <p:nvSpPr>
          <p:cNvPr id="3" name="">
            <a:extLst xmlns:a="http://schemas.openxmlformats.org/drawingml/2006/main">
              <a:ext uri="{FF2B5EF4-FFF2-40B4-BE49-F238E27FC236}">
                <a16:creationId xmlns:a16="http://schemas.microsoft.com/office/drawing/2014/main" id="{2CFAE04B-EDCD-4A51-9A3B-ED51B562F1B8}"/>
              </a:ext>
            </a:extLst>
          </p:cNvPr>
          <p:cNvSpPr>
            <a:spLocks xmlns:a="http://schemas.openxmlformats.org/drawingml/2006/main" noGrp="1"/>
          </p:cNvSpPr>
          <p:nvPr/>
        </p:nvSpPr>
        <p:spPr>
          <a:xfrm xmlns:a="http://schemas.openxmlformats.org/drawingml/2006/main">
            <a:off x="7239000" y="0"/>
            <a:ext cx="4953000" cy="4762500"/>
          </a:xfrm>
          <a:prstGeom xmlns:a="http://schemas.openxmlformats.org/drawingml/2006/main" prst="ellipse">
            <a:avLst/>
          </a:prstGeom>
          <a:solidFill xmlns:a="http://schemas.openxmlformats.org/drawingml/2006/main">
            <a:srgbClr val="154D18"/>
          </a:solidFill>
          <a:ln xmlns:a="http://schemas.openxmlformats.org/drawingml/2006/main" w="0">
            <a:solidFill>
              <a:srgbClr val="154D18"/>
            </a:solidFill>
            <a:prstDash val="solid"/>
          </a:ln>
        </p:spPr>
      </p:sp>
      <p:sp>
        <p:nvSpPr>
          <p:cNvPr id="4" name="">
            <a:extLst xmlns:a="http://schemas.openxmlformats.org/drawingml/2006/main">
              <a:ext uri="{FF2B5EF4-FFF2-40B4-BE49-F238E27FC236}">
                <a16:creationId xmlns:a16="http://schemas.microsoft.com/office/drawing/2014/main" id="{D3219DBD-82E9-462B-A05B-4E97B9A1CF63}"/>
              </a:ext>
            </a:extLst>
          </p:cNvPr>
          <p:cNvSpPr>
            <a:spLocks xmlns:a="http://schemas.openxmlformats.org/drawingml/2006/main" noGrp="1"/>
          </p:cNvSpPr>
          <p:nvPr/>
        </p:nvSpPr>
        <p:spPr>
          <a:xfrm xmlns:a="http://schemas.openxmlformats.org/drawingml/2006/main">
            <a:off x="8620125" y="457200"/>
            <a:ext cx="2381250" cy="2381250"/>
          </a:xfrm>
          <a:prstGeom xmlns:a="http://schemas.openxmlformats.org/drawingml/2006/main" prst="roundRect">
            <a:avLst>
              <a:gd name="adj" fmla="val 9600"/>
            </a:avLst>
          </a:prstGeom>
          <a:solidFill xmlns:a="http://schemas.openxmlformats.org/drawingml/2006/main">
            <a:srgbClr val="FFFFFF"/>
          </a:solidFill>
          <a:ln xmlns:a="http://schemas.openxmlformats.org/drawingml/2006/main" w="9525">
            <a:solidFill>
              <a:srgbClr val="DDE4D6"/>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f8aba01ca274e6d"/>
          <a:stretch xmlns:a="http://schemas.openxmlformats.org/drawingml/2006/main"/>
        </p:blipFill>
        <p:spPr>
          <a:xfrm xmlns:a="http://schemas.openxmlformats.org/drawingml/2006/main">
            <a:off x="9010779" y="781050"/>
            <a:ext cx="1599941" cy="1714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AB99F1F-F728-4DF6-90CE-DC4F3202283C}"/>
              </a:ext>
            </a:extLst>
          </p:cNvPr>
          <p:cNvSpPr>
            <a:spLocks xmlns:a="http://schemas.openxmlformats.org/drawingml/2006/main" noGrp="1"/>
          </p:cNvSpPr>
          <p:nvPr/>
        </p:nvSpPr>
        <p:spPr>
          <a:xfrm xmlns:a="http://schemas.openxmlformats.org/drawingml/2006/main">
            <a:off x="723900" y="6858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2DDC9"/>
                </a:solidFill>
              </a:defRPr>
            </a:pPr>
            <a:r>
              <a:rPr sz="1125" b="1">
                <a:solidFill>
                  <a:srgbClr val="D2DDC9"/>
                </a:solidFill>
              </a:rPr>
              <a:t>INSIGHT TRACKER</a:t>
            </a:r>
          </a:p>
        </p:txBody>
      </p:sp>
      <p:sp>
        <p:nvSpPr>
          <p:cNvPr id="7" name="cover-title">
            <a:extLst xmlns:a="http://schemas.openxmlformats.org/drawingml/2006/main">
              <a:ext uri="{FF2B5EF4-FFF2-40B4-BE49-F238E27FC236}">
                <a16:creationId xmlns:a16="http://schemas.microsoft.com/office/drawing/2014/main" id="{AAD3FC2E-BEA0-477D-A49E-B85E0DFC4D44}"/>
              </a:ext>
            </a:extLst>
          </p:cNvPr>
          <p:cNvSpPr>
            <a:spLocks xmlns:a="http://schemas.openxmlformats.org/drawingml/2006/main" noGrp="1"/>
          </p:cNvSpPr>
          <p:nvPr/>
        </p:nvSpPr>
        <p:spPr>
          <a:xfrm xmlns:a="http://schemas.openxmlformats.org/drawingml/2006/main">
            <a:off x="723900" y="1562100"/>
            <a:ext cx="6572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AI-powered</a:t>
            </a:r>
          </a:p>
          <a:p xmlns:a="http://schemas.openxmlformats.org/drawingml/2006/main">
            <a:pPr algn="l">
              <a:defRPr sz="4350" b="1">
                <a:solidFill>
                  <a:srgbClr val="FFFFFF"/>
                </a:solidFill>
              </a:defRPr>
            </a:pPr>
            <a:r>
              <a:rPr sz="4350" b="1">
                <a:solidFill>
                  <a:srgbClr val="FFFFFF"/>
                </a:solidFill>
              </a:rPr>
              <a:t>project operations</a:t>
            </a:r>
          </a:p>
        </p:txBody>
      </p:sp>
      <p:sp>
        <p:nvSpPr>
          <p:cNvPr id="8" name="">
            <a:extLst xmlns:a="http://schemas.openxmlformats.org/drawingml/2006/main">
              <a:ext uri="{FF2B5EF4-FFF2-40B4-BE49-F238E27FC236}">
                <a16:creationId xmlns:a16="http://schemas.microsoft.com/office/drawing/2014/main" id="{C126726C-8A7B-4AF5-8B3D-E6060112008B}"/>
              </a:ext>
            </a:extLst>
          </p:cNvPr>
          <p:cNvSpPr>
            <a:spLocks xmlns:a="http://schemas.openxmlformats.org/drawingml/2006/main" noGrp="1"/>
          </p:cNvSpPr>
          <p:nvPr/>
        </p:nvSpPr>
        <p:spPr>
          <a:xfrm xmlns:a="http://schemas.openxmlformats.org/drawingml/2006/main">
            <a:off x="762000" y="3695700"/>
            <a:ext cx="6572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D6E0D1"/>
                </a:solidFill>
              </a:defRPr>
            </a:pPr>
            <a:r>
              <a:rPr sz="1800" b="0">
                <a:solidFill>
                  <a:srgbClr val="D6E0D1"/>
                </a:solidFill>
              </a:rPr>
              <a:t>A bilingual system that combines delivery workflows, structured RAG, agentic planning and secure automation.</a:t>
            </a:r>
          </a:p>
        </p:txBody>
      </p:sp>
      <p:sp>
        <p:nvSpPr>
          <p:cNvPr id="9" name="">
            <a:extLst xmlns:a="http://schemas.openxmlformats.org/drawingml/2006/main">
              <a:ext uri="{FF2B5EF4-FFF2-40B4-BE49-F238E27FC236}">
                <a16:creationId xmlns:a16="http://schemas.microsoft.com/office/drawing/2014/main" id="{5845CAC3-82FC-4EB0-A2A0-6949C93238F8}"/>
              </a:ext>
            </a:extLst>
          </p:cNvPr>
          <p:cNvSpPr>
            <a:spLocks xmlns:a="http://schemas.openxmlformats.org/drawingml/2006/main" noGrp="1"/>
          </p:cNvSpPr>
          <p:nvPr/>
        </p:nvSpPr>
        <p:spPr>
          <a:xfrm xmlns:a="http://schemas.openxmlformats.org/drawingml/2006/main">
            <a:off x="762000" y="5219700"/>
            <a:ext cx="2000250" cy="323850"/>
          </a:xfrm>
          <a:prstGeom xmlns:a="http://schemas.openxmlformats.org/drawingml/2006/main" prst="roundRect">
            <a:avLst>
              <a:gd name="adj" fmla="val 50000"/>
            </a:avLst>
          </a:prstGeom>
          <a:solidFill xmlns:a="http://schemas.openxmlformats.org/drawingml/2006/main">
            <a:srgbClr val="285D2B"/>
          </a:solidFill>
          <a:ln xmlns:a="http://schemas.openxmlformats.org/drawingml/2006/main" w="0">
            <a:solidFill>
              <a:srgbClr val="285D2B"/>
            </a:solidFill>
            <a:prstDash val="solid"/>
          </a:ln>
        </p:spPr>
      </p:sp>
      <p:sp>
        <p:nvSpPr>
          <p:cNvPr id="10" name="">
            <a:extLst xmlns:a="http://schemas.openxmlformats.org/drawingml/2006/main">
              <a:ext uri="{FF2B5EF4-FFF2-40B4-BE49-F238E27FC236}">
                <a16:creationId xmlns:a16="http://schemas.microsoft.com/office/drawing/2014/main" id="{A06F2142-F7A9-483B-BE91-73B5E7B35EFE}"/>
              </a:ext>
            </a:extLst>
          </p:cNvPr>
          <p:cNvSpPr>
            <a:spLocks xmlns:a="http://schemas.openxmlformats.org/drawingml/2006/main" noGrp="1"/>
          </p:cNvSpPr>
          <p:nvPr/>
        </p:nvSpPr>
        <p:spPr>
          <a:xfrm xmlns:a="http://schemas.openxmlformats.org/drawingml/2006/main">
            <a:off x="876300" y="5286375"/>
            <a:ext cx="1771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Django + PostgreSQL</a:t>
            </a:r>
          </a:p>
        </p:txBody>
      </p:sp>
      <p:sp>
        <p:nvSpPr>
          <p:cNvPr id="11" name="">
            <a:extLst xmlns:a="http://schemas.openxmlformats.org/drawingml/2006/main">
              <a:ext uri="{FF2B5EF4-FFF2-40B4-BE49-F238E27FC236}">
                <a16:creationId xmlns:a16="http://schemas.microsoft.com/office/drawing/2014/main" id="{ED5779EB-87B8-4AE1-ACC1-ADAC61D47B81}"/>
              </a:ext>
            </a:extLst>
          </p:cNvPr>
          <p:cNvSpPr>
            <a:spLocks xmlns:a="http://schemas.openxmlformats.org/drawingml/2006/main" noGrp="1"/>
          </p:cNvSpPr>
          <p:nvPr/>
        </p:nvSpPr>
        <p:spPr>
          <a:xfrm xmlns:a="http://schemas.openxmlformats.org/drawingml/2006/main">
            <a:off x="2952750" y="5219700"/>
            <a:ext cx="1714500" cy="323850"/>
          </a:xfrm>
          <a:prstGeom xmlns:a="http://schemas.openxmlformats.org/drawingml/2006/main" prst="roundRect">
            <a:avLst>
              <a:gd name="adj" fmla="val 50000"/>
            </a:avLst>
          </a:prstGeom>
          <a:solidFill xmlns:a="http://schemas.openxmlformats.org/drawingml/2006/main">
            <a:srgbClr val="285D2B"/>
          </a:solidFill>
          <a:ln xmlns:a="http://schemas.openxmlformats.org/drawingml/2006/main" w="0">
            <a:solidFill>
              <a:srgbClr val="285D2B"/>
            </a:solidFill>
            <a:prstDash val="solid"/>
          </a:ln>
        </p:spPr>
      </p:sp>
      <p:sp>
        <p:nvSpPr>
          <p:cNvPr id="12" name="">
            <a:extLst xmlns:a="http://schemas.openxmlformats.org/drawingml/2006/main">
              <a:ext uri="{FF2B5EF4-FFF2-40B4-BE49-F238E27FC236}">
                <a16:creationId xmlns:a16="http://schemas.microsoft.com/office/drawing/2014/main" id="{564556CC-EE97-42AD-91EA-209C90B35FB5}"/>
              </a:ext>
            </a:extLst>
          </p:cNvPr>
          <p:cNvSpPr>
            <a:spLocks xmlns:a="http://schemas.openxmlformats.org/drawingml/2006/main" noGrp="1"/>
          </p:cNvSpPr>
          <p:nvPr/>
        </p:nvSpPr>
        <p:spPr>
          <a:xfrm xmlns:a="http://schemas.openxmlformats.org/drawingml/2006/main">
            <a:off x="3067050" y="5286375"/>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Groq + GPT-OSS</a:t>
            </a:r>
          </a:p>
        </p:txBody>
      </p:sp>
      <p:sp>
        <p:nvSpPr>
          <p:cNvPr id="13" name="">
            <a:extLst xmlns:a="http://schemas.openxmlformats.org/drawingml/2006/main">
              <a:ext uri="{FF2B5EF4-FFF2-40B4-BE49-F238E27FC236}">
                <a16:creationId xmlns:a16="http://schemas.microsoft.com/office/drawing/2014/main" id="{BCFFC825-46FF-4ABD-B863-2E03821094BE}"/>
              </a:ext>
            </a:extLst>
          </p:cNvPr>
          <p:cNvSpPr>
            <a:spLocks xmlns:a="http://schemas.openxmlformats.org/drawingml/2006/main" noGrp="1"/>
          </p:cNvSpPr>
          <p:nvPr/>
        </p:nvSpPr>
        <p:spPr>
          <a:xfrm xmlns:a="http://schemas.openxmlformats.org/drawingml/2006/main">
            <a:off x="4857750" y="5219700"/>
            <a:ext cx="1714500" cy="323850"/>
          </a:xfrm>
          <a:prstGeom xmlns:a="http://schemas.openxmlformats.org/drawingml/2006/main" prst="roundRect">
            <a:avLst>
              <a:gd name="adj" fmla="val 50000"/>
            </a:avLst>
          </a:prstGeom>
          <a:solidFill xmlns:a="http://schemas.openxmlformats.org/drawingml/2006/main">
            <a:srgbClr val="285D2B"/>
          </a:solidFill>
          <a:ln xmlns:a="http://schemas.openxmlformats.org/drawingml/2006/main" w="0">
            <a:solidFill>
              <a:srgbClr val="285D2B"/>
            </a:solidFill>
            <a:prstDash val="solid"/>
          </a:ln>
        </p:spPr>
      </p:sp>
      <p:sp>
        <p:nvSpPr>
          <p:cNvPr id="14" name="">
            <a:extLst xmlns:a="http://schemas.openxmlformats.org/drawingml/2006/main">
              <a:ext uri="{FF2B5EF4-FFF2-40B4-BE49-F238E27FC236}">
                <a16:creationId xmlns:a16="http://schemas.microsoft.com/office/drawing/2014/main" id="{ABA1D695-8D41-41FB-99C3-52C6E908A696}"/>
              </a:ext>
            </a:extLst>
          </p:cNvPr>
          <p:cNvSpPr>
            <a:spLocks xmlns:a="http://schemas.openxmlformats.org/drawingml/2006/main" noGrp="1"/>
          </p:cNvSpPr>
          <p:nvPr/>
        </p:nvSpPr>
        <p:spPr>
          <a:xfrm xmlns:a="http://schemas.openxmlformats.org/drawingml/2006/main">
            <a:off x="4972050" y="5286375"/>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n8n + Telegram</a:t>
            </a:r>
          </a:p>
        </p:txBody>
      </p:sp>
      <p:sp>
        <p:nvSpPr>
          <p:cNvPr id="15" name="">
            <a:extLst xmlns:a="http://schemas.openxmlformats.org/drawingml/2006/main">
              <a:ext uri="{FF2B5EF4-FFF2-40B4-BE49-F238E27FC236}">
                <a16:creationId xmlns:a16="http://schemas.microsoft.com/office/drawing/2014/main" id="{9B9E4E2F-D172-46C0-93F3-3A4EACC5B165}"/>
              </a:ext>
            </a:extLst>
          </p:cNvPr>
          <p:cNvSpPr>
            <a:spLocks xmlns:a="http://schemas.openxmlformats.org/drawingml/2006/main" noGrp="1"/>
          </p:cNvSpPr>
          <p:nvPr/>
        </p:nvSpPr>
        <p:spPr>
          <a:xfrm xmlns:a="http://schemas.openxmlformats.org/drawingml/2006/main">
            <a:off x="762000" y="5867400"/>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BFD0BA"/>
                </a:solidFill>
              </a:defRPr>
            </a:pPr>
            <a:r>
              <a:rPr sz="1275" b="0">
                <a:solidFill>
                  <a:srgbClr val="BFD0BA"/>
                </a:solidFill>
              </a:rPr>
              <a:t>Built and tested as one integrated product</a:t>
            </a:r>
          </a:p>
        </p:txBody>
      </p:sp>
    </p:spTree>
    <p:extLst>
      <p:ext uri="{BB962C8B-B14F-4D97-AF65-F5344CB8AC3E}">
        <p14:creationId xmlns:p14="http://schemas.microsoft.com/office/powerpoint/2010/main" val="302563800"/>
      </p:ext>
    </p:extLst>
  </p:cSld>
</p:sld>
</file>

<file path=ppt/slides/slide2.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38" name="kicker-2">
            <a:extLst xmlns:a="http://schemas.openxmlformats.org/drawingml/2006/main">
              <a:ext uri="{FF2B5EF4-FFF2-40B4-BE49-F238E27FC236}">
                <a16:creationId xmlns:a16="http://schemas.microsoft.com/office/drawing/2014/main" id="{850D5A41-A53C-402E-8737-5A2ED6D3F323}"/>
              </a:ext>
            </a:extLst>
          </p:cNvPr>
          <p:cNvSpPr>
            <a:spLocks xmlns:a="http://schemas.openxmlformats.org/drawingml/2006/main" noGrp="1"/>
          </p:cNvSpPr>
          <p:nvPr/>
        </p:nvSpPr>
        <p:spPr>
          <a:xfrm xmlns:a="http://schemas.openxmlformats.org/drawingml/2006/main">
            <a:off x="685800" y="400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7531B"/>
                </a:solidFill>
              </a:defRPr>
            </a:pPr>
            <a:r>
              <a:rPr sz="1050" b="1">
                <a:solidFill>
                  <a:srgbClr val="17531B"/>
                </a:solidFill>
              </a:rPr>
              <a:t>PRODUCT MODEL</a:t>
            </a:r>
          </a:p>
        </p:txBody>
      </p:sp>
      <p:sp>
        <p:nvSpPr>
          <p:cNvPr id="2" name="title-2">
            <a:extLst xmlns:a="http://schemas.openxmlformats.org/drawingml/2006/main">
              <a:ext uri="{FF2B5EF4-FFF2-40B4-BE49-F238E27FC236}">
                <a16:creationId xmlns:a16="http://schemas.microsoft.com/office/drawing/2014/main" id="{930F829F-1C8D-4CEC-85C5-3CE178DAADFA}"/>
              </a:ext>
            </a:extLst>
          </p:cNvPr>
          <p:cNvSpPr>
            <a:spLocks xmlns:a="http://schemas.openxmlformats.org/drawingml/2006/main" noGrp="1"/>
          </p:cNvSpPr>
          <p:nvPr/>
        </p:nvSpPr>
        <p:spPr>
          <a:xfrm xmlns:a="http://schemas.openxmlformats.org/drawingml/2006/main">
            <a:off x="685800" y="742950"/>
            <a:ext cx="10744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43127"/>
                </a:solidFill>
              </a:defRPr>
            </a:pPr>
            <a:r>
              <a:rPr sz="2850" b="1">
                <a:solidFill>
                  <a:srgbClr val="243127"/>
                </a:solidFill>
              </a:rPr>
              <a:t>One system connects strategy to daily work</a:t>
            </a:r>
          </a:p>
        </p:txBody>
      </p:sp>
      <p:sp>
        <p:nvSpPr>
          <p:cNvPr id="3" name="">
            <a:extLst xmlns:a="http://schemas.openxmlformats.org/drawingml/2006/main">
              <a:ext uri="{FF2B5EF4-FFF2-40B4-BE49-F238E27FC236}">
                <a16:creationId xmlns:a16="http://schemas.microsoft.com/office/drawing/2014/main" id="{357F9E8F-53FE-4D02-B13E-BDF29C3F82FA}"/>
              </a:ext>
            </a:extLst>
          </p:cNvPr>
          <p:cNvSpPr>
            <a:spLocks xmlns:a="http://schemas.openxmlformats.org/drawingml/2006/main" noGrp="1"/>
          </p:cNvSpPr>
          <p:nvPr/>
        </p:nvSpPr>
        <p:spPr>
          <a:xfrm xmlns:a="http://schemas.openxmlformats.org/drawingml/2006/main">
            <a:off x="685800" y="14287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617064"/>
                </a:solidFill>
              </a:defRPr>
            </a:pPr>
            <a:r>
              <a:rPr sz="1575" b="0">
                <a:solidFill>
                  <a:srgbClr val="617064"/>
                </a:solidFill>
              </a:rPr>
              <a:t>Leaders need one view. Teams need clear ownership. The data model connects both without relying on spreadsheets and chat follow-ups.</a:t>
            </a:r>
          </a:p>
        </p:txBody>
      </p:sp>
      <p:sp>
        <p:nvSpPr>
          <p:cNvPr id="4" name="">
            <a:extLst xmlns:a="http://schemas.openxmlformats.org/drawingml/2006/main">
              <a:ext uri="{FF2B5EF4-FFF2-40B4-BE49-F238E27FC236}">
                <a16:creationId xmlns:a16="http://schemas.microsoft.com/office/drawing/2014/main" id="{F3FC615E-A756-425F-B9A8-01311A722BB8}"/>
              </a:ext>
            </a:extLst>
          </p:cNvPr>
          <p:cNvSpPr>
            <a:spLocks xmlns:a="http://schemas.openxmlformats.org/drawingml/2006/main" noGrp="1"/>
          </p:cNvSpPr>
          <p:nvPr/>
        </p:nvSpPr>
        <p:spPr>
          <a:xfrm xmlns:a="http://schemas.openxmlformats.org/drawingml/2006/main">
            <a:off x="2758440" y="2981325"/>
            <a:ext cx="171450" cy="38100"/>
          </a:xfrm>
          <a:prstGeom xmlns:a="http://schemas.openxmlformats.org/drawingml/2006/main" prst="rect">
            <a:avLst/>
          </a:prstGeom>
          <a:solidFill xmlns:a="http://schemas.openxmlformats.org/drawingml/2006/main">
            <a:srgbClr val="819067"/>
          </a:solidFill>
          <a:ln xmlns:a="http://schemas.openxmlformats.org/drawingml/2006/main" w="0">
            <a:solidFill>
              <a:srgbClr val="819067"/>
            </a:solidFill>
            <a:prstDash val="solid"/>
          </a:ln>
        </p:spPr>
      </p:sp>
      <p:sp>
        <p:nvSpPr>
          <p:cNvPr id="5" name="">
            <a:extLst xmlns:a="http://schemas.openxmlformats.org/drawingml/2006/main">
              <a:ext uri="{FF2B5EF4-FFF2-40B4-BE49-F238E27FC236}">
                <a16:creationId xmlns:a16="http://schemas.microsoft.com/office/drawing/2014/main" id="{3B5FC3D7-D774-403B-BDDB-E573B561C81D}"/>
              </a:ext>
            </a:extLst>
          </p:cNvPr>
          <p:cNvSpPr>
            <a:spLocks xmlns:a="http://schemas.openxmlformats.org/drawingml/2006/main" noGrp="1"/>
          </p:cNvSpPr>
          <p:nvPr/>
        </p:nvSpPr>
        <p:spPr>
          <a:xfrm xmlns:a="http://schemas.openxmlformats.org/drawingml/2006/main">
            <a:off x="4926330" y="2981325"/>
            <a:ext cx="171450" cy="38100"/>
          </a:xfrm>
          <a:prstGeom xmlns:a="http://schemas.openxmlformats.org/drawingml/2006/main" prst="rect">
            <a:avLst/>
          </a:prstGeom>
          <a:solidFill xmlns:a="http://schemas.openxmlformats.org/drawingml/2006/main">
            <a:srgbClr val="819067"/>
          </a:solidFill>
          <a:ln xmlns:a="http://schemas.openxmlformats.org/drawingml/2006/main" w="0">
            <a:solidFill>
              <a:srgbClr val="819067"/>
            </a:solidFill>
            <a:prstDash val="solid"/>
          </a:ln>
        </p:spPr>
      </p:sp>
      <p:sp>
        <p:nvSpPr>
          <p:cNvPr id="6" name="">
            <a:extLst xmlns:a="http://schemas.openxmlformats.org/drawingml/2006/main">
              <a:ext uri="{FF2B5EF4-FFF2-40B4-BE49-F238E27FC236}">
                <a16:creationId xmlns:a16="http://schemas.microsoft.com/office/drawing/2014/main" id="{51AF5104-D664-4A3A-A6DA-376DAD273CFF}"/>
              </a:ext>
            </a:extLst>
          </p:cNvPr>
          <p:cNvSpPr>
            <a:spLocks xmlns:a="http://schemas.openxmlformats.org/drawingml/2006/main" noGrp="1"/>
          </p:cNvSpPr>
          <p:nvPr/>
        </p:nvSpPr>
        <p:spPr>
          <a:xfrm xmlns:a="http://schemas.openxmlformats.org/drawingml/2006/main">
            <a:off x="7094220" y="2981325"/>
            <a:ext cx="171450" cy="38100"/>
          </a:xfrm>
          <a:prstGeom xmlns:a="http://schemas.openxmlformats.org/drawingml/2006/main" prst="rect">
            <a:avLst/>
          </a:prstGeom>
          <a:solidFill xmlns:a="http://schemas.openxmlformats.org/drawingml/2006/main">
            <a:srgbClr val="819067"/>
          </a:solidFill>
          <a:ln xmlns:a="http://schemas.openxmlformats.org/drawingml/2006/main" w="0">
            <a:solidFill>
              <a:srgbClr val="819067"/>
            </a:solidFill>
            <a:prstDash val="solid"/>
          </a:ln>
        </p:spPr>
      </p:sp>
      <p:sp>
        <p:nvSpPr>
          <p:cNvPr id="7" name="">
            <a:extLst xmlns:a="http://schemas.openxmlformats.org/drawingml/2006/main">
              <a:ext uri="{FF2B5EF4-FFF2-40B4-BE49-F238E27FC236}">
                <a16:creationId xmlns:a16="http://schemas.microsoft.com/office/drawing/2014/main" id="{B94908F6-BDEF-462D-A2C5-56045AD88385}"/>
              </a:ext>
            </a:extLst>
          </p:cNvPr>
          <p:cNvSpPr>
            <a:spLocks xmlns:a="http://schemas.openxmlformats.org/drawingml/2006/main" noGrp="1"/>
          </p:cNvSpPr>
          <p:nvPr/>
        </p:nvSpPr>
        <p:spPr>
          <a:xfrm xmlns:a="http://schemas.openxmlformats.org/drawingml/2006/main">
            <a:off x="9262110" y="2981325"/>
            <a:ext cx="171450" cy="38100"/>
          </a:xfrm>
          <a:prstGeom xmlns:a="http://schemas.openxmlformats.org/drawingml/2006/main" prst="rect">
            <a:avLst/>
          </a:prstGeom>
          <a:solidFill xmlns:a="http://schemas.openxmlformats.org/drawingml/2006/main">
            <a:srgbClr val="819067"/>
          </a:solidFill>
          <a:ln xmlns:a="http://schemas.openxmlformats.org/drawingml/2006/main" w="0">
            <a:solidFill>
              <a:srgbClr val="819067"/>
            </a:solidFill>
            <a:prstDash val="solid"/>
          </a:ln>
        </p:spPr>
      </p:sp>
      <p:sp>
        <p:nvSpPr>
          <p:cNvPr id="8" name="">
            <a:extLst xmlns:a="http://schemas.openxmlformats.org/drawingml/2006/main">
              <a:ext uri="{FF2B5EF4-FFF2-40B4-BE49-F238E27FC236}">
                <a16:creationId xmlns:a16="http://schemas.microsoft.com/office/drawing/2014/main" id="{99E6E471-D6C7-4213-8AEB-6054B8C139C2}"/>
              </a:ext>
            </a:extLst>
          </p:cNvPr>
          <p:cNvSpPr>
            <a:spLocks xmlns:a="http://schemas.openxmlformats.org/drawingml/2006/main" noGrp="1"/>
          </p:cNvSpPr>
          <p:nvPr/>
        </p:nvSpPr>
        <p:spPr>
          <a:xfrm xmlns:a="http://schemas.openxmlformats.org/drawingml/2006/main">
            <a:off x="762000" y="2571750"/>
            <a:ext cx="199644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0E6F43E5-4799-490E-8DE1-D692D3D10541}"/>
              </a:ext>
            </a:extLst>
          </p:cNvPr>
          <p:cNvSpPr>
            <a:spLocks xmlns:a="http://schemas.openxmlformats.org/drawingml/2006/main" noGrp="1"/>
          </p:cNvSpPr>
          <p:nvPr/>
        </p:nvSpPr>
        <p:spPr>
          <a:xfrm xmlns:a="http://schemas.openxmlformats.org/drawingml/2006/main">
            <a:off x="895350" y="269557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819067"/>
                </a:solidFill>
              </a:defRPr>
            </a:pPr>
            <a:r>
              <a:rPr sz="900" b="1">
                <a:solidFill>
                  <a:srgbClr val="819067"/>
                </a:solidFill>
              </a:rPr>
              <a:t>1</a:t>
            </a:r>
          </a:p>
        </p:txBody>
      </p:sp>
      <p:sp>
        <p:nvSpPr>
          <p:cNvPr id="10" name="">
            <a:extLst xmlns:a="http://schemas.openxmlformats.org/drawingml/2006/main">
              <a:ext uri="{FF2B5EF4-FFF2-40B4-BE49-F238E27FC236}">
                <a16:creationId xmlns:a16="http://schemas.microsoft.com/office/drawing/2014/main" id="{5308D394-60FA-4805-9857-6B4BA7198735}"/>
              </a:ext>
            </a:extLst>
          </p:cNvPr>
          <p:cNvSpPr>
            <a:spLocks xmlns:a="http://schemas.openxmlformats.org/drawingml/2006/main" noGrp="1"/>
          </p:cNvSpPr>
          <p:nvPr/>
        </p:nvSpPr>
        <p:spPr>
          <a:xfrm xmlns:a="http://schemas.openxmlformats.org/drawingml/2006/main">
            <a:off x="895350" y="2971800"/>
            <a:ext cx="172974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243127"/>
                </a:solidFill>
              </a:defRPr>
            </a:pPr>
            <a:r>
              <a:rPr sz="1275" b="1">
                <a:solidFill>
                  <a:srgbClr val="243127"/>
                </a:solidFill>
              </a:rPr>
              <a:t>University program</a:t>
            </a:r>
          </a:p>
        </p:txBody>
      </p:sp>
      <p:sp>
        <p:nvSpPr>
          <p:cNvPr id="11" name="">
            <a:extLst xmlns:a="http://schemas.openxmlformats.org/drawingml/2006/main">
              <a:ext uri="{FF2B5EF4-FFF2-40B4-BE49-F238E27FC236}">
                <a16:creationId xmlns:a16="http://schemas.microsoft.com/office/drawing/2014/main" id="{A71AACF9-372E-44A0-B0DC-FA8A496B6BE6}"/>
              </a:ext>
            </a:extLst>
          </p:cNvPr>
          <p:cNvSpPr>
            <a:spLocks xmlns:a="http://schemas.openxmlformats.org/drawingml/2006/main" noGrp="1"/>
          </p:cNvSpPr>
          <p:nvPr/>
        </p:nvSpPr>
        <p:spPr>
          <a:xfrm xmlns:a="http://schemas.openxmlformats.org/drawingml/2006/main">
            <a:off x="2929890" y="2571750"/>
            <a:ext cx="199644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75BC195B-969E-4A49-8CBE-B1826C295C02}"/>
              </a:ext>
            </a:extLst>
          </p:cNvPr>
          <p:cNvSpPr>
            <a:spLocks xmlns:a="http://schemas.openxmlformats.org/drawingml/2006/main" noGrp="1"/>
          </p:cNvSpPr>
          <p:nvPr/>
        </p:nvSpPr>
        <p:spPr>
          <a:xfrm xmlns:a="http://schemas.openxmlformats.org/drawingml/2006/main">
            <a:off x="3063240" y="269557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819067"/>
                </a:solidFill>
              </a:defRPr>
            </a:pPr>
            <a:r>
              <a:rPr sz="900" b="1">
                <a:solidFill>
                  <a:srgbClr val="819067"/>
                </a:solidFill>
              </a:rPr>
              <a:t>2</a:t>
            </a:r>
          </a:p>
        </p:txBody>
      </p:sp>
      <p:sp>
        <p:nvSpPr>
          <p:cNvPr id="13" name="">
            <a:extLst xmlns:a="http://schemas.openxmlformats.org/drawingml/2006/main">
              <a:ext uri="{FF2B5EF4-FFF2-40B4-BE49-F238E27FC236}">
                <a16:creationId xmlns:a16="http://schemas.microsoft.com/office/drawing/2014/main" id="{8B7519D2-C5ED-49ED-8256-B7837A60DFD7}"/>
              </a:ext>
            </a:extLst>
          </p:cNvPr>
          <p:cNvSpPr>
            <a:spLocks xmlns:a="http://schemas.openxmlformats.org/drawingml/2006/main" noGrp="1"/>
          </p:cNvSpPr>
          <p:nvPr/>
        </p:nvSpPr>
        <p:spPr>
          <a:xfrm xmlns:a="http://schemas.openxmlformats.org/drawingml/2006/main">
            <a:off x="3063240" y="2971800"/>
            <a:ext cx="172974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243127"/>
                </a:solidFill>
              </a:defRPr>
            </a:pPr>
            <a:r>
              <a:rPr sz="1275" b="1">
                <a:solidFill>
                  <a:srgbClr val="243127"/>
                </a:solidFill>
              </a:rPr>
              <a:t>Project</a:t>
            </a:r>
          </a:p>
        </p:txBody>
      </p:sp>
      <p:sp>
        <p:nvSpPr>
          <p:cNvPr id="14" name="">
            <a:extLst xmlns:a="http://schemas.openxmlformats.org/drawingml/2006/main">
              <a:ext uri="{FF2B5EF4-FFF2-40B4-BE49-F238E27FC236}">
                <a16:creationId xmlns:a16="http://schemas.microsoft.com/office/drawing/2014/main" id="{AF830854-AE65-4ABC-83AE-E82BE6AC709F}"/>
              </a:ext>
            </a:extLst>
          </p:cNvPr>
          <p:cNvSpPr>
            <a:spLocks xmlns:a="http://schemas.openxmlformats.org/drawingml/2006/main" noGrp="1"/>
          </p:cNvSpPr>
          <p:nvPr/>
        </p:nvSpPr>
        <p:spPr>
          <a:xfrm xmlns:a="http://schemas.openxmlformats.org/drawingml/2006/main">
            <a:off x="5097780" y="2571750"/>
            <a:ext cx="199644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6FF25572-7A09-4F06-AD95-F646C5647C70}"/>
              </a:ext>
            </a:extLst>
          </p:cNvPr>
          <p:cNvSpPr>
            <a:spLocks xmlns:a="http://schemas.openxmlformats.org/drawingml/2006/main" noGrp="1"/>
          </p:cNvSpPr>
          <p:nvPr/>
        </p:nvSpPr>
        <p:spPr>
          <a:xfrm xmlns:a="http://schemas.openxmlformats.org/drawingml/2006/main">
            <a:off x="5231130" y="269557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819067"/>
                </a:solidFill>
              </a:defRPr>
            </a:pPr>
            <a:r>
              <a:rPr sz="900" b="1">
                <a:solidFill>
                  <a:srgbClr val="819067"/>
                </a:solidFill>
              </a:rPr>
              <a:t>3</a:t>
            </a:r>
          </a:p>
        </p:txBody>
      </p:sp>
      <p:sp>
        <p:nvSpPr>
          <p:cNvPr id="16" name="">
            <a:extLst xmlns:a="http://schemas.openxmlformats.org/drawingml/2006/main">
              <a:ext uri="{FF2B5EF4-FFF2-40B4-BE49-F238E27FC236}">
                <a16:creationId xmlns:a16="http://schemas.microsoft.com/office/drawing/2014/main" id="{5E6D6CC8-C6CA-49E0-8D7E-7A822AC8994C}"/>
              </a:ext>
            </a:extLst>
          </p:cNvPr>
          <p:cNvSpPr>
            <a:spLocks xmlns:a="http://schemas.openxmlformats.org/drawingml/2006/main" noGrp="1"/>
          </p:cNvSpPr>
          <p:nvPr/>
        </p:nvSpPr>
        <p:spPr>
          <a:xfrm xmlns:a="http://schemas.openxmlformats.org/drawingml/2006/main">
            <a:off x="5231130" y="2971800"/>
            <a:ext cx="172974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243127"/>
                </a:solidFill>
              </a:defRPr>
            </a:pPr>
            <a:r>
              <a:rPr sz="1275" b="1">
                <a:solidFill>
                  <a:srgbClr val="243127"/>
                </a:solidFill>
              </a:rPr>
              <a:t>Milestone</a:t>
            </a:r>
          </a:p>
        </p:txBody>
      </p:sp>
      <p:sp>
        <p:nvSpPr>
          <p:cNvPr id="17" name="">
            <a:extLst xmlns:a="http://schemas.openxmlformats.org/drawingml/2006/main">
              <a:ext uri="{FF2B5EF4-FFF2-40B4-BE49-F238E27FC236}">
                <a16:creationId xmlns:a16="http://schemas.microsoft.com/office/drawing/2014/main" id="{EAC90183-9BD2-47CE-BD17-D670A11154F2}"/>
              </a:ext>
            </a:extLst>
          </p:cNvPr>
          <p:cNvSpPr>
            <a:spLocks xmlns:a="http://schemas.openxmlformats.org/drawingml/2006/main" noGrp="1"/>
          </p:cNvSpPr>
          <p:nvPr/>
        </p:nvSpPr>
        <p:spPr>
          <a:xfrm xmlns:a="http://schemas.openxmlformats.org/drawingml/2006/main">
            <a:off x="7265670" y="2571750"/>
            <a:ext cx="199644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588C8FC2-51AF-4480-A8D8-B9148B12F83F}"/>
              </a:ext>
            </a:extLst>
          </p:cNvPr>
          <p:cNvSpPr>
            <a:spLocks xmlns:a="http://schemas.openxmlformats.org/drawingml/2006/main" noGrp="1"/>
          </p:cNvSpPr>
          <p:nvPr/>
        </p:nvSpPr>
        <p:spPr>
          <a:xfrm xmlns:a="http://schemas.openxmlformats.org/drawingml/2006/main">
            <a:off x="7399020" y="269557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819067"/>
                </a:solidFill>
              </a:defRPr>
            </a:pPr>
            <a:r>
              <a:rPr sz="900" b="1">
                <a:solidFill>
                  <a:srgbClr val="819067"/>
                </a:solidFill>
              </a:rPr>
              <a:t>4</a:t>
            </a:r>
          </a:p>
        </p:txBody>
      </p:sp>
      <p:sp>
        <p:nvSpPr>
          <p:cNvPr id="19" name="">
            <a:extLst xmlns:a="http://schemas.openxmlformats.org/drawingml/2006/main">
              <a:ext uri="{FF2B5EF4-FFF2-40B4-BE49-F238E27FC236}">
                <a16:creationId xmlns:a16="http://schemas.microsoft.com/office/drawing/2014/main" id="{2DB57324-96C4-4B06-8F9F-27A4B6816422}"/>
              </a:ext>
            </a:extLst>
          </p:cNvPr>
          <p:cNvSpPr>
            <a:spLocks xmlns:a="http://schemas.openxmlformats.org/drawingml/2006/main" noGrp="1"/>
          </p:cNvSpPr>
          <p:nvPr/>
        </p:nvSpPr>
        <p:spPr>
          <a:xfrm xmlns:a="http://schemas.openxmlformats.org/drawingml/2006/main">
            <a:off x="7399020" y="2971800"/>
            <a:ext cx="172974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243127"/>
                </a:solidFill>
              </a:defRPr>
            </a:pPr>
            <a:r>
              <a:rPr sz="1275" b="1">
                <a:solidFill>
                  <a:srgbClr val="243127"/>
                </a:solidFill>
              </a:rPr>
              <a:t>Task</a:t>
            </a:r>
          </a:p>
        </p:txBody>
      </p:sp>
      <p:sp>
        <p:nvSpPr>
          <p:cNvPr id="20" name="">
            <a:extLst xmlns:a="http://schemas.openxmlformats.org/drawingml/2006/main">
              <a:ext uri="{FF2B5EF4-FFF2-40B4-BE49-F238E27FC236}">
                <a16:creationId xmlns:a16="http://schemas.microsoft.com/office/drawing/2014/main" id="{792277F5-0BAD-49A1-A858-D3E85F2BDCC5}"/>
              </a:ext>
            </a:extLst>
          </p:cNvPr>
          <p:cNvSpPr>
            <a:spLocks xmlns:a="http://schemas.openxmlformats.org/drawingml/2006/main" noGrp="1"/>
          </p:cNvSpPr>
          <p:nvPr/>
        </p:nvSpPr>
        <p:spPr>
          <a:xfrm xmlns:a="http://schemas.openxmlformats.org/drawingml/2006/main">
            <a:off x="9433560" y="2571750"/>
            <a:ext cx="1996440" cy="857250"/>
          </a:xfrm>
          <a:prstGeom xmlns:a="http://schemas.openxmlformats.org/drawingml/2006/main" prst="roundRect">
            <a:avLst>
              <a:gd name="adj" fmla="val 13333"/>
            </a:avLst>
          </a:prstGeom>
          <a:solidFill xmlns:a="http://schemas.openxmlformats.org/drawingml/2006/main">
            <a:srgbClr val="17531B"/>
          </a:solidFill>
          <a:ln xmlns:a="http://schemas.openxmlformats.org/drawingml/2006/main" w="9525">
            <a:solidFill>
              <a:srgbClr val="17531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032E9AA4-847E-49A0-BAD1-0EF44AF5019A}"/>
              </a:ext>
            </a:extLst>
          </p:cNvPr>
          <p:cNvSpPr>
            <a:spLocks xmlns:a="http://schemas.openxmlformats.org/drawingml/2006/main" noGrp="1"/>
          </p:cNvSpPr>
          <p:nvPr/>
        </p:nvSpPr>
        <p:spPr>
          <a:xfrm xmlns:a="http://schemas.openxmlformats.org/drawingml/2006/main">
            <a:off x="9566910" y="269557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DDE8D6"/>
                </a:solidFill>
              </a:defRPr>
            </a:pPr>
            <a:r>
              <a:rPr sz="900" b="1">
                <a:solidFill>
                  <a:srgbClr val="DDE8D6"/>
                </a:solidFill>
              </a:rPr>
              <a:t>5</a:t>
            </a:r>
          </a:p>
        </p:txBody>
      </p:sp>
      <p:sp>
        <p:nvSpPr>
          <p:cNvPr id="22" name="">
            <a:extLst xmlns:a="http://schemas.openxmlformats.org/drawingml/2006/main">
              <a:ext uri="{FF2B5EF4-FFF2-40B4-BE49-F238E27FC236}">
                <a16:creationId xmlns:a16="http://schemas.microsoft.com/office/drawing/2014/main" id="{20DA7303-628F-4670-B732-71BB3FF58765}"/>
              </a:ext>
            </a:extLst>
          </p:cNvPr>
          <p:cNvSpPr>
            <a:spLocks xmlns:a="http://schemas.openxmlformats.org/drawingml/2006/main" noGrp="1"/>
          </p:cNvSpPr>
          <p:nvPr/>
        </p:nvSpPr>
        <p:spPr>
          <a:xfrm xmlns:a="http://schemas.openxmlformats.org/drawingml/2006/main">
            <a:off x="9566910" y="2971800"/>
            <a:ext cx="172974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Assigned people</a:t>
            </a:r>
          </a:p>
        </p:txBody>
      </p:sp>
      <p:sp>
        <p:nvSpPr>
          <p:cNvPr id="23" name="">
            <a:extLst xmlns:a="http://schemas.openxmlformats.org/drawingml/2006/main">
              <a:ext uri="{FF2B5EF4-FFF2-40B4-BE49-F238E27FC236}">
                <a16:creationId xmlns:a16="http://schemas.microsoft.com/office/drawing/2014/main" id="{B15E10FA-94FB-4BD6-A265-591E02865E19}"/>
              </a:ext>
            </a:extLst>
          </p:cNvPr>
          <p:cNvSpPr>
            <a:spLocks xmlns:a="http://schemas.openxmlformats.org/drawingml/2006/main" noGrp="1"/>
          </p:cNvSpPr>
          <p:nvPr/>
        </p:nvSpPr>
        <p:spPr>
          <a:xfrm xmlns:a="http://schemas.openxmlformats.org/drawingml/2006/main">
            <a:off x="819150" y="4191000"/>
            <a:ext cx="342900" cy="34290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24" name="">
            <a:extLst xmlns:a="http://schemas.openxmlformats.org/drawingml/2006/main">
              <a:ext uri="{FF2B5EF4-FFF2-40B4-BE49-F238E27FC236}">
                <a16:creationId xmlns:a16="http://schemas.microsoft.com/office/drawing/2014/main" id="{ECB2573D-5675-49B5-9ED4-BDD719818CB3}"/>
              </a:ext>
            </a:extLst>
          </p:cNvPr>
          <p:cNvSpPr>
            <a:spLocks xmlns:a="http://schemas.openxmlformats.org/drawingml/2006/main" noGrp="1"/>
          </p:cNvSpPr>
          <p:nvPr/>
        </p:nvSpPr>
        <p:spPr>
          <a:xfrm xmlns:a="http://schemas.openxmlformats.org/drawingml/2006/main">
            <a:off x="819150" y="425767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A</a:t>
            </a:r>
          </a:p>
        </p:txBody>
      </p:sp>
      <p:sp>
        <p:nvSpPr>
          <p:cNvPr id="25" name="">
            <a:extLst xmlns:a="http://schemas.openxmlformats.org/drawingml/2006/main">
              <a:ext uri="{FF2B5EF4-FFF2-40B4-BE49-F238E27FC236}">
                <a16:creationId xmlns:a16="http://schemas.microsoft.com/office/drawing/2014/main" id="{4CB7666D-3609-48EB-BEDF-3FFE99AC8966}"/>
              </a:ext>
            </a:extLst>
          </p:cNvPr>
          <p:cNvSpPr>
            <a:spLocks xmlns:a="http://schemas.openxmlformats.org/drawingml/2006/main" noGrp="1"/>
          </p:cNvSpPr>
          <p:nvPr/>
        </p:nvSpPr>
        <p:spPr>
          <a:xfrm xmlns:a="http://schemas.openxmlformats.org/drawingml/2006/main">
            <a:off x="1352550" y="41719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43127"/>
                </a:solidFill>
              </a:defRPr>
            </a:pPr>
            <a:r>
              <a:rPr sz="1650" b="1">
                <a:solidFill>
                  <a:srgbClr val="243127"/>
                </a:solidFill>
              </a:rPr>
              <a:t>Shared structure</a:t>
            </a:r>
          </a:p>
        </p:txBody>
      </p:sp>
      <p:sp>
        <p:nvSpPr>
          <p:cNvPr id="26" name="">
            <a:extLst xmlns:a="http://schemas.openxmlformats.org/drawingml/2006/main">
              <a:ext uri="{FF2B5EF4-FFF2-40B4-BE49-F238E27FC236}">
                <a16:creationId xmlns:a16="http://schemas.microsoft.com/office/drawing/2014/main" id="{55176BA3-9B40-4360-916F-34E1FB8B2A30}"/>
              </a:ext>
            </a:extLst>
          </p:cNvPr>
          <p:cNvSpPr>
            <a:spLocks xmlns:a="http://schemas.openxmlformats.org/drawingml/2006/main" noGrp="1"/>
          </p:cNvSpPr>
          <p:nvPr/>
        </p:nvSpPr>
        <p:spPr>
          <a:xfrm xmlns:a="http://schemas.openxmlformats.org/drawingml/2006/main">
            <a:off x="4381500" y="41910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17064"/>
                </a:solidFill>
              </a:defRPr>
            </a:pPr>
            <a:r>
              <a:rPr sz="1275" b="0">
                <a:solidFill>
                  <a:srgbClr val="617064"/>
                </a:solidFill>
              </a:rPr>
              <a:t>KAU, KSU and KKU programs contain their own projects while shared staff can work across programs.</a:t>
            </a:r>
          </a:p>
        </p:txBody>
      </p:sp>
      <p:sp>
        <p:nvSpPr>
          <p:cNvPr id="27" name="">
            <a:extLst xmlns:a="http://schemas.openxmlformats.org/drawingml/2006/main">
              <a:ext uri="{FF2B5EF4-FFF2-40B4-BE49-F238E27FC236}">
                <a16:creationId xmlns:a16="http://schemas.microsoft.com/office/drawing/2014/main" id="{FED2BE3F-F886-41E0-AC26-BD49945058A5}"/>
              </a:ext>
            </a:extLst>
          </p:cNvPr>
          <p:cNvSpPr>
            <a:spLocks xmlns:a="http://schemas.openxmlformats.org/drawingml/2006/main" noGrp="1"/>
          </p:cNvSpPr>
          <p:nvPr/>
        </p:nvSpPr>
        <p:spPr>
          <a:xfrm xmlns:a="http://schemas.openxmlformats.org/drawingml/2006/main">
            <a:off x="819150" y="4838700"/>
            <a:ext cx="342900" cy="342900"/>
          </a:xfrm>
          <a:prstGeom xmlns:a="http://schemas.openxmlformats.org/drawingml/2006/main" prst="ellipse">
            <a:avLst/>
          </a:prstGeom>
          <a:solidFill xmlns:a="http://schemas.openxmlformats.org/drawingml/2006/main">
            <a:srgbClr val="819067"/>
          </a:solidFill>
          <a:ln xmlns:a="http://schemas.openxmlformats.org/drawingml/2006/main" w="0">
            <a:solidFill>
              <a:srgbClr val="819067"/>
            </a:solidFill>
            <a:prstDash val="solid"/>
          </a:ln>
        </p:spPr>
      </p:sp>
      <p:sp>
        <p:nvSpPr>
          <p:cNvPr id="28" name="">
            <a:extLst xmlns:a="http://schemas.openxmlformats.org/drawingml/2006/main">
              <a:ext uri="{FF2B5EF4-FFF2-40B4-BE49-F238E27FC236}">
                <a16:creationId xmlns:a16="http://schemas.microsoft.com/office/drawing/2014/main" id="{6B9CCF7E-7EC5-4D6E-B7A8-DB34B52161CF}"/>
              </a:ext>
            </a:extLst>
          </p:cNvPr>
          <p:cNvSpPr>
            <a:spLocks xmlns:a="http://schemas.openxmlformats.org/drawingml/2006/main" noGrp="1"/>
          </p:cNvSpPr>
          <p:nvPr/>
        </p:nvSpPr>
        <p:spPr>
          <a:xfrm xmlns:a="http://schemas.openxmlformats.org/drawingml/2006/main">
            <a:off x="819150" y="490537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B</a:t>
            </a:r>
          </a:p>
        </p:txBody>
      </p:sp>
      <p:sp>
        <p:nvSpPr>
          <p:cNvPr id="29" name="">
            <a:extLst xmlns:a="http://schemas.openxmlformats.org/drawingml/2006/main">
              <a:ext uri="{FF2B5EF4-FFF2-40B4-BE49-F238E27FC236}">
                <a16:creationId xmlns:a16="http://schemas.microsoft.com/office/drawing/2014/main" id="{7250B913-1306-4F36-BB56-3331AA486189}"/>
              </a:ext>
            </a:extLst>
          </p:cNvPr>
          <p:cNvSpPr>
            <a:spLocks xmlns:a="http://schemas.openxmlformats.org/drawingml/2006/main" noGrp="1"/>
          </p:cNvSpPr>
          <p:nvPr/>
        </p:nvSpPr>
        <p:spPr>
          <a:xfrm xmlns:a="http://schemas.openxmlformats.org/drawingml/2006/main">
            <a:off x="1352550" y="48196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43127"/>
                </a:solidFill>
              </a:defRPr>
            </a:pPr>
            <a:r>
              <a:rPr sz="1650" b="1">
                <a:solidFill>
                  <a:srgbClr val="243127"/>
                </a:solidFill>
              </a:rPr>
              <a:t>Single source</a:t>
            </a:r>
          </a:p>
        </p:txBody>
      </p:sp>
      <p:sp>
        <p:nvSpPr>
          <p:cNvPr id="30" name="">
            <a:extLst xmlns:a="http://schemas.openxmlformats.org/drawingml/2006/main">
              <a:ext uri="{FF2B5EF4-FFF2-40B4-BE49-F238E27FC236}">
                <a16:creationId xmlns:a16="http://schemas.microsoft.com/office/drawing/2014/main" id="{E7856634-DF39-4734-821B-073EF0017E22}"/>
              </a:ext>
            </a:extLst>
          </p:cNvPr>
          <p:cNvSpPr>
            <a:spLocks xmlns:a="http://schemas.openxmlformats.org/drawingml/2006/main" noGrp="1"/>
          </p:cNvSpPr>
          <p:nvPr/>
        </p:nvSpPr>
        <p:spPr>
          <a:xfrm xmlns:a="http://schemas.openxmlformats.org/drawingml/2006/main">
            <a:off x="4381500" y="48387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17064"/>
                </a:solidFill>
              </a:defRPr>
            </a:pPr>
            <a:r>
              <a:rPr sz="1275" b="0">
                <a:solidFill>
                  <a:srgbClr val="617064"/>
                </a:solidFill>
              </a:rPr>
              <a:t>Progress, approvals, attendance and reports use the same PostgreSQL records and business services.</a:t>
            </a:r>
          </a:p>
        </p:txBody>
      </p:sp>
      <p:sp>
        <p:nvSpPr>
          <p:cNvPr id="31" name="">
            <a:extLst xmlns:a="http://schemas.openxmlformats.org/drawingml/2006/main">
              <a:ext uri="{FF2B5EF4-FFF2-40B4-BE49-F238E27FC236}">
                <a16:creationId xmlns:a16="http://schemas.microsoft.com/office/drawing/2014/main" id="{33762DEE-17CA-4B00-B922-07B6898B94E9}"/>
              </a:ext>
            </a:extLst>
          </p:cNvPr>
          <p:cNvSpPr>
            <a:spLocks xmlns:a="http://schemas.openxmlformats.org/drawingml/2006/main" noGrp="1"/>
          </p:cNvSpPr>
          <p:nvPr/>
        </p:nvSpPr>
        <p:spPr>
          <a:xfrm xmlns:a="http://schemas.openxmlformats.org/drawingml/2006/main">
            <a:off x="819150" y="5486400"/>
            <a:ext cx="342900" cy="342900"/>
          </a:xfrm>
          <a:prstGeom xmlns:a="http://schemas.openxmlformats.org/drawingml/2006/main" prst="ellipse">
            <a:avLst/>
          </a:prstGeom>
          <a:solidFill xmlns:a="http://schemas.openxmlformats.org/drawingml/2006/main">
            <a:srgbClr val="B1AB86"/>
          </a:solidFill>
          <a:ln xmlns:a="http://schemas.openxmlformats.org/drawingml/2006/main" w="0">
            <a:solidFill>
              <a:srgbClr val="B1AB86"/>
            </a:solidFill>
            <a:prstDash val="solid"/>
          </a:ln>
        </p:spPr>
      </p:sp>
      <p:sp>
        <p:nvSpPr>
          <p:cNvPr id="32" name="">
            <a:extLst xmlns:a="http://schemas.openxmlformats.org/drawingml/2006/main">
              <a:ext uri="{FF2B5EF4-FFF2-40B4-BE49-F238E27FC236}">
                <a16:creationId xmlns:a16="http://schemas.microsoft.com/office/drawing/2014/main" id="{772B279C-AB62-4624-B71B-84CB5BD8F463}"/>
              </a:ext>
            </a:extLst>
          </p:cNvPr>
          <p:cNvSpPr>
            <a:spLocks xmlns:a="http://schemas.openxmlformats.org/drawingml/2006/main" noGrp="1"/>
          </p:cNvSpPr>
          <p:nvPr/>
        </p:nvSpPr>
        <p:spPr>
          <a:xfrm xmlns:a="http://schemas.openxmlformats.org/drawingml/2006/main">
            <a:off x="819150" y="555307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C</a:t>
            </a:r>
          </a:p>
        </p:txBody>
      </p:sp>
      <p:sp>
        <p:nvSpPr>
          <p:cNvPr id="33" name="">
            <a:extLst xmlns:a="http://schemas.openxmlformats.org/drawingml/2006/main">
              <a:ext uri="{FF2B5EF4-FFF2-40B4-BE49-F238E27FC236}">
                <a16:creationId xmlns:a16="http://schemas.microsoft.com/office/drawing/2014/main" id="{08716E37-EB6F-45ED-9C38-A2CE7F222257}"/>
              </a:ext>
            </a:extLst>
          </p:cNvPr>
          <p:cNvSpPr>
            <a:spLocks xmlns:a="http://schemas.openxmlformats.org/drawingml/2006/main" noGrp="1"/>
          </p:cNvSpPr>
          <p:nvPr/>
        </p:nvSpPr>
        <p:spPr>
          <a:xfrm xmlns:a="http://schemas.openxmlformats.org/drawingml/2006/main">
            <a:off x="1352550" y="54673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43127"/>
                </a:solidFill>
              </a:defRPr>
            </a:pPr>
            <a:r>
              <a:rPr sz="1650" b="1">
                <a:solidFill>
                  <a:srgbClr val="243127"/>
                </a:solidFill>
              </a:rPr>
              <a:t>Role visibility</a:t>
            </a:r>
          </a:p>
        </p:txBody>
      </p:sp>
      <p:sp>
        <p:nvSpPr>
          <p:cNvPr id="34" name="">
            <a:extLst xmlns:a="http://schemas.openxmlformats.org/drawingml/2006/main">
              <a:ext uri="{FF2B5EF4-FFF2-40B4-BE49-F238E27FC236}">
                <a16:creationId xmlns:a16="http://schemas.microsoft.com/office/drawing/2014/main" id="{B0F469B9-96C6-48A7-8902-4E90C32B4B09}"/>
              </a:ext>
            </a:extLst>
          </p:cNvPr>
          <p:cNvSpPr>
            <a:spLocks xmlns:a="http://schemas.openxmlformats.org/drawingml/2006/main" noGrp="1"/>
          </p:cNvSpPr>
          <p:nvPr/>
        </p:nvSpPr>
        <p:spPr>
          <a:xfrm xmlns:a="http://schemas.openxmlformats.org/drawingml/2006/main">
            <a:off x="4381500" y="548640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17064"/>
                </a:solidFill>
              </a:defRPr>
            </a:pPr>
            <a:r>
              <a:rPr sz="1275" b="0">
                <a:solidFill>
                  <a:srgbClr val="617064"/>
                </a:solidFill>
              </a:rPr>
              <a:t>Each user sees only the programs, projects and actions allowed by the current role and membership.</a:t>
            </a:r>
          </a:p>
        </p:txBody>
      </p:sp>
      <p:sp>
        <p:nvSpPr>
          <p:cNvPr id="35" name="">
            <a:extLst xmlns:a="http://schemas.openxmlformats.org/drawingml/2006/main">
              <a:ext uri="{FF2B5EF4-FFF2-40B4-BE49-F238E27FC236}">
                <a16:creationId xmlns:a16="http://schemas.microsoft.com/office/drawing/2014/main" id="{91AFC37D-7CD7-47E7-8D29-76684A76952B}"/>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8CE"/>
          </a:solidFill>
          <a:ln xmlns:a="http://schemas.openxmlformats.org/drawingml/2006/main" w="0">
            <a:solidFill>
              <a:srgbClr val="D7D8CE"/>
            </a:solidFill>
            <a:prstDash val="solid"/>
          </a:ln>
        </p:spPr>
      </p:sp>
      <p:sp>
        <p:nvSpPr>
          <p:cNvPr id="36" name="">
            <a:extLst xmlns:a="http://schemas.openxmlformats.org/drawingml/2006/main">
              <a:ext uri="{FF2B5EF4-FFF2-40B4-BE49-F238E27FC236}">
                <a16:creationId xmlns:a16="http://schemas.microsoft.com/office/drawing/2014/main" id="{C0D245DE-9223-4F03-A6FC-4AE7F202F2DD}"/>
              </a:ext>
            </a:extLst>
          </p:cNvPr>
          <p:cNvSpPr>
            <a:spLocks xmlns:a="http://schemas.openxmlformats.org/drawingml/2006/main" noGrp="1"/>
          </p:cNvSpPr>
          <p:nvPr/>
        </p:nvSpPr>
        <p:spPr>
          <a:xfrm xmlns:a="http://schemas.openxmlformats.org/drawingml/2006/main">
            <a:off x="685800" y="65246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17064"/>
                </a:solidFill>
              </a:defRPr>
            </a:pPr>
            <a:r>
              <a:rPr sz="825" b="1">
                <a:solidFill>
                  <a:srgbClr val="617064"/>
                </a:solidFill>
              </a:rPr>
              <a:t>INSIGHT TRACKER</a:t>
            </a:r>
          </a:p>
        </p:txBody>
      </p:sp>
      <p:sp>
        <p:nvSpPr>
          <p:cNvPr id="37" name="">
            <a:extLst xmlns:a="http://schemas.openxmlformats.org/drawingml/2006/main">
              <a:ext uri="{FF2B5EF4-FFF2-40B4-BE49-F238E27FC236}">
                <a16:creationId xmlns:a16="http://schemas.microsoft.com/office/drawing/2014/main" id="{28489AEC-39D0-494D-814E-7FBE32730A74}"/>
              </a:ext>
            </a:extLst>
          </p:cNvPr>
          <p:cNvSpPr>
            <a:spLocks xmlns:a="http://schemas.openxmlformats.org/drawingml/2006/main" noGrp="1"/>
          </p:cNvSpPr>
          <p:nvPr/>
        </p:nvSpPr>
        <p:spPr>
          <a:xfrm xmlns:a="http://schemas.openxmlformats.org/drawingml/2006/main">
            <a:off x="11049000" y="65055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17064"/>
                </a:solidFill>
              </a:defRPr>
            </a:pPr>
            <a:r>
              <a:rPr sz="900" b="1">
                <a:solidFill>
                  <a:srgbClr val="617064"/>
                </a:solidFill>
              </a:rPr>
              <a:t>02</a:t>
            </a:r>
          </a:p>
        </p:txBody>
      </p:sp>
    </p:spTree>
    <p:extLst>
      <p:ext uri="{BB962C8B-B14F-4D97-AF65-F5344CB8AC3E}">
        <p14:creationId xmlns:p14="http://schemas.microsoft.com/office/powerpoint/2010/main" val="817014482"/>
      </p:ext>
    </p:extLst>
  </p:cSld>
</p:sld>
</file>

<file path=ppt/slides/slide3.xml><?xml version="1.0" encoding="utf-8"?>
<p:sld xmlns:p="http://schemas.openxmlformats.org/presentationml/2006/main">
  <p:cSld>
    <p:bg>
      <p:bgPr>
        <a:solidFill xmlns:a="http://schemas.openxmlformats.org/drawingml/2006/main">
          <a:srgbClr val="F3F1E8"/>
        </a:solidFill>
      </p:bgPr>
    </p:bg>
    <p:spTree>
      <p:nvGrpSpPr>
        <p:cNvPr id="1" name=""/>
        <p:cNvGrpSpPr/>
        <p:nvPr/>
      </p:nvGrpSpPr>
      <p:grpSpPr>
        <a:xfrm xmlns:a="http://schemas.openxmlformats.org/drawingml/2006/main"/>
      </p:grpSpPr>
      <p:sp>
        <p:nvSpPr>
          <p:cNvPr id="32" name="kicker-3">
            <a:extLst xmlns:a="http://schemas.openxmlformats.org/drawingml/2006/main">
              <a:ext uri="{FF2B5EF4-FFF2-40B4-BE49-F238E27FC236}">
                <a16:creationId xmlns:a16="http://schemas.microsoft.com/office/drawing/2014/main" id="{09722777-4BDB-4EB8-8AC0-9DA752401CA4}"/>
              </a:ext>
            </a:extLst>
          </p:cNvPr>
          <p:cNvSpPr>
            <a:spLocks xmlns:a="http://schemas.openxmlformats.org/drawingml/2006/main" noGrp="1"/>
          </p:cNvSpPr>
          <p:nvPr/>
        </p:nvSpPr>
        <p:spPr>
          <a:xfrm xmlns:a="http://schemas.openxmlformats.org/drawingml/2006/main">
            <a:off x="685800" y="400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7531B"/>
                </a:solidFill>
              </a:defRPr>
            </a:pPr>
            <a:r>
              <a:rPr sz="1050" b="1">
                <a:solidFill>
                  <a:srgbClr val="17531B"/>
                </a:solidFill>
              </a:rPr>
              <a:t>OPERATIONAL WORKFLOW</a:t>
            </a:r>
          </a:p>
        </p:txBody>
      </p:sp>
      <p:sp>
        <p:nvSpPr>
          <p:cNvPr id="2" name="title-3">
            <a:extLst xmlns:a="http://schemas.openxmlformats.org/drawingml/2006/main">
              <a:ext uri="{FF2B5EF4-FFF2-40B4-BE49-F238E27FC236}">
                <a16:creationId xmlns:a16="http://schemas.microsoft.com/office/drawing/2014/main" id="{1821D249-9642-49B6-A266-C66B55CF82E0}"/>
              </a:ext>
            </a:extLst>
          </p:cNvPr>
          <p:cNvSpPr>
            <a:spLocks xmlns:a="http://schemas.openxmlformats.org/drawingml/2006/main" noGrp="1"/>
          </p:cNvSpPr>
          <p:nvPr/>
        </p:nvSpPr>
        <p:spPr>
          <a:xfrm xmlns:a="http://schemas.openxmlformats.org/drawingml/2006/main">
            <a:off x="685800" y="742950"/>
            <a:ext cx="10744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43127"/>
                </a:solidFill>
              </a:defRPr>
            </a:pPr>
            <a:r>
              <a:rPr sz="2850" b="1">
                <a:solidFill>
                  <a:srgbClr val="243127"/>
                </a:solidFill>
              </a:rPr>
              <a:t>Daily work is visible and controlled end to end</a:t>
            </a:r>
          </a:p>
        </p:txBody>
      </p:sp>
      <p:sp>
        <p:nvSpPr>
          <p:cNvPr id="3" name="">
            <a:extLst xmlns:a="http://schemas.openxmlformats.org/drawingml/2006/main">
              <a:ext uri="{FF2B5EF4-FFF2-40B4-BE49-F238E27FC236}">
                <a16:creationId xmlns:a16="http://schemas.microsoft.com/office/drawing/2014/main" id="{AE91F2C7-8F44-4F47-85AD-CB0EDFF8B84A}"/>
              </a:ext>
            </a:extLst>
          </p:cNvPr>
          <p:cNvSpPr>
            <a:spLocks xmlns:a="http://schemas.openxmlformats.org/drawingml/2006/main" noGrp="1"/>
          </p:cNvSpPr>
          <p:nvPr/>
        </p:nvSpPr>
        <p:spPr>
          <a:xfrm xmlns:a="http://schemas.openxmlformats.org/drawingml/2006/main">
            <a:off x="6115050" y="1524000"/>
            <a:ext cx="5295900" cy="3048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ed707027bf6e4812"/>
          <a:srcRect xmlns:a="http://schemas.openxmlformats.org/drawingml/2006/main" l="50" t="0" r="50" b="0"/>
          <a:stretch xmlns:a="http://schemas.openxmlformats.org/drawingml/2006/main">
            <a:fillRect l="0" t="0" r="0" b="0"/>
          </a:stretch>
        </p:blipFill>
        <p:spPr>
          <a:xfrm xmlns:a="http://schemas.openxmlformats.org/drawingml/2006/main">
            <a:off x="6191250" y="1600200"/>
            <a:ext cx="5143500" cy="2895600"/>
          </a:xfrm>
          <a:prstGeom xmlns:a="http://schemas.openxmlformats.org/drawingml/2006/main" prst="roundRect">
            <a:avLst>
              <a:gd name="adj" fmla="val 3947"/>
            </a:avLst>
          </a:prstGeom>
        </p:spPr>
      </p:pic>
      <p:sp>
        <p:nvSpPr>
          <p:cNvPr id="5" name="">
            <a:extLst xmlns:a="http://schemas.openxmlformats.org/drawingml/2006/main">
              <a:ext uri="{FF2B5EF4-FFF2-40B4-BE49-F238E27FC236}">
                <a16:creationId xmlns:a16="http://schemas.microsoft.com/office/drawing/2014/main" id="{FC1023DC-B4A2-457E-8380-9D0A5396955D}"/>
              </a:ext>
            </a:extLst>
          </p:cNvPr>
          <p:cNvSpPr>
            <a:spLocks xmlns:a="http://schemas.openxmlformats.org/drawingml/2006/main" noGrp="1"/>
          </p:cNvSpPr>
          <p:nvPr/>
        </p:nvSpPr>
        <p:spPr>
          <a:xfrm xmlns:a="http://schemas.openxmlformats.org/drawingml/2006/main">
            <a:off x="704850" y="1571625"/>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43127"/>
                </a:solidFill>
              </a:defRPr>
            </a:pPr>
            <a:r>
              <a:rPr sz="1650" b="1">
                <a:solidFill>
                  <a:srgbClr val="243127"/>
                </a:solidFill>
              </a:rPr>
              <a:t>The same record moves through the full delivery cycle:</a:t>
            </a:r>
          </a:p>
        </p:txBody>
      </p:sp>
      <p:sp>
        <p:nvSpPr>
          <p:cNvPr id="6" name="">
            <a:extLst xmlns:a="http://schemas.openxmlformats.org/drawingml/2006/main">
              <a:ext uri="{FF2B5EF4-FFF2-40B4-BE49-F238E27FC236}">
                <a16:creationId xmlns:a16="http://schemas.microsoft.com/office/drawing/2014/main" id="{1B37F638-8F86-405F-8C25-C1A3E88F5D43}"/>
              </a:ext>
            </a:extLst>
          </p:cNvPr>
          <p:cNvSpPr>
            <a:spLocks xmlns:a="http://schemas.openxmlformats.org/drawingml/2006/main" noGrp="1"/>
          </p:cNvSpPr>
          <p:nvPr/>
        </p:nvSpPr>
        <p:spPr>
          <a:xfrm xmlns:a="http://schemas.openxmlformats.org/drawingml/2006/main">
            <a:off x="723900" y="2143125"/>
            <a:ext cx="419100" cy="419100"/>
          </a:xfrm>
          <a:prstGeom xmlns:a="http://schemas.openxmlformats.org/drawingml/2006/main" prst="ellipse">
            <a:avLst/>
          </a:prstGeom>
          <a:solidFill xmlns:a="http://schemas.openxmlformats.org/drawingml/2006/main">
            <a:srgbClr val="819067"/>
          </a:solidFill>
          <a:ln xmlns:a="http://schemas.openxmlformats.org/drawingml/2006/main" w="0">
            <a:solidFill>
              <a:srgbClr val="819067"/>
            </a:solidFill>
            <a:prstDash val="solid"/>
          </a:ln>
        </p:spPr>
      </p:sp>
      <p:sp>
        <p:nvSpPr>
          <p:cNvPr id="7" name="">
            <a:extLst xmlns:a="http://schemas.openxmlformats.org/drawingml/2006/main">
              <a:ext uri="{FF2B5EF4-FFF2-40B4-BE49-F238E27FC236}">
                <a16:creationId xmlns:a16="http://schemas.microsoft.com/office/drawing/2014/main" id="{716D36AD-6597-453A-AA31-1230B8AA7829}"/>
              </a:ext>
            </a:extLst>
          </p:cNvPr>
          <p:cNvSpPr>
            <a:spLocks xmlns:a="http://schemas.openxmlformats.org/drawingml/2006/main" noGrp="1"/>
          </p:cNvSpPr>
          <p:nvPr/>
        </p:nvSpPr>
        <p:spPr>
          <a:xfrm xmlns:a="http://schemas.openxmlformats.org/drawingml/2006/main">
            <a:off x="723900" y="22383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1</a:t>
            </a:r>
          </a:p>
        </p:txBody>
      </p:sp>
      <p:sp>
        <p:nvSpPr>
          <p:cNvPr id="8" name="">
            <a:extLst xmlns:a="http://schemas.openxmlformats.org/drawingml/2006/main">
              <a:ext uri="{FF2B5EF4-FFF2-40B4-BE49-F238E27FC236}">
                <a16:creationId xmlns:a16="http://schemas.microsoft.com/office/drawing/2014/main" id="{CC3CEF1D-ABE2-4116-86C1-928CB09744EA}"/>
              </a:ext>
            </a:extLst>
          </p:cNvPr>
          <p:cNvSpPr>
            <a:spLocks xmlns:a="http://schemas.openxmlformats.org/drawingml/2006/main" noGrp="1"/>
          </p:cNvSpPr>
          <p:nvPr/>
        </p:nvSpPr>
        <p:spPr>
          <a:xfrm xmlns:a="http://schemas.openxmlformats.org/drawingml/2006/main">
            <a:off x="1314450" y="2124075"/>
            <a:ext cx="2333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243127"/>
                </a:solidFill>
              </a:defRPr>
            </a:pPr>
            <a:r>
              <a:rPr sz="1575" b="1">
                <a:solidFill>
                  <a:srgbClr val="243127"/>
                </a:solidFill>
              </a:rPr>
              <a:t>Create and assign</a:t>
            </a:r>
          </a:p>
        </p:txBody>
      </p:sp>
      <p:sp>
        <p:nvSpPr>
          <p:cNvPr id="9" name="">
            <a:extLst xmlns:a="http://schemas.openxmlformats.org/drawingml/2006/main">
              <a:ext uri="{FF2B5EF4-FFF2-40B4-BE49-F238E27FC236}">
                <a16:creationId xmlns:a16="http://schemas.microsoft.com/office/drawing/2014/main" id="{E219BD97-03A3-4804-96A6-4CEE0BC54609}"/>
              </a:ext>
            </a:extLst>
          </p:cNvPr>
          <p:cNvSpPr>
            <a:spLocks xmlns:a="http://schemas.openxmlformats.org/drawingml/2006/main" noGrp="1"/>
          </p:cNvSpPr>
          <p:nvPr/>
        </p:nvSpPr>
        <p:spPr>
          <a:xfrm xmlns:a="http://schemas.openxmlformats.org/drawingml/2006/main">
            <a:off x="1314450" y="2400300"/>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17064"/>
                </a:solidFill>
              </a:defRPr>
            </a:pPr>
            <a:r>
              <a:rPr sz="1200" b="0">
                <a:solidFill>
                  <a:srgbClr val="617064"/>
                </a:solidFill>
              </a:rPr>
              <a:t>Owner, priority, dates and dependencies</a:t>
            </a:r>
          </a:p>
        </p:txBody>
      </p:sp>
      <p:sp>
        <p:nvSpPr>
          <p:cNvPr id="10" name="">
            <a:extLst xmlns:a="http://schemas.openxmlformats.org/drawingml/2006/main">
              <a:ext uri="{FF2B5EF4-FFF2-40B4-BE49-F238E27FC236}">
                <a16:creationId xmlns:a16="http://schemas.microsoft.com/office/drawing/2014/main" id="{F38697EB-37F3-4EB2-AFE5-970979AC3BDF}"/>
              </a:ext>
            </a:extLst>
          </p:cNvPr>
          <p:cNvSpPr>
            <a:spLocks xmlns:a="http://schemas.openxmlformats.org/drawingml/2006/main" noGrp="1"/>
          </p:cNvSpPr>
          <p:nvPr/>
        </p:nvSpPr>
        <p:spPr>
          <a:xfrm xmlns:a="http://schemas.openxmlformats.org/drawingml/2006/main">
            <a:off x="723900" y="2924175"/>
            <a:ext cx="419100" cy="419100"/>
          </a:xfrm>
          <a:prstGeom xmlns:a="http://schemas.openxmlformats.org/drawingml/2006/main" prst="ellipse">
            <a:avLst/>
          </a:prstGeom>
          <a:solidFill xmlns:a="http://schemas.openxmlformats.org/drawingml/2006/main">
            <a:srgbClr val="819067"/>
          </a:solidFill>
          <a:ln xmlns:a="http://schemas.openxmlformats.org/drawingml/2006/main" w="0">
            <a:solidFill>
              <a:srgbClr val="819067"/>
            </a:solidFill>
            <a:prstDash val="solid"/>
          </a:ln>
        </p:spPr>
      </p:sp>
      <p:sp>
        <p:nvSpPr>
          <p:cNvPr id="11" name="">
            <a:extLst xmlns:a="http://schemas.openxmlformats.org/drawingml/2006/main">
              <a:ext uri="{FF2B5EF4-FFF2-40B4-BE49-F238E27FC236}">
                <a16:creationId xmlns:a16="http://schemas.microsoft.com/office/drawing/2014/main" id="{E71F6B47-C945-467E-88A3-1E15110E7D2A}"/>
              </a:ext>
            </a:extLst>
          </p:cNvPr>
          <p:cNvSpPr>
            <a:spLocks xmlns:a="http://schemas.openxmlformats.org/drawingml/2006/main" noGrp="1"/>
          </p:cNvSpPr>
          <p:nvPr/>
        </p:nvSpPr>
        <p:spPr>
          <a:xfrm xmlns:a="http://schemas.openxmlformats.org/drawingml/2006/main">
            <a:off x="723900" y="30194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2</a:t>
            </a:r>
          </a:p>
        </p:txBody>
      </p:sp>
      <p:sp>
        <p:nvSpPr>
          <p:cNvPr id="12" name="">
            <a:extLst xmlns:a="http://schemas.openxmlformats.org/drawingml/2006/main">
              <a:ext uri="{FF2B5EF4-FFF2-40B4-BE49-F238E27FC236}">
                <a16:creationId xmlns:a16="http://schemas.microsoft.com/office/drawing/2014/main" id="{0D8B1CB0-2B00-48A9-B59D-BE29BCE66899}"/>
              </a:ext>
            </a:extLst>
          </p:cNvPr>
          <p:cNvSpPr>
            <a:spLocks xmlns:a="http://schemas.openxmlformats.org/drawingml/2006/main" noGrp="1"/>
          </p:cNvSpPr>
          <p:nvPr/>
        </p:nvSpPr>
        <p:spPr>
          <a:xfrm xmlns:a="http://schemas.openxmlformats.org/drawingml/2006/main">
            <a:off x="1314450" y="2905125"/>
            <a:ext cx="2333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243127"/>
                </a:solidFill>
              </a:defRPr>
            </a:pPr>
            <a:r>
              <a:rPr sz="1575" b="1">
                <a:solidFill>
                  <a:srgbClr val="243127"/>
                </a:solidFill>
              </a:rPr>
              <a:t>Work and collaborate</a:t>
            </a:r>
          </a:p>
        </p:txBody>
      </p:sp>
      <p:sp>
        <p:nvSpPr>
          <p:cNvPr id="13" name="">
            <a:extLst xmlns:a="http://schemas.openxmlformats.org/drawingml/2006/main">
              <a:ext uri="{FF2B5EF4-FFF2-40B4-BE49-F238E27FC236}">
                <a16:creationId xmlns:a16="http://schemas.microsoft.com/office/drawing/2014/main" id="{37AB0526-2410-4659-B656-BCEF1AE9FC56}"/>
              </a:ext>
            </a:extLst>
          </p:cNvPr>
          <p:cNvSpPr>
            <a:spLocks xmlns:a="http://schemas.openxmlformats.org/drawingml/2006/main" noGrp="1"/>
          </p:cNvSpPr>
          <p:nvPr/>
        </p:nvSpPr>
        <p:spPr>
          <a:xfrm xmlns:a="http://schemas.openxmlformats.org/drawingml/2006/main">
            <a:off x="1314450" y="3181350"/>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17064"/>
                </a:solidFill>
              </a:defRPr>
            </a:pPr>
            <a:r>
              <a:rPr sz="1200" b="0">
                <a:solidFill>
                  <a:srgbClr val="617064"/>
                </a:solidFill>
              </a:rPr>
              <a:t>Comments, evidence and blockers</a:t>
            </a:r>
          </a:p>
        </p:txBody>
      </p:sp>
      <p:sp>
        <p:nvSpPr>
          <p:cNvPr id="14" name="">
            <a:extLst xmlns:a="http://schemas.openxmlformats.org/drawingml/2006/main">
              <a:ext uri="{FF2B5EF4-FFF2-40B4-BE49-F238E27FC236}">
                <a16:creationId xmlns:a16="http://schemas.microsoft.com/office/drawing/2014/main" id="{28E26436-A870-4A6C-BD82-9552414CC365}"/>
              </a:ext>
            </a:extLst>
          </p:cNvPr>
          <p:cNvSpPr>
            <a:spLocks xmlns:a="http://schemas.openxmlformats.org/drawingml/2006/main" noGrp="1"/>
          </p:cNvSpPr>
          <p:nvPr/>
        </p:nvSpPr>
        <p:spPr>
          <a:xfrm xmlns:a="http://schemas.openxmlformats.org/drawingml/2006/main">
            <a:off x="723900" y="3705225"/>
            <a:ext cx="419100" cy="419100"/>
          </a:xfrm>
          <a:prstGeom xmlns:a="http://schemas.openxmlformats.org/drawingml/2006/main" prst="ellipse">
            <a:avLst/>
          </a:prstGeom>
          <a:solidFill xmlns:a="http://schemas.openxmlformats.org/drawingml/2006/main">
            <a:srgbClr val="819067"/>
          </a:solidFill>
          <a:ln xmlns:a="http://schemas.openxmlformats.org/drawingml/2006/main" w="0">
            <a:solidFill>
              <a:srgbClr val="819067"/>
            </a:solidFill>
            <a:prstDash val="solid"/>
          </a:ln>
        </p:spPr>
      </p:sp>
      <p:sp>
        <p:nvSpPr>
          <p:cNvPr id="15" name="">
            <a:extLst xmlns:a="http://schemas.openxmlformats.org/drawingml/2006/main">
              <a:ext uri="{FF2B5EF4-FFF2-40B4-BE49-F238E27FC236}">
                <a16:creationId xmlns:a16="http://schemas.microsoft.com/office/drawing/2014/main" id="{C0BC79A8-C6A8-4DCA-8F50-717B5D75A52D}"/>
              </a:ext>
            </a:extLst>
          </p:cNvPr>
          <p:cNvSpPr>
            <a:spLocks xmlns:a="http://schemas.openxmlformats.org/drawingml/2006/main" noGrp="1"/>
          </p:cNvSpPr>
          <p:nvPr/>
        </p:nvSpPr>
        <p:spPr>
          <a:xfrm xmlns:a="http://schemas.openxmlformats.org/drawingml/2006/main">
            <a:off x="723900" y="380047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3</a:t>
            </a:r>
          </a:p>
        </p:txBody>
      </p:sp>
      <p:sp>
        <p:nvSpPr>
          <p:cNvPr id="16" name="">
            <a:extLst xmlns:a="http://schemas.openxmlformats.org/drawingml/2006/main">
              <a:ext uri="{FF2B5EF4-FFF2-40B4-BE49-F238E27FC236}">
                <a16:creationId xmlns:a16="http://schemas.microsoft.com/office/drawing/2014/main" id="{07A01421-E9D6-45E0-8D7E-0EDA3ACB6018}"/>
              </a:ext>
            </a:extLst>
          </p:cNvPr>
          <p:cNvSpPr>
            <a:spLocks xmlns:a="http://schemas.openxmlformats.org/drawingml/2006/main" noGrp="1"/>
          </p:cNvSpPr>
          <p:nvPr/>
        </p:nvSpPr>
        <p:spPr>
          <a:xfrm xmlns:a="http://schemas.openxmlformats.org/drawingml/2006/main">
            <a:off x="1314450" y="3686175"/>
            <a:ext cx="2333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243127"/>
                </a:solidFill>
              </a:defRPr>
            </a:pPr>
            <a:r>
              <a:rPr sz="1575" b="1">
                <a:solidFill>
                  <a:srgbClr val="243127"/>
                </a:solidFill>
              </a:rPr>
              <a:t>Request completion</a:t>
            </a:r>
          </a:p>
        </p:txBody>
      </p:sp>
      <p:sp>
        <p:nvSpPr>
          <p:cNvPr id="17" name="">
            <a:extLst xmlns:a="http://schemas.openxmlformats.org/drawingml/2006/main">
              <a:ext uri="{FF2B5EF4-FFF2-40B4-BE49-F238E27FC236}">
                <a16:creationId xmlns:a16="http://schemas.microsoft.com/office/drawing/2014/main" id="{91818701-FE2C-49E7-B751-22EA3DD69072}"/>
              </a:ext>
            </a:extLst>
          </p:cNvPr>
          <p:cNvSpPr>
            <a:spLocks xmlns:a="http://schemas.openxmlformats.org/drawingml/2006/main" noGrp="1"/>
          </p:cNvSpPr>
          <p:nvPr/>
        </p:nvSpPr>
        <p:spPr>
          <a:xfrm xmlns:a="http://schemas.openxmlformats.org/drawingml/2006/main">
            <a:off x="1314450" y="3962400"/>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17064"/>
                </a:solidFill>
              </a:defRPr>
            </a:pPr>
            <a:r>
              <a:rPr sz="1200" b="0">
                <a:solidFill>
                  <a:srgbClr val="617064"/>
                </a:solidFill>
              </a:rPr>
              <a:t>Supervisor and manager approval</a:t>
            </a:r>
          </a:p>
        </p:txBody>
      </p:sp>
      <p:sp>
        <p:nvSpPr>
          <p:cNvPr id="18" name="">
            <a:extLst xmlns:a="http://schemas.openxmlformats.org/drawingml/2006/main">
              <a:ext uri="{FF2B5EF4-FFF2-40B4-BE49-F238E27FC236}">
                <a16:creationId xmlns:a16="http://schemas.microsoft.com/office/drawing/2014/main" id="{AF0B64D4-CC6A-4B8C-91FA-FE87DC7230E5}"/>
              </a:ext>
            </a:extLst>
          </p:cNvPr>
          <p:cNvSpPr>
            <a:spLocks xmlns:a="http://schemas.openxmlformats.org/drawingml/2006/main" noGrp="1"/>
          </p:cNvSpPr>
          <p:nvPr/>
        </p:nvSpPr>
        <p:spPr>
          <a:xfrm xmlns:a="http://schemas.openxmlformats.org/drawingml/2006/main">
            <a:off x="723900" y="4486275"/>
            <a:ext cx="419100" cy="41910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19" name="">
            <a:extLst xmlns:a="http://schemas.openxmlformats.org/drawingml/2006/main">
              <a:ext uri="{FF2B5EF4-FFF2-40B4-BE49-F238E27FC236}">
                <a16:creationId xmlns:a16="http://schemas.microsoft.com/office/drawing/2014/main" id="{5DDA8A1C-70FF-4269-9DE5-C2769C959068}"/>
              </a:ext>
            </a:extLst>
          </p:cNvPr>
          <p:cNvSpPr>
            <a:spLocks xmlns:a="http://schemas.openxmlformats.org/drawingml/2006/main" noGrp="1"/>
          </p:cNvSpPr>
          <p:nvPr/>
        </p:nvSpPr>
        <p:spPr>
          <a:xfrm xmlns:a="http://schemas.openxmlformats.org/drawingml/2006/main">
            <a:off x="723900" y="45815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4</a:t>
            </a:r>
          </a:p>
        </p:txBody>
      </p:sp>
      <p:sp>
        <p:nvSpPr>
          <p:cNvPr id="20" name="">
            <a:extLst xmlns:a="http://schemas.openxmlformats.org/drawingml/2006/main">
              <a:ext uri="{FF2B5EF4-FFF2-40B4-BE49-F238E27FC236}">
                <a16:creationId xmlns:a16="http://schemas.microsoft.com/office/drawing/2014/main" id="{51FCC943-E7FC-48D9-941E-516118894A6D}"/>
              </a:ext>
            </a:extLst>
          </p:cNvPr>
          <p:cNvSpPr>
            <a:spLocks xmlns:a="http://schemas.openxmlformats.org/drawingml/2006/main" noGrp="1"/>
          </p:cNvSpPr>
          <p:nvPr/>
        </p:nvSpPr>
        <p:spPr>
          <a:xfrm xmlns:a="http://schemas.openxmlformats.org/drawingml/2006/main">
            <a:off x="1314450" y="4467225"/>
            <a:ext cx="2333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243127"/>
                </a:solidFill>
              </a:defRPr>
            </a:pPr>
            <a:r>
              <a:rPr sz="1575" b="1">
                <a:solidFill>
                  <a:srgbClr val="243127"/>
                </a:solidFill>
              </a:rPr>
              <a:t>Measure automatically</a:t>
            </a:r>
          </a:p>
        </p:txBody>
      </p:sp>
      <p:sp>
        <p:nvSpPr>
          <p:cNvPr id="21" name="">
            <a:extLst xmlns:a="http://schemas.openxmlformats.org/drawingml/2006/main">
              <a:ext uri="{FF2B5EF4-FFF2-40B4-BE49-F238E27FC236}">
                <a16:creationId xmlns:a16="http://schemas.microsoft.com/office/drawing/2014/main" id="{508C2D74-96FD-4609-BF5B-AC23B6249291}"/>
              </a:ext>
            </a:extLst>
          </p:cNvPr>
          <p:cNvSpPr>
            <a:spLocks xmlns:a="http://schemas.openxmlformats.org/drawingml/2006/main" noGrp="1"/>
          </p:cNvSpPr>
          <p:nvPr/>
        </p:nvSpPr>
        <p:spPr>
          <a:xfrm xmlns:a="http://schemas.openxmlformats.org/drawingml/2006/main">
            <a:off x="1314450" y="4743450"/>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17064"/>
                </a:solidFill>
              </a:defRPr>
            </a:pPr>
            <a:r>
              <a:rPr sz="1200" b="0">
                <a:solidFill>
                  <a:srgbClr val="617064"/>
                </a:solidFill>
              </a:rPr>
              <a:t>Task, course and project progress</a:t>
            </a:r>
          </a:p>
        </p:txBody>
      </p:sp>
      <p:sp>
        <p:nvSpPr>
          <p:cNvPr id="22" name="">
            <a:extLst xmlns:a="http://schemas.openxmlformats.org/drawingml/2006/main">
              <a:ext uri="{FF2B5EF4-FFF2-40B4-BE49-F238E27FC236}">
                <a16:creationId xmlns:a16="http://schemas.microsoft.com/office/drawing/2014/main" id="{9B1933F2-A7A9-453A-9292-F09639D51E00}"/>
              </a:ext>
            </a:extLst>
          </p:cNvPr>
          <p:cNvSpPr>
            <a:spLocks xmlns:a="http://schemas.openxmlformats.org/drawingml/2006/main" noGrp="1"/>
          </p:cNvSpPr>
          <p:nvPr/>
        </p:nvSpPr>
        <p:spPr>
          <a:xfrm xmlns:a="http://schemas.openxmlformats.org/drawingml/2006/main">
            <a:off x="6238875" y="4857750"/>
            <a:ext cx="1619250" cy="323850"/>
          </a:xfrm>
          <a:prstGeom xmlns:a="http://schemas.openxmlformats.org/drawingml/2006/main" prst="roundRect">
            <a:avLst>
              <a:gd name="adj" fmla="val 50000"/>
            </a:avLst>
          </a:prstGeom>
          <a:solidFill xmlns:a="http://schemas.openxmlformats.org/drawingml/2006/main">
            <a:srgbClr val="E9ECE2"/>
          </a:solidFill>
          <a:ln xmlns:a="http://schemas.openxmlformats.org/drawingml/2006/main" w="0">
            <a:solidFill>
              <a:srgbClr val="E9ECE2"/>
            </a:solidFill>
            <a:prstDash val="solid"/>
          </a:ln>
        </p:spPr>
      </p:sp>
      <p:sp>
        <p:nvSpPr>
          <p:cNvPr id="23" name="">
            <a:extLst xmlns:a="http://schemas.openxmlformats.org/drawingml/2006/main">
              <a:ext uri="{FF2B5EF4-FFF2-40B4-BE49-F238E27FC236}">
                <a16:creationId xmlns:a16="http://schemas.microsoft.com/office/drawing/2014/main" id="{56C10065-2DD0-49EC-91D0-462CD624D933}"/>
              </a:ext>
            </a:extLst>
          </p:cNvPr>
          <p:cNvSpPr>
            <a:spLocks xmlns:a="http://schemas.openxmlformats.org/drawingml/2006/main" noGrp="1"/>
          </p:cNvSpPr>
          <p:nvPr/>
        </p:nvSpPr>
        <p:spPr>
          <a:xfrm xmlns:a="http://schemas.openxmlformats.org/drawingml/2006/main">
            <a:off x="6353175" y="4924425"/>
            <a:ext cx="1390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7531B"/>
                </a:solidFill>
              </a:defRPr>
            </a:pPr>
            <a:r>
              <a:rPr sz="1050" b="1">
                <a:solidFill>
                  <a:srgbClr val="17531B"/>
                </a:solidFill>
              </a:rPr>
              <a:t>Arabic / English</a:t>
            </a:r>
          </a:p>
        </p:txBody>
      </p:sp>
      <p:sp>
        <p:nvSpPr>
          <p:cNvPr id="24" name="">
            <a:extLst xmlns:a="http://schemas.openxmlformats.org/drawingml/2006/main">
              <a:ext uri="{FF2B5EF4-FFF2-40B4-BE49-F238E27FC236}">
                <a16:creationId xmlns:a16="http://schemas.microsoft.com/office/drawing/2014/main" id="{934F53A6-6B47-4636-8808-5BE41052996F}"/>
              </a:ext>
            </a:extLst>
          </p:cNvPr>
          <p:cNvSpPr>
            <a:spLocks xmlns:a="http://schemas.openxmlformats.org/drawingml/2006/main" noGrp="1"/>
          </p:cNvSpPr>
          <p:nvPr/>
        </p:nvSpPr>
        <p:spPr>
          <a:xfrm xmlns:a="http://schemas.openxmlformats.org/drawingml/2006/main">
            <a:off x="8048625" y="4857750"/>
            <a:ext cx="1238250" cy="323850"/>
          </a:xfrm>
          <a:prstGeom xmlns:a="http://schemas.openxmlformats.org/drawingml/2006/main" prst="roundRect">
            <a:avLst>
              <a:gd name="adj" fmla="val 50000"/>
            </a:avLst>
          </a:prstGeom>
          <a:solidFill xmlns:a="http://schemas.openxmlformats.org/drawingml/2006/main">
            <a:srgbClr val="E9ECE2"/>
          </a:solidFill>
          <a:ln xmlns:a="http://schemas.openxmlformats.org/drawingml/2006/main" w="0">
            <a:solidFill>
              <a:srgbClr val="E9ECE2"/>
            </a:solidFill>
            <a:prstDash val="solid"/>
          </a:ln>
        </p:spPr>
      </p:sp>
      <p:sp>
        <p:nvSpPr>
          <p:cNvPr id="25" name="">
            <a:extLst xmlns:a="http://schemas.openxmlformats.org/drawingml/2006/main">
              <a:ext uri="{FF2B5EF4-FFF2-40B4-BE49-F238E27FC236}">
                <a16:creationId xmlns:a16="http://schemas.microsoft.com/office/drawing/2014/main" id="{E734C777-7F95-41A3-8A8B-DA14183A1A4A}"/>
              </a:ext>
            </a:extLst>
          </p:cNvPr>
          <p:cNvSpPr>
            <a:spLocks xmlns:a="http://schemas.openxmlformats.org/drawingml/2006/main" noGrp="1"/>
          </p:cNvSpPr>
          <p:nvPr/>
        </p:nvSpPr>
        <p:spPr>
          <a:xfrm xmlns:a="http://schemas.openxmlformats.org/drawingml/2006/main">
            <a:off x="8162925" y="4924425"/>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7531B"/>
                </a:solidFill>
              </a:defRPr>
            </a:pPr>
            <a:r>
              <a:rPr sz="1050" b="1">
                <a:solidFill>
                  <a:srgbClr val="17531B"/>
                </a:solidFill>
              </a:rPr>
              <a:t>RTL / LTR</a:t>
            </a:r>
          </a:p>
        </p:txBody>
      </p:sp>
      <p:sp>
        <p:nvSpPr>
          <p:cNvPr id="26" name="">
            <a:extLst xmlns:a="http://schemas.openxmlformats.org/drawingml/2006/main">
              <a:ext uri="{FF2B5EF4-FFF2-40B4-BE49-F238E27FC236}">
                <a16:creationId xmlns:a16="http://schemas.microsoft.com/office/drawing/2014/main" id="{E3FE3A80-E825-42E2-9525-BD58F3D58D4B}"/>
              </a:ext>
            </a:extLst>
          </p:cNvPr>
          <p:cNvSpPr>
            <a:spLocks xmlns:a="http://schemas.openxmlformats.org/drawingml/2006/main" noGrp="1"/>
          </p:cNvSpPr>
          <p:nvPr/>
        </p:nvSpPr>
        <p:spPr>
          <a:xfrm xmlns:a="http://schemas.openxmlformats.org/drawingml/2006/main">
            <a:off x="9477375" y="4857750"/>
            <a:ext cx="1047750" cy="323850"/>
          </a:xfrm>
          <a:prstGeom xmlns:a="http://schemas.openxmlformats.org/drawingml/2006/main" prst="roundRect">
            <a:avLst>
              <a:gd name="adj" fmla="val 50000"/>
            </a:avLst>
          </a:prstGeom>
          <a:solidFill xmlns:a="http://schemas.openxmlformats.org/drawingml/2006/main">
            <a:srgbClr val="E9ECE2"/>
          </a:solidFill>
          <a:ln xmlns:a="http://schemas.openxmlformats.org/drawingml/2006/main" w="0">
            <a:solidFill>
              <a:srgbClr val="E9ECE2"/>
            </a:solidFill>
            <a:prstDash val="solid"/>
          </a:ln>
        </p:spPr>
      </p:sp>
      <p:sp>
        <p:nvSpPr>
          <p:cNvPr id="27" name="">
            <a:extLst xmlns:a="http://schemas.openxmlformats.org/drawingml/2006/main">
              <a:ext uri="{FF2B5EF4-FFF2-40B4-BE49-F238E27FC236}">
                <a16:creationId xmlns:a16="http://schemas.microsoft.com/office/drawing/2014/main" id="{7FDB03E7-6028-4FD1-804F-38F2B9CC5774}"/>
              </a:ext>
            </a:extLst>
          </p:cNvPr>
          <p:cNvSpPr>
            <a:spLocks xmlns:a="http://schemas.openxmlformats.org/drawingml/2006/main" noGrp="1"/>
          </p:cNvSpPr>
          <p:nvPr/>
        </p:nvSpPr>
        <p:spPr>
          <a:xfrm xmlns:a="http://schemas.openxmlformats.org/drawingml/2006/main">
            <a:off x="9591675" y="4924425"/>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7531B"/>
                </a:solidFill>
              </a:defRPr>
            </a:pPr>
            <a:r>
              <a:rPr sz="1050" b="1">
                <a:solidFill>
                  <a:srgbClr val="17531B"/>
                </a:solidFill>
              </a:rPr>
              <a:t>Mobile</a:t>
            </a:r>
          </a:p>
        </p:txBody>
      </p:sp>
      <p:sp>
        <p:nvSpPr>
          <p:cNvPr id="28" name="">
            <a:extLst xmlns:a="http://schemas.openxmlformats.org/drawingml/2006/main">
              <a:ext uri="{FF2B5EF4-FFF2-40B4-BE49-F238E27FC236}">
                <a16:creationId xmlns:a16="http://schemas.microsoft.com/office/drawing/2014/main" id="{4432A74E-F354-4E42-AD27-C7620D347BFE}"/>
              </a:ext>
            </a:extLst>
          </p:cNvPr>
          <p:cNvSpPr>
            <a:spLocks xmlns:a="http://schemas.openxmlformats.org/drawingml/2006/main" noGrp="1"/>
          </p:cNvSpPr>
          <p:nvPr/>
        </p:nvSpPr>
        <p:spPr>
          <a:xfrm xmlns:a="http://schemas.openxmlformats.org/drawingml/2006/main">
            <a:off x="6191250" y="546735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617064"/>
                </a:solidFill>
              </a:defRPr>
            </a:pPr>
            <a:r>
              <a:rPr sz="1425" b="0">
                <a:solidFill>
                  <a:srgbClr val="617064"/>
                </a:solidFill>
              </a:rPr>
              <a:t>The executive dashboard and team workspace read from the same controlled state.</a:t>
            </a:r>
          </a:p>
        </p:txBody>
      </p:sp>
      <p:sp>
        <p:nvSpPr>
          <p:cNvPr id="29" name="">
            <a:extLst xmlns:a="http://schemas.openxmlformats.org/drawingml/2006/main">
              <a:ext uri="{FF2B5EF4-FFF2-40B4-BE49-F238E27FC236}">
                <a16:creationId xmlns:a16="http://schemas.microsoft.com/office/drawing/2014/main" id="{4BAA4944-F8E5-4DAF-8A72-CCAF0BAF10E6}"/>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8CE"/>
          </a:solidFill>
          <a:ln xmlns:a="http://schemas.openxmlformats.org/drawingml/2006/main" w="0">
            <a:solidFill>
              <a:srgbClr val="D7D8CE"/>
            </a:solidFill>
            <a:prstDash val="solid"/>
          </a:ln>
        </p:spPr>
      </p:sp>
      <p:sp>
        <p:nvSpPr>
          <p:cNvPr id="30" name="">
            <a:extLst xmlns:a="http://schemas.openxmlformats.org/drawingml/2006/main">
              <a:ext uri="{FF2B5EF4-FFF2-40B4-BE49-F238E27FC236}">
                <a16:creationId xmlns:a16="http://schemas.microsoft.com/office/drawing/2014/main" id="{7107E35C-FAF4-4F27-B85F-84AA989F9844}"/>
              </a:ext>
            </a:extLst>
          </p:cNvPr>
          <p:cNvSpPr>
            <a:spLocks xmlns:a="http://schemas.openxmlformats.org/drawingml/2006/main" noGrp="1"/>
          </p:cNvSpPr>
          <p:nvPr/>
        </p:nvSpPr>
        <p:spPr>
          <a:xfrm xmlns:a="http://schemas.openxmlformats.org/drawingml/2006/main">
            <a:off x="685800" y="65246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17064"/>
                </a:solidFill>
              </a:defRPr>
            </a:pPr>
            <a:r>
              <a:rPr sz="825" b="1">
                <a:solidFill>
                  <a:srgbClr val="617064"/>
                </a:solidFill>
              </a:rPr>
              <a:t>INSIGHT TRACKER</a:t>
            </a:r>
          </a:p>
        </p:txBody>
      </p:sp>
      <p:sp>
        <p:nvSpPr>
          <p:cNvPr id="31" name="">
            <a:extLst xmlns:a="http://schemas.openxmlformats.org/drawingml/2006/main">
              <a:ext uri="{FF2B5EF4-FFF2-40B4-BE49-F238E27FC236}">
                <a16:creationId xmlns:a16="http://schemas.microsoft.com/office/drawing/2014/main" id="{C65E1040-84CA-4526-9483-1089854EB93F}"/>
              </a:ext>
            </a:extLst>
          </p:cNvPr>
          <p:cNvSpPr>
            <a:spLocks xmlns:a="http://schemas.openxmlformats.org/drawingml/2006/main" noGrp="1"/>
          </p:cNvSpPr>
          <p:nvPr/>
        </p:nvSpPr>
        <p:spPr>
          <a:xfrm xmlns:a="http://schemas.openxmlformats.org/drawingml/2006/main">
            <a:off x="11049000" y="65055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17064"/>
                </a:solidFill>
              </a:defRPr>
            </a:pPr>
            <a:r>
              <a:rPr sz="900" b="1">
                <a:solidFill>
                  <a:srgbClr val="617064"/>
                </a:solidFill>
              </a:rPr>
              <a:t>03</a:t>
            </a:r>
          </a:p>
        </p:txBody>
      </p:sp>
    </p:spTree>
    <p:extLst>
      <p:ext uri="{BB962C8B-B14F-4D97-AF65-F5344CB8AC3E}">
        <p14:creationId xmlns:p14="http://schemas.microsoft.com/office/powerpoint/2010/main" val="1278787036"/>
      </p:ext>
    </p:extLst>
  </p:cSld>
</p:sld>
</file>

<file path=ppt/slides/slide4.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2" name="kicker-4">
            <a:extLst xmlns:a="http://schemas.openxmlformats.org/drawingml/2006/main">
              <a:ext uri="{FF2B5EF4-FFF2-40B4-BE49-F238E27FC236}">
                <a16:creationId xmlns:a16="http://schemas.microsoft.com/office/drawing/2014/main" id="{0EB809A8-A256-4215-989B-F8AB0ED44382}"/>
              </a:ext>
            </a:extLst>
          </p:cNvPr>
          <p:cNvSpPr>
            <a:spLocks xmlns:a="http://schemas.openxmlformats.org/drawingml/2006/main" noGrp="1"/>
          </p:cNvSpPr>
          <p:nvPr/>
        </p:nvSpPr>
        <p:spPr>
          <a:xfrm xmlns:a="http://schemas.openxmlformats.org/drawingml/2006/main">
            <a:off x="685800" y="400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7531B"/>
                </a:solidFill>
              </a:defRPr>
            </a:pPr>
            <a:r>
              <a:rPr sz="1050" b="1">
                <a:solidFill>
                  <a:srgbClr val="17531B"/>
                </a:solidFill>
              </a:rPr>
              <a:t>COMPLETE FEATURE SET</a:t>
            </a:r>
          </a:p>
        </p:txBody>
      </p:sp>
      <p:sp>
        <p:nvSpPr>
          <p:cNvPr id="2" name="title-4">
            <a:extLst xmlns:a="http://schemas.openxmlformats.org/drawingml/2006/main">
              <a:ext uri="{FF2B5EF4-FFF2-40B4-BE49-F238E27FC236}">
                <a16:creationId xmlns:a16="http://schemas.microsoft.com/office/drawing/2014/main" id="{7D21898A-6EC6-4273-AA6D-8458F11C2910}"/>
              </a:ext>
            </a:extLst>
          </p:cNvPr>
          <p:cNvSpPr>
            <a:spLocks xmlns:a="http://schemas.openxmlformats.org/drawingml/2006/main" noGrp="1"/>
          </p:cNvSpPr>
          <p:nvPr/>
        </p:nvSpPr>
        <p:spPr>
          <a:xfrm xmlns:a="http://schemas.openxmlformats.org/drawingml/2006/main">
            <a:off x="685800" y="742950"/>
            <a:ext cx="10744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43127"/>
                </a:solidFill>
              </a:defRPr>
            </a:pPr>
            <a:r>
              <a:rPr sz="2850" b="1">
                <a:solidFill>
                  <a:srgbClr val="243127"/>
                </a:solidFill>
              </a:rPr>
              <a:t>The product covers delivery, training and control</a:t>
            </a:r>
          </a:p>
        </p:txBody>
      </p:sp>
      <p:sp>
        <p:nvSpPr>
          <p:cNvPr id="3" name="">
            <a:extLst xmlns:a="http://schemas.openxmlformats.org/drawingml/2006/main">
              <a:ext uri="{FF2B5EF4-FFF2-40B4-BE49-F238E27FC236}">
                <a16:creationId xmlns:a16="http://schemas.microsoft.com/office/drawing/2014/main" id="{31CFA216-AB36-4162-9F54-ED0AE5A4EDED}"/>
              </a:ext>
            </a:extLst>
          </p:cNvPr>
          <p:cNvSpPr>
            <a:spLocks xmlns:a="http://schemas.openxmlformats.org/drawingml/2006/main" noGrp="1"/>
          </p:cNvSpPr>
          <p:nvPr/>
        </p:nvSpPr>
        <p:spPr>
          <a:xfrm xmlns:a="http://schemas.openxmlformats.org/drawingml/2006/main">
            <a:off x="685800" y="1638300"/>
            <a:ext cx="2419350" cy="4000500"/>
          </a:xfrm>
          <a:prstGeom xmlns:a="http://schemas.openxmlformats.org/drawingml/2006/main" prst="roundRect">
            <a:avLst>
              <a:gd name="adj" fmla="val 4724"/>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E5016CF2-3A4A-476A-9306-4B2D0143951A}"/>
              </a:ext>
            </a:extLst>
          </p:cNvPr>
          <p:cNvSpPr>
            <a:spLocks xmlns:a="http://schemas.openxmlformats.org/drawingml/2006/main" noGrp="1"/>
          </p:cNvSpPr>
          <p:nvPr/>
        </p:nvSpPr>
        <p:spPr>
          <a:xfrm xmlns:a="http://schemas.openxmlformats.org/drawingml/2006/main">
            <a:off x="685800" y="1638300"/>
            <a:ext cx="2419350" cy="114300"/>
          </a:xfrm>
          <a:prstGeom xmlns:a="http://schemas.openxmlformats.org/drawingml/2006/main" prst="rect">
            <a:avLst/>
          </a:prstGeom>
          <a:solidFill xmlns:a="http://schemas.openxmlformats.org/drawingml/2006/main">
            <a:srgbClr val="17531B"/>
          </a:solidFill>
          <a:ln xmlns:a="http://schemas.openxmlformats.org/drawingml/2006/main" w="0">
            <a:solidFill>
              <a:srgbClr val="17531B"/>
            </a:solidFill>
            <a:prstDash val="solid"/>
          </a:ln>
        </p:spPr>
      </p:sp>
      <p:sp>
        <p:nvSpPr>
          <p:cNvPr id="5" name="">
            <a:extLst xmlns:a="http://schemas.openxmlformats.org/drawingml/2006/main">
              <a:ext uri="{FF2B5EF4-FFF2-40B4-BE49-F238E27FC236}">
                <a16:creationId xmlns:a16="http://schemas.microsoft.com/office/drawing/2014/main" id="{8F21A8B2-441D-4475-AF6E-EB7AF7E67D02}"/>
              </a:ext>
            </a:extLst>
          </p:cNvPr>
          <p:cNvSpPr>
            <a:spLocks xmlns:a="http://schemas.openxmlformats.org/drawingml/2006/main" noGrp="1"/>
          </p:cNvSpPr>
          <p:nvPr/>
        </p:nvSpPr>
        <p:spPr>
          <a:xfrm xmlns:a="http://schemas.openxmlformats.org/drawingml/2006/main">
            <a:off x="876300" y="2019300"/>
            <a:ext cx="2038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531B"/>
                </a:solidFill>
              </a:defRPr>
            </a:pPr>
            <a:r>
              <a:rPr sz="1725" b="1">
                <a:solidFill>
                  <a:srgbClr val="17531B"/>
                </a:solidFill>
              </a:rPr>
              <a:t>Plan and deliver</a:t>
            </a:r>
          </a:p>
        </p:txBody>
      </p:sp>
      <p:sp>
        <p:nvSpPr>
          <p:cNvPr id="6" name="">
            <a:extLst xmlns:a="http://schemas.openxmlformats.org/drawingml/2006/main">
              <a:ext uri="{FF2B5EF4-FFF2-40B4-BE49-F238E27FC236}">
                <a16:creationId xmlns:a16="http://schemas.microsoft.com/office/drawing/2014/main" id="{7DA80B8C-940F-4DA5-9B5B-9DA4E4605C0A}"/>
              </a:ext>
            </a:extLst>
          </p:cNvPr>
          <p:cNvSpPr>
            <a:spLocks xmlns:a="http://schemas.openxmlformats.org/drawingml/2006/main" noGrp="1"/>
          </p:cNvSpPr>
          <p:nvPr/>
        </p:nvSpPr>
        <p:spPr>
          <a:xfrm xmlns:a="http://schemas.openxmlformats.org/drawingml/2006/main">
            <a:off x="895350" y="2714625"/>
            <a:ext cx="76200" cy="7620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7" name="">
            <a:extLst xmlns:a="http://schemas.openxmlformats.org/drawingml/2006/main">
              <a:ext uri="{FF2B5EF4-FFF2-40B4-BE49-F238E27FC236}">
                <a16:creationId xmlns:a16="http://schemas.microsoft.com/office/drawing/2014/main" id="{1C5CF973-BFC1-41EA-9AF8-E9B95617D4EF}"/>
              </a:ext>
            </a:extLst>
          </p:cNvPr>
          <p:cNvSpPr>
            <a:spLocks xmlns:a="http://schemas.openxmlformats.org/drawingml/2006/main" noGrp="1"/>
          </p:cNvSpPr>
          <p:nvPr/>
        </p:nvSpPr>
        <p:spPr>
          <a:xfrm xmlns:a="http://schemas.openxmlformats.org/drawingml/2006/main">
            <a:off x="1104900" y="26289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Departments and programs</a:t>
            </a:r>
          </a:p>
        </p:txBody>
      </p:sp>
      <p:sp>
        <p:nvSpPr>
          <p:cNvPr id="8" name="">
            <a:extLst xmlns:a="http://schemas.openxmlformats.org/drawingml/2006/main">
              <a:ext uri="{FF2B5EF4-FFF2-40B4-BE49-F238E27FC236}">
                <a16:creationId xmlns:a16="http://schemas.microsoft.com/office/drawing/2014/main" id="{28552259-2672-4C2D-8D00-044633C68D39}"/>
              </a:ext>
            </a:extLst>
          </p:cNvPr>
          <p:cNvSpPr>
            <a:spLocks xmlns:a="http://schemas.openxmlformats.org/drawingml/2006/main" noGrp="1"/>
          </p:cNvSpPr>
          <p:nvPr/>
        </p:nvSpPr>
        <p:spPr>
          <a:xfrm xmlns:a="http://schemas.openxmlformats.org/drawingml/2006/main">
            <a:off x="895350" y="3209925"/>
            <a:ext cx="76200" cy="7620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9" name="">
            <a:extLst xmlns:a="http://schemas.openxmlformats.org/drawingml/2006/main">
              <a:ext uri="{FF2B5EF4-FFF2-40B4-BE49-F238E27FC236}">
                <a16:creationId xmlns:a16="http://schemas.microsoft.com/office/drawing/2014/main" id="{243B3188-9D55-4E9C-998F-B23478A5598B}"/>
              </a:ext>
            </a:extLst>
          </p:cNvPr>
          <p:cNvSpPr>
            <a:spLocks xmlns:a="http://schemas.openxmlformats.org/drawingml/2006/main" noGrp="1"/>
          </p:cNvSpPr>
          <p:nvPr/>
        </p:nvSpPr>
        <p:spPr>
          <a:xfrm xmlns:a="http://schemas.openxmlformats.org/drawingml/2006/main">
            <a:off x="1104900" y="31242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Projects and teams</a:t>
            </a:r>
          </a:p>
        </p:txBody>
      </p:sp>
      <p:sp>
        <p:nvSpPr>
          <p:cNvPr id="10" name="">
            <a:extLst xmlns:a="http://schemas.openxmlformats.org/drawingml/2006/main">
              <a:ext uri="{FF2B5EF4-FFF2-40B4-BE49-F238E27FC236}">
                <a16:creationId xmlns:a16="http://schemas.microsoft.com/office/drawing/2014/main" id="{AE29619F-D6F3-4378-B03F-F4F92CF7FC83}"/>
              </a:ext>
            </a:extLst>
          </p:cNvPr>
          <p:cNvSpPr>
            <a:spLocks xmlns:a="http://schemas.openxmlformats.org/drawingml/2006/main" noGrp="1"/>
          </p:cNvSpPr>
          <p:nvPr/>
        </p:nvSpPr>
        <p:spPr>
          <a:xfrm xmlns:a="http://schemas.openxmlformats.org/drawingml/2006/main">
            <a:off x="895350" y="3705225"/>
            <a:ext cx="76200" cy="7620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11" name="">
            <a:extLst xmlns:a="http://schemas.openxmlformats.org/drawingml/2006/main">
              <a:ext uri="{FF2B5EF4-FFF2-40B4-BE49-F238E27FC236}">
                <a16:creationId xmlns:a16="http://schemas.microsoft.com/office/drawing/2014/main" id="{A491246D-835F-4E8A-9239-E65E0ACAFA00}"/>
              </a:ext>
            </a:extLst>
          </p:cNvPr>
          <p:cNvSpPr>
            <a:spLocks xmlns:a="http://schemas.openxmlformats.org/drawingml/2006/main" noGrp="1"/>
          </p:cNvSpPr>
          <p:nvPr/>
        </p:nvSpPr>
        <p:spPr>
          <a:xfrm xmlns:a="http://schemas.openxmlformats.org/drawingml/2006/main">
            <a:off x="1104900" y="36195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Courses and trainers</a:t>
            </a:r>
          </a:p>
        </p:txBody>
      </p:sp>
      <p:sp>
        <p:nvSpPr>
          <p:cNvPr id="12" name="">
            <a:extLst xmlns:a="http://schemas.openxmlformats.org/drawingml/2006/main">
              <a:ext uri="{FF2B5EF4-FFF2-40B4-BE49-F238E27FC236}">
                <a16:creationId xmlns:a16="http://schemas.microsoft.com/office/drawing/2014/main" id="{21A580D6-3761-4D85-AD6C-9F5090EE5C2F}"/>
              </a:ext>
            </a:extLst>
          </p:cNvPr>
          <p:cNvSpPr>
            <a:spLocks xmlns:a="http://schemas.openxmlformats.org/drawingml/2006/main" noGrp="1"/>
          </p:cNvSpPr>
          <p:nvPr/>
        </p:nvSpPr>
        <p:spPr>
          <a:xfrm xmlns:a="http://schemas.openxmlformats.org/drawingml/2006/main">
            <a:off x="895350" y="4200525"/>
            <a:ext cx="76200" cy="7620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13" name="">
            <a:extLst xmlns:a="http://schemas.openxmlformats.org/drawingml/2006/main">
              <a:ext uri="{FF2B5EF4-FFF2-40B4-BE49-F238E27FC236}">
                <a16:creationId xmlns:a16="http://schemas.microsoft.com/office/drawing/2014/main" id="{955B2742-B306-45A5-A335-5B3BE3A7680A}"/>
              </a:ext>
            </a:extLst>
          </p:cNvPr>
          <p:cNvSpPr>
            <a:spLocks xmlns:a="http://schemas.openxmlformats.org/drawingml/2006/main" noGrp="1"/>
          </p:cNvSpPr>
          <p:nvPr/>
        </p:nvSpPr>
        <p:spPr>
          <a:xfrm xmlns:a="http://schemas.openxmlformats.org/drawingml/2006/main">
            <a:off x="1104900" y="41148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Tasks, comments and files</a:t>
            </a:r>
          </a:p>
        </p:txBody>
      </p:sp>
      <p:sp>
        <p:nvSpPr>
          <p:cNvPr id="14" name="">
            <a:extLst xmlns:a="http://schemas.openxmlformats.org/drawingml/2006/main">
              <a:ext uri="{FF2B5EF4-FFF2-40B4-BE49-F238E27FC236}">
                <a16:creationId xmlns:a16="http://schemas.microsoft.com/office/drawing/2014/main" id="{02C1B867-81A4-4D0E-89F1-1BEAD235A93C}"/>
              </a:ext>
            </a:extLst>
          </p:cNvPr>
          <p:cNvSpPr>
            <a:spLocks xmlns:a="http://schemas.openxmlformats.org/drawingml/2006/main" noGrp="1"/>
          </p:cNvSpPr>
          <p:nvPr/>
        </p:nvSpPr>
        <p:spPr>
          <a:xfrm xmlns:a="http://schemas.openxmlformats.org/drawingml/2006/main">
            <a:off x="895350" y="4695825"/>
            <a:ext cx="76200" cy="7620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15" name="">
            <a:extLst xmlns:a="http://schemas.openxmlformats.org/drawingml/2006/main">
              <a:ext uri="{FF2B5EF4-FFF2-40B4-BE49-F238E27FC236}">
                <a16:creationId xmlns:a16="http://schemas.microsoft.com/office/drawing/2014/main" id="{A45FBC99-254C-43A7-AC7D-5B8129AC34D2}"/>
              </a:ext>
            </a:extLst>
          </p:cNvPr>
          <p:cNvSpPr>
            <a:spLocks xmlns:a="http://schemas.openxmlformats.org/drawingml/2006/main" noGrp="1"/>
          </p:cNvSpPr>
          <p:nvPr/>
        </p:nvSpPr>
        <p:spPr>
          <a:xfrm xmlns:a="http://schemas.openxmlformats.org/drawingml/2006/main">
            <a:off x="1104900" y="46101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Milestones and dependencies</a:t>
            </a:r>
          </a:p>
        </p:txBody>
      </p:sp>
      <p:sp>
        <p:nvSpPr>
          <p:cNvPr id="16" name="">
            <a:extLst xmlns:a="http://schemas.openxmlformats.org/drawingml/2006/main">
              <a:ext uri="{FF2B5EF4-FFF2-40B4-BE49-F238E27FC236}">
                <a16:creationId xmlns:a16="http://schemas.microsoft.com/office/drawing/2014/main" id="{29F9E44A-3936-4BC8-AA7D-0EA84BF0B546}"/>
              </a:ext>
            </a:extLst>
          </p:cNvPr>
          <p:cNvSpPr>
            <a:spLocks xmlns:a="http://schemas.openxmlformats.org/drawingml/2006/main" noGrp="1"/>
          </p:cNvSpPr>
          <p:nvPr/>
        </p:nvSpPr>
        <p:spPr>
          <a:xfrm xmlns:a="http://schemas.openxmlformats.org/drawingml/2006/main">
            <a:off x="2495550" y="51911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17064"/>
                </a:solidFill>
              </a:defRPr>
            </a:pPr>
            <a:r>
              <a:rPr sz="1050" b="1">
                <a:solidFill>
                  <a:srgbClr val="617064"/>
                </a:solidFill>
              </a:rPr>
              <a:t>01</a:t>
            </a:r>
          </a:p>
        </p:txBody>
      </p:sp>
      <p:sp>
        <p:nvSpPr>
          <p:cNvPr id="17" name="">
            <a:extLst xmlns:a="http://schemas.openxmlformats.org/drawingml/2006/main">
              <a:ext uri="{FF2B5EF4-FFF2-40B4-BE49-F238E27FC236}">
                <a16:creationId xmlns:a16="http://schemas.microsoft.com/office/drawing/2014/main" id="{17F000B5-78D3-4443-99FD-EAC0245D0B31}"/>
              </a:ext>
            </a:extLst>
          </p:cNvPr>
          <p:cNvSpPr>
            <a:spLocks xmlns:a="http://schemas.openxmlformats.org/drawingml/2006/main" noGrp="1"/>
          </p:cNvSpPr>
          <p:nvPr/>
        </p:nvSpPr>
        <p:spPr>
          <a:xfrm xmlns:a="http://schemas.openxmlformats.org/drawingml/2006/main">
            <a:off x="3714750" y="1638300"/>
            <a:ext cx="2419350" cy="4000500"/>
          </a:xfrm>
          <a:prstGeom xmlns:a="http://schemas.openxmlformats.org/drawingml/2006/main" prst="roundRect">
            <a:avLst>
              <a:gd name="adj" fmla="val 4724"/>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9C3C3787-1FD6-44B2-9C5E-C607A2EE03F7}"/>
              </a:ext>
            </a:extLst>
          </p:cNvPr>
          <p:cNvSpPr>
            <a:spLocks xmlns:a="http://schemas.openxmlformats.org/drawingml/2006/main" noGrp="1"/>
          </p:cNvSpPr>
          <p:nvPr/>
        </p:nvSpPr>
        <p:spPr>
          <a:xfrm xmlns:a="http://schemas.openxmlformats.org/drawingml/2006/main">
            <a:off x="3714750" y="1638300"/>
            <a:ext cx="2419350" cy="114300"/>
          </a:xfrm>
          <a:prstGeom xmlns:a="http://schemas.openxmlformats.org/drawingml/2006/main" prst="rect">
            <a:avLst/>
          </a:prstGeom>
          <a:solidFill xmlns:a="http://schemas.openxmlformats.org/drawingml/2006/main">
            <a:srgbClr val="819067"/>
          </a:solidFill>
          <a:ln xmlns:a="http://schemas.openxmlformats.org/drawingml/2006/main" w="0">
            <a:solidFill>
              <a:srgbClr val="819067"/>
            </a:solidFill>
            <a:prstDash val="solid"/>
          </a:ln>
        </p:spPr>
      </p:sp>
      <p:sp>
        <p:nvSpPr>
          <p:cNvPr id="19" name="">
            <a:extLst xmlns:a="http://schemas.openxmlformats.org/drawingml/2006/main">
              <a:ext uri="{FF2B5EF4-FFF2-40B4-BE49-F238E27FC236}">
                <a16:creationId xmlns:a16="http://schemas.microsoft.com/office/drawing/2014/main" id="{9FD5965C-EBE5-455F-94C8-971ED84415D9}"/>
              </a:ext>
            </a:extLst>
          </p:cNvPr>
          <p:cNvSpPr>
            <a:spLocks xmlns:a="http://schemas.openxmlformats.org/drawingml/2006/main" noGrp="1"/>
          </p:cNvSpPr>
          <p:nvPr/>
        </p:nvSpPr>
        <p:spPr>
          <a:xfrm xmlns:a="http://schemas.openxmlformats.org/drawingml/2006/main">
            <a:off x="3905250" y="2019300"/>
            <a:ext cx="2038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819067"/>
                </a:solidFill>
              </a:defRPr>
            </a:pPr>
            <a:r>
              <a:rPr sz="1725" b="1">
                <a:solidFill>
                  <a:srgbClr val="819067"/>
                </a:solidFill>
              </a:rPr>
              <a:t>Run training</a:t>
            </a:r>
          </a:p>
        </p:txBody>
      </p:sp>
      <p:sp>
        <p:nvSpPr>
          <p:cNvPr id="20" name="">
            <a:extLst xmlns:a="http://schemas.openxmlformats.org/drawingml/2006/main">
              <a:ext uri="{FF2B5EF4-FFF2-40B4-BE49-F238E27FC236}">
                <a16:creationId xmlns:a16="http://schemas.microsoft.com/office/drawing/2014/main" id="{49380DB9-527F-4502-832A-787B1278C501}"/>
              </a:ext>
            </a:extLst>
          </p:cNvPr>
          <p:cNvSpPr>
            <a:spLocks xmlns:a="http://schemas.openxmlformats.org/drawingml/2006/main" noGrp="1"/>
          </p:cNvSpPr>
          <p:nvPr/>
        </p:nvSpPr>
        <p:spPr>
          <a:xfrm xmlns:a="http://schemas.openxmlformats.org/drawingml/2006/main">
            <a:off x="3924300" y="2714625"/>
            <a:ext cx="76200" cy="76200"/>
          </a:xfrm>
          <a:prstGeom xmlns:a="http://schemas.openxmlformats.org/drawingml/2006/main" prst="ellipse">
            <a:avLst/>
          </a:prstGeom>
          <a:solidFill xmlns:a="http://schemas.openxmlformats.org/drawingml/2006/main">
            <a:srgbClr val="819067"/>
          </a:solidFill>
          <a:ln xmlns:a="http://schemas.openxmlformats.org/drawingml/2006/main" w="0">
            <a:solidFill>
              <a:srgbClr val="819067"/>
            </a:solidFill>
            <a:prstDash val="solid"/>
          </a:ln>
        </p:spPr>
      </p:sp>
      <p:sp>
        <p:nvSpPr>
          <p:cNvPr id="21" name="">
            <a:extLst xmlns:a="http://schemas.openxmlformats.org/drawingml/2006/main">
              <a:ext uri="{FF2B5EF4-FFF2-40B4-BE49-F238E27FC236}">
                <a16:creationId xmlns:a16="http://schemas.microsoft.com/office/drawing/2014/main" id="{52E2B2AD-3D56-4B1B-AE4B-88EF8F0E5D7C}"/>
              </a:ext>
            </a:extLst>
          </p:cNvPr>
          <p:cNvSpPr>
            <a:spLocks xmlns:a="http://schemas.openxmlformats.org/drawingml/2006/main" noGrp="1"/>
          </p:cNvSpPr>
          <p:nvPr/>
        </p:nvSpPr>
        <p:spPr>
          <a:xfrm xmlns:a="http://schemas.openxmlformats.org/drawingml/2006/main">
            <a:off x="4133850" y="26289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Trainee records and imports</a:t>
            </a:r>
          </a:p>
        </p:txBody>
      </p:sp>
      <p:sp>
        <p:nvSpPr>
          <p:cNvPr id="22" name="">
            <a:extLst xmlns:a="http://schemas.openxmlformats.org/drawingml/2006/main">
              <a:ext uri="{FF2B5EF4-FFF2-40B4-BE49-F238E27FC236}">
                <a16:creationId xmlns:a16="http://schemas.microsoft.com/office/drawing/2014/main" id="{EFB4FAE4-5DED-4786-956F-866FC743BDED}"/>
              </a:ext>
            </a:extLst>
          </p:cNvPr>
          <p:cNvSpPr>
            <a:spLocks xmlns:a="http://schemas.openxmlformats.org/drawingml/2006/main" noGrp="1"/>
          </p:cNvSpPr>
          <p:nvPr/>
        </p:nvSpPr>
        <p:spPr>
          <a:xfrm xmlns:a="http://schemas.openxmlformats.org/drawingml/2006/main">
            <a:off x="3924300" y="3209925"/>
            <a:ext cx="76200" cy="76200"/>
          </a:xfrm>
          <a:prstGeom xmlns:a="http://schemas.openxmlformats.org/drawingml/2006/main" prst="ellipse">
            <a:avLst/>
          </a:prstGeom>
          <a:solidFill xmlns:a="http://schemas.openxmlformats.org/drawingml/2006/main">
            <a:srgbClr val="819067"/>
          </a:solidFill>
          <a:ln xmlns:a="http://schemas.openxmlformats.org/drawingml/2006/main" w="0">
            <a:solidFill>
              <a:srgbClr val="819067"/>
            </a:solidFill>
            <a:prstDash val="solid"/>
          </a:ln>
        </p:spPr>
      </p:sp>
      <p:sp>
        <p:nvSpPr>
          <p:cNvPr id="23" name="">
            <a:extLst xmlns:a="http://schemas.openxmlformats.org/drawingml/2006/main">
              <a:ext uri="{FF2B5EF4-FFF2-40B4-BE49-F238E27FC236}">
                <a16:creationId xmlns:a16="http://schemas.microsoft.com/office/drawing/2014/main" id="{8314BD59-D2B9-4CDC-BB6E-8F2A43FD14C5}"/>
              </a:ext>
            </a:extLst>
          </p:cNvPr>
          <p:cNvSpPr>
            <a:spLocks xmlns:a="http://schemas.openxmlformats.org/drawingml/2006/main" noGrp="1"/>
          </p:cNvSpPr>
          <p:nvPr/>
        </p:nvSpPr>
        <p:spPr>
          <a:xfrm xmlns:a="http://schemas.openxmlformats.org/drawingml/2006/main">
            <a:off x="4133850" y="31242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Training sessions</a:t>
            </a:r>
          </a:p>
        </p:txBody>
      </p:sp>
      <p:sp>
        <p:nvSpPr>
          <p:cNvPr id="24" name="">
            <a:extLst xmlns:a="http://schemas.openxmlformats.org/drawingml/2006/main">
              <a:ext uri="{FF2B5EF4-FFF2-40B4-BE49-F238E27FC236}">
                <a16:creationId xmlns:a16="http://schemas.microsoft.com/office/drawing/2014/main" id="{3C966DF8-8DFD-493F-AFB0-5FBE703E2E9D}"/>
              </a:ext>
            </a:extLst>
          </p:cNvPr>
          <p:cNvSpPr>
            <a:spLocks xmlns:a="http://schemas.openxmlformats.org/drawingml/2006/main" noGrp="1"/>
          </p:cNvSpPr>
          <p:nvPr/>
        </p:nvSpPr>
        <p:spPr>
          <a:xfrm xmlns:a="http://schemas.openxmlformats.org/drawingml/2006/main">
            <a:off x="3924300" y="3705225"/>
            <a:ext cx="76200" cy="76200"/>
          </a:xfrm>
          <a:prstGeom xmlns:a="http://schemas.openxmlformats.org/drawingml/2006/main" prst="ellipse">
            <a:avLst/>
          </a:prstGeom>
          <a:solidFill xmlns:a="http://schemas.openxmlformats.org/drawingml/2006/main">
            <a:srgbClr val="819067"/>
          </a:solidFill>
          <a:ln xmlns:a="http://schemas.openxmlformats.org/drawingml/2006/main" w="0">
            <a:solidFill>
              <a:srgbClr val="819067"/>
            </a:solidFill>
            <a:prstDash val="solid"/>
          </a:ln>
        </p:spPr>
      </p:sp>
      <p:sp>
        <p:nvSpPr>
          <p:cNvPr id="25" name="">
            <a:extLst xmlns:a="http://schemas.openxmlformats.org/drawingml/2006/main">
              <a:ext uri="{FF2B5EF4-FFF2-40B4-BE49-F238E27FC236}">
                <a16:creationId xmlns:a16="http://schemas.microsoft.com/office/drawing/2014/main" id="{7623DA47-1655-4EA4-A873-04B69E56F6AB}"/>
              </a:ext>
            </a:extLst>
          </p:cNvPr>
          <p:cNvSpPr>
            <a:spLocks xmlns:a="http://schemas.openxmlformats.org/drawingml/2006/main" noGrp="1"/>
          </p:cNvSpPr>
          <p:nvPr/>
        </p:nvSpPr>
        <p:spPr>
          <a:xfrm xmlns:a="http://schemas.openxmlformats.org/drawingml/2006/main">
            <a:off x="4133850" y="36195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Trainer attendance links</a:t>
            </a:r>
          </a:p>
        </p:txBody>
      </p:sp>
      <p:sp>
        <p:nvSpPr>
          <p:cNvPr id="26" name="">
            <a:extLst xmlns:a="http://schemas.openxmlformats.org/drawingml/2006/main">
              <a:ext uri="{FF2B5EF4-FFF2-40B4-BE49-F238E27FC236}">
                <a16:creationId xmlns:a16="http://schemas.microsoft.com/office/drawing/2014/main" id="{30733BD0-D08D-4021-A51B-9E71239BF216}"/>
              </a:ext>
            </a:extLst>
          </p:cNvPr>
          <p:cNvSpPr>
            <a:spLocks xmlns:a="http://schemas.openxmlformats.org/drawingml/2006/main" noGrp="1"/>
          </p:cNvSpPr>
          <p:nvPr/>
        </p:nvSpPr>
        <p:spPr>
          <a:xfrm xmlns:a="http://schemas.openxmlformats.org/drawingml/2006/main">
            <a:off x="3924300" y="4200525"/>
            <a:ext cx="76200" cy="76200"/>
          </a:xfrm>
          <a:prstGeom xmlns:a="http://schemas.openxmlformats.org/drawingml/2006/main" prst="ellipse">
            <a:avLst/>
          </a:prstGeom>
          <a:solidFill xmlns:a="http://schemas.openxmlformats.org/drawingml/2006/main">
            <a:srgbClr val="819067"/>
          </a:solidFill>
          <a:ln xmlns:a="http://schemas.openxmlformats.org/drawingml/2006/main" w="0">
            <a:solidFill>
              <a:srgbClr val="819067"/>
            </a:solidFill>
            <a:prstDash val="solid"/>
          </a:ln>
        </p:spPr>
      </p:sp>
      <p:sp>
        <p:nvSpPr>
          <p:cNvPr id="27" name="">
            <a:extLst xmlns:a="http://schemas.openxmlformats.org/drawingml/2006/main">
              <a:ext uri="{FF2B5EF4-FFF2-40B4-BE49-F238E27FC236}">
                <a16:creationId xmlns:a16="http://schemas.microsoft.com/office/drawing/2014/main" id="{FA246CB3-DA97-41CB-9DED-977F87AE61C2}"/>
              </a:ext>
            </a:extLst>
          </p:cNvPr>
          <p:cNvSpPr>
            <a:spLocks xmlns:a="http://schemas.openxmlformats.org/drawingml/2006/main" noGrp="1"/>
          </p:cNvSpPr>
          <p:nvPr/>
        </p:nvSpPr>
        <p:spPr>
          <a:xfrm xmlns:a="http://schemas.openxmlformats.org/drawingml/2006/main">
            <a:off x="4133850" y="41148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Attendance approvals</a:t>
            </a:r>
          </a:p>
        </p:txBody>
      </p:sp>
      <p:sp>
        <p:nvSpPr>
          <p:cNvPr id="28" name="">
            <a:extLst xmlns:a="http://schemas.openxmlformats.org/drawingml/2006/main">
              <a:ext uri="{FF2B5EF4-FFF2-40B4-BE49-F238E27FC236}">
                <a16:creationId xmlns:a16="http://schemas.microsoft.com/office/drawing/2014/main" id="{43F790C5-6B09-4436-8212-D956506C3278}"/>
              </a:ext>
            </a:extLst>
          </p:cNvPr>
          <p:cNvSpPr>
            <a:spLocks xmlns:a="http://schemas.openxmlformats.org/drawingml/2006/main" noGrp="1"/>
          </p:cNvSpPr>
          <p:nvPr/>
        </p:nvSpPr>
        <p:spPr>
          <a:xfrm xmlns:a="http://schemas.openxmlformats.org/drawingml/2006/main">
            <a:off x="3924300" y="4695825"/>
            <a:ext cx="76200" cy="76200"/>
          </a:xfrm>
          <a:prstGeom xmlns:a="http://schemas.openxmlformats.org/drawingml/2006/main" prst="ellipse">
            <a:avLst/>
          </a:prstGeom>
          <a:solidFill xmlns:a="http://schemas.openxmlformats.org/drawingml/2006/main">
            <a:srgbClr val="819067"/>
          </a:solidFill>
          <a:ln xmlns:a="http://schemas.openxmlformats.org/drawingml/2006/main" w="0">
            <a:solidFill>
              <a:srgbClr val="819067"/>
            </a:solidFill>
            <a:prstDash val="solid"/>
          </a:ln>
        </p:spPr>
      </p:sp>
      <p:sp>
        <p:nvSpPr>
          <p:cNvPr id="29" name="">
            <a:extLst xmlns:a="http://schemas.openxmlformats.org/drawingml/2006/main">
              <a:ext uri="{FF2B5EF4-FFF2-40B4-BE49-F238E27FC236}">
                <a16:creationId xmlns:a16="http://schemas.microsoft.com/office/drawing/2014/main" id="{F30964A5-7A03-450D-88DF-FF576A37DC16}"/>
              </a:ext>
            </a:extLst>
          </p:cNvPr>
          <p:cNvSpPr>
            <a:spLocks xmlns:a="http://schemas.openxmlformats.org/drawingml/2006/main" noGrp="1"/>
          </p:cNvSpPr>
          <p:nvPr/>
        </p:nvSpPr>
        <p:spPr>
          <a:xfrm xmlns:a="http://schemas.openxmlformats.org/drawingml/2006/main">
            <a:off x="4133850" y="46101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Corrections with evidence</a:t>
            </a:r>
          </a:p>
        </p:txBody>
      </p:sp>
      <p:sp>
        <p:nvSpPr>
          <p:cNvPr id="30" name="">
            <a:extLst xmlns:a="http://schemas.openxmlformats.org/drawingml/2006/main">
              <a:ext uri="{FF2B5EF4-FFF2-40B4-BE49-F238E27FC236}">
                <a16:creationId xmlns:a16="http://schemas.microsoft.com/office/drawing/2014/main" id="{DE23E3BE-9D9D-439E-AA0C-990C44A781FD}"/>
              </a:ext>
            </a:extLst>
          </p:cNvPr>
          <p:cNvSpPr>
            <a:spLocks xmlns:a="http://schemas.openxmlformats.org/drawingml/2006/main" noGrp="1"/>
          </p:cNvSpPr>
          <p:nvPr/>
        </p:nvSpPr>
        <p:spPr>
          <a:xfrm xmlns:a="http://schemas.openxmlformats.org/drawingml/2006/main">
            <a:off x="5524500" y="51911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17064"/>
                </a:solidFill>
              </a:defRPr>
            </a:pPr>
            <a:r>
              <a:rPr sz="1050" b="1">
                <a:solidFill>
                  <a:srgbClr val="617064"/>
                </a:solidFill>
              </a:rPr>
              <a:t>02</a:t>
            </a:r>
          </a:p>
        </p:txBody>
      </p:sp>
      <p:sp>
        <p:nvSpPr>
          <p:cNvPr id="31" name="">
            <a:extLst xmlns:a="http://schemas.openxmlformats.org/drawingml/2006/main">
              <a:ext uri="{FF2B5EF4-FFF2-40B4-BE49-F238E27FC236}">
                <a16:creationId xmlns:a16="http://schemas.microsoft.com/office/drawing/2014/main" id="{9E2BFA7B-E457-4BF9-8090-C1FBB4D2A692}"/>
              </a:ext>
            </a:extLst>
          </p:cNvPr>
          <p:cNvSpPr>
            <a:spLocks xmlns:a="http://schemas.openxmlformats.org/drawingml/2006/main" noGrp="1"/>
          </p:cNvSpPr>
          <p:nvPr/>
        </p:nvSpPr>
        <p:spPr>
          <a:xfrm xmlns:a="http://schemas.openxmlformats.org/drawingml/2006/main">
            <a:off x="6743700" y="1638300"/>
            <a:ext cx="2419350" cy="4000500"/>
          </a:xfrm>
          <a:prstGeom xmlns:a="http://schemas.openxmlformats.org/drawingml/2006/main" prst="roundRect">
            <a:avLst>
              <a:gd name="adj" fmla="val 4724"/>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DB171A6C-10F0-447E-BCDB-22AED1ACC225}"/>
              </a:ext>
            </a:extLst>
          </p:cNvPr>
          <p:cNvSpPr>
            <a:spLocks xmlns:a="http://schemas.openxmlformats.org/drawingml/2006/main" noGrp="1"/>
          </p:cNvSpPr>
          <p:nvPr/>
        </p:nvSpPr>
        <p:spPr>
          <a:xfrm xmlns:a="http://schemas.openxmlformats.org/drawingml/2006/main">
            <a:off x="6743700" y="1638300"/>
            <a:ext cx="2419350" cy="114300"/>
          </a:xfrm>
          <a:prstGeom xmlns:a="http://schemas.openxmlformats.org/drawingml/2006/main" prst="rect">
            <a:avLst/>
          </a:prstGeom>
          <a:solidFill xmlns:a="http://schemas.openxmlformats.org/drawingml/2006/main">
            <a:srgbClr val="B1AB86"/>
          </a:solidFill>
          <a:ln xmlns:a="http://schemas.openxmlformats.org/drawingml/2006/main" w="0">
            <a:solidFill>
              <a:srgbClr val="B1AB86"/>
            </a:solidFill>
            <a:prstDash val="solid"/>
          </a:ln>
        </p:spPr>
      </p:sp>
      <p:sp>
        <p:nvSpPr>
          <p:cNvPr id="33" name="">
            <a:extLst xmlns:a="http://schemas.openxmlformats.org/drawingml/2006/main">
              <a:ext uri="{FF2B5EF4-FFF2-40B4-BE49-F238E27FC236}">
                <a16:creationId xmlns:a16="http://schemas.microsoft.com/office/drawing/2014/main" id="{6B4AAC65-21C7-45D1-889E-0DD9725733B5}"/>
              </a:ext>
            </a:extLst>
          </p:cNvPr>
          <p:cNvSpPr>
            <a:spLocks xmlns:a="http://schemas.openxmlformats.org/drawingml/2006/main" noGrp="1"/>
          </p:cNvSpPr>
          <p:nvPr/>
        </p:nvSpPr>
        <p:spPr>
          <a:xfrm xmlns:a="http://schemas.openxmlformats.org/drawingml/2006/main">
            <a:off x="6934200" y="2019300"/>
            <a:ext cx="2038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B1AB86"/>
                </a:solidFill>
              </a:defRPr>
            </a:pPr>
            <a:r>
              <a:rPr sz="1725" b="1">
                <a:solidFill>
                  <a:srgbClr val="B1AB86"/>
                </a:solidFill>
              </a:rPr>
              <a:t>Control work</a:t>
            </a:r>
          </a:p>
        </p:txBody>
      </p:sp>
      <p:sp>
        <p:nvSpPr>
          <p:cNvPr id="34" name="">
            <a:extLst xmlns:a="http://schemas.openxmlformats.org/drawingml/2006/main">
              <a:ext uri="{FF2B5EF4-FFF2-40B4-BE49-F238E27FC236}">
                <a16:creationId xmlns:a16="http://schemas.microsoft.com/office/drawing/2014/main" id="{03520CBD-E641-4149-8252-F07A829ACAF5}"/>
              </a:ext>
            </a:extLst>
          </p:cNvPr>
          <p:cNvSpPr>
            <a:spLocks xmlns:a="http://schemas.openxmlformats.org/drawingml/2006/main" noGrp="1"/>
          </p:cNvSpPr>
          <p:nvPr/>
        </p:nvSpPr>
        <p:spPr>
          <a:xfrm xmlns:a="http://schemas.openxmlformats.org/drawingml/2006/main">
            <a:off x="6953250" y="2714625"/>
            <a:ext cx="76200" cy="76200"/>
          </a:xfrm>
          <a:prstGeom xmlns:a="http://schemas.openxmlformats.org/drawingml/2006/main" prst="ellipse">
            <a:avLst/>
          </a:prstGeom>
          <a:solidFill xmlns:a="http://schemas.openxmlformats.org/drawingml/2006/main">
            <a:srgbClr val="B1AB86"/>
          </a:solidFill>
          <a:ln xmlns:a="http://schemas.openxmlformats.org/drawingml/2006/main" w="0">
            <a:solidFill>
              <a:srgbClr val="B1AB86"/>
            </a:solidFill>
            <a:prstDash val="solid"/>
          </a:ln>
        </p:spPr>
      </p:sp>
      <p:sp>
        <p:nvSpPr>
          <p:cNvPr id="35" name="">
            <a:extLst xmlns:a="http://schemas.openxmlformats.org/drawingml/2006/main">
              <a:ext uri="{FF2B5EF4-FFF2-40B4-BE49-F238E27FC236}">
                <a16:creationId xmlns:a16="http://schemas.microsoft.com/office/drawing/2014/main" id="{79976CFA-09B6-4396-916D-C43A340AD2F6}"/>
              </a:ext>
            </a:extLst>
          </p:cNvPr>
          <p:cNvSpPr>
            <a:spLocks xmlns:a="http://schemas.openxmlformats.org/drawingml/2006/main" noGrp="1"/>
          </p:cNvSpPr>
          <p:nvPr/>
        </p:nvSpPr>
        <p:spPr>
          <a:xfrm xmlns:a="http://schemas.openxmlformats.org/drawingml/2006/main">
            <a:off x="7162800" y="26289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Two-stage approvals</a:t>
            </a:r>
          </a:p>
        </p:txBody>
      </p:sp>
      <p:sp>
        <p:nvSpPr>
          <p:cNvPr id="36" name="">
            <a:extLst xmlns:a="http://schemas.openxmlformats.org/drawingml/2006/main">
              <a:ext uri="{FF2B5EF4-FFF2-40B4-BE49-F238E27FC236}">
                <a16:creationId xmlns:a16="http://schemas.microsoft.com/office/drawing/2014/main" id="{3E303C95-7F5E-4FF8-989B-41FC7E3C4D50}"/>
              </a:ext>
            </a:extLst>
          </p:cNvPr>
          <p:cNvSpPr>
            <a:spLocks xmlns:a="http://schemas.openxmlformats.org/drawingml/2006/main" noGrp="1"/>
          </p:cNvSpPr>
          <p:nvPr/>
        </p:nvSpPr>
        <p:spPr>
          <a:xfrm xmlns:a="http://schemas.openxmlformats.org/drawingml/2006/main">
            <a:off x="6953250" y="3209925"/>
            <a:ext cx="76200" cy="76200"/>
          </a:xfrm>
          <a:prstGeom xmlns:a="http://schemas.openxmlformats.org/drawingml/2006/main" prst="ellipse">
            <a:avLst/>
          </a:prstGeom>
          <a:solidFill xmlns:a="http://schemas.openxmlformats.org/drawingml/2006/main">
            <a:srgbClr val="B1AB86"/>
          </a:solidFill>
          <a:ln xmlns:a="http://schemas.openxmlformats.org/drawingml/2006/main" w="0">
            <a:solidFill>
              <a:srgbClr val="B1AB86"/>
            </a:solidFill>
            <a:prstDash val="solid"/>
          </a:ln>
        </p:spPr>
      </p:sp>
      <p:sp>
        <p:nvSpPr>
          <p:cNvPr id="37" name="">
            <a:extLst xmlns:a="http://schemas.openxmlformats.org/drawingml/2006/main">
              <a:ext uri="{FF2B5EF4-FFF2-40B4-BE49-F238E27FC236}">
                <a16:creationId xmlns:a16="http://schemas.microsoft.com/office/drawing/2014/main" id="{67E561E4-D0A7-4E14-ADDD-DCDB34F8353F}"/>
              </a:ext>
            </a:extLst>
          </p:cNvPr>
          <p:cNvSpPr>
            <a:spLocks xmlns:a="http://schemas.openxmlformats.org/drawingml/2006/main" noGrp="1"/>
          </p:cNvSpPr>
          <p:nvPr/>
        </p:nvSpPr>
        <p:spPr>
          <a:xfrm xmlns:a="http://schemas.openxmlformats.org/drawingml/2006/main">
            <a:off x="7162800" y="31242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Progress engine</a:t>
            </a:r>
          </a:p>
        </p:txBody>
      </p:sp>
      <p:sp>
        <p:nvSpPr>
          <p:cNvPr id="38" name="">
            <a:extLst xmlns:a="http://schemas.openxmlformats.org/drawingml/2006/main">
              <a:ext uri="{FF2B5EF4-FFF2-40B4-BE49-F238E27FC236}">
                <a16:creationId xmlns:a16="http://schemas.microsoft.com/office/drawing/2014/main" id="{26FDEE7A-FF24-4565-A2E0-2ED283210C8B}"/>
              </a:ext>
            </a:extLst>
          </p:cNvPr>
          <p:cNvSpPr>
            <a:spLocks xmlns:a="http://schemas.openxmlformats.org/drawingml/2006/main" noGrp="1"/>
          </p:cNvSpPr>
          <p:nvPr/>
        </p:nvSpPr>
        <p:spPr>
          <a:xfrm xmlns:a="http://schemas.openxmlformats.org/drawingml/2006/main">
            <a:off x="6953250" y="3705225"/>
            <a:ext cx="76200" cy="76200"/>
          </a:xfrm>
          <a:prstGeom xmlns:a="http://schemas.openxmlformats.org/drawingml/2006/main" prst="ellipse">
            <a:avLst/>
          </a:prstGeom>
          <a:solidFill xmlns:a="http://schemas.openxmlformats.org/drawingml/2006/main">
            <a:srgbClr val="B1AB86"/>
          </a:solidFill>
          <a:ln xmlns:a="http://schemas.openxmlformats.org/drawingml/2006/main" w="0">
            <a:solidFill>
              <a:srgbClr val="B1AB86"/>
            </a:solidFill>
            <a:prstDash val="solid"/>
          </a:ln>
        </p:spPr>
      </p:sp>
      <p:sp>
        <p:nvSpPr>
          <p:cNvPr id="39" name="">
            <a:extLst xmlns:a="http://schemas.openxmlformats.org/drawingml/2006/main">
              <a:ext uri="{FF2B5EF4-FFF2-40B4-BE49-F238E27FC236}">
                <a16:creationId xmlns:a16="http://schemas.microsoft.com/office/drawing/2014/main" id="{218BDA6D-4B97-4BC9-AD10-959C20111216}"/>
              </a:ext>
            </a:extLst>
          </p:cNvPr>
          <p:cNvSpPr>
            <a:spLocks xmlns:a="http://schemas.openxmlformats.org/drawingml/2006/main" noGrp="1"/>
          </p:cNvSpPr>
          <p:nvPr/>
        </p:nvSpPr>
        <p:spPr>
          <a:xfrm xmlns:a="http://schemas.openxmlformats.org/drawingml/2006/main">
            <a:off x="7162800" y="36195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Dashboards and search</a:t>
            </a:r>
          </a:p>
        </p:txBody>
      </p:sp>
      <p:sp>
        <p:nvSpPr>
          <p:cNvPr id="40" name="">
            <a:extLst xmlns:a="http://schemas.openxmlformats.org/drawingml/2006/main">
              <a:ext uri="{FF2B5EF4-FFF2-40B4-BE49-F238E27FC236}">
                <a16:creationId xmlns:a16="http://schemas.microsoft.com/office/drawing/2014/main" id="{AC328F41-781E-4B0D-AB6F-4A5378AAE65A}"/>
              </a:ext>
            </a:extLst>
          </p:cNvPr>
          <p:cNvSpPr>
            <a:spLocks xmlns:a="http://schemas.openxmlformats.org/drawingml/2006/main" noGrp="1"/>
          </p:cNvSpPr>
          <p:nvPr/>
        </p:nvSpPr>
        <p:spPr>
          <a:xfrm xmlns:a="http://schemas.openxmlformats.org/drawingml/2006/main">
            <a:off x="6953250" y="4200525"/>
            <a:ext cx="76200" cy="76200"/>
          </a:xfrm>
          <a:prstGeom xmlns:a="http://schemas.openxmlformats.org/drawingml/2006/main" prst="ellipse">
            <a:avLst/>
          </a:prstGeom>
          <a:solidFill xmlns:a="http://schemas.openxmlformats.org/drawingml/2006/main">
            <a:srgbClr val="B1AB86"/>
          </a:solidFill>
          <a:ln xmlns:a="http://schemas.openxmlformats.org/drawingml/2006/main" w="0">
            <a:solidFill>
              <a:srgbClr val="B1AB86"/>
            </a:solidFill>
            <a:prstDash val="solid"/>
          </a:ln>
        </p:spPr>
      </p:sp>
      <p:sp>
        <p:nvSpPr>
          <p:cNvPr id="41" name="">
            <a:extLst xmlns:a="http://schemas.openxmlformats.org/drawingml/2006/main">
              <a:ext uri="{FF2B5EF4-FFF2-40B4-BE49-F238E27FC236}">
                <a16:creationId xmlns:a16="http://schemas.microsoft.com/office/drawing/2014/main" id="{18191094-567F-430D-9A1E-6F3AC706BB7F}"/>
              </a:ext>
            </a:extLst>
          </p:cNvPr>
          <p:cNvSpPr>
            <a:spLocks xmlns:a="http://schemas.openxmlformats.org/drawingml/2006/main" noGrp="1"/>
          </p:cNvSpPr>
          <p:nvPr/>
        </p:nvSpPr>
        <p:spPr>
          <a:xfrm xmlns:a="http://schemas.openxmlformats.org/drawingml/2006/main">
            <a:off x="7162800" y="41148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PDF and Excel reports</a:t>
            </a:r>
          </a:p>
        </p:txBody>
      </p:sp>
      <p:sp>
        <p:nvSpPr>
          <p:cNvPr id="42" name="">
            <a:extLst xmlns:a="http://schemas.openxmlformats.org/drawingml/2006/main">
              <a:ext uri="{FF2B5EF4-FFF2-40B4-BE49-F238E27FC236}">
                <a16:creationId xmlns:a16="http://schemas.microsoft.com/office/drawing/2014/main" id="{64E6A31E-77F1-448D-A7DB-21B1708214BF}"/>
              </a:ext>
            </a:extLst>
          </p:cNvPr>
          <p:cNvSpPr>
            <a:spLocks xmlns:a="http://schemas.openxmlformats.org/drawingml/2006/main" noGrp="1"/>
          </p:cNvSpPr>
          <p:nvPr/>
        </p:nvSpPr>
        <p:spPr>
          <a:xfrm xmlns:a="http://schemas.openxmlformats.org/drawingml/2006/main">
            <a:off x="6953250" y="4695825"/>
            <a:ext cx="76200" cy="76200"/>
          </a:xfrm>
          <a:prstGeom xmlns:a="http://schemas.openxmlformats.org/drawingml/2006/main" prst="ellipse">
            <a:avLst/>
          </a:prstGeom>
          <a:solidFill xmlns:a="http://schemas.openxmlformats.org/drawingml/2006/main">
            <a:srgbClr val="B1AB86"/>
          </a:solidFill>
          <a:ln xmlns:a="http://schemas.openxmlformats.org/drawingml/2006/main" w="0">
            <a:solidFill>
              <a:srgbClr val="B1AB86"/>
            </a:solidFill>
            <a:prstDash val="solid"/>
          </a:ln>
        </p:spPr>
      </p:sp>
      <p:sp>
        <p:nvSpPr>
          <p:cNvPr id="43" name="">
            <a:extLst xmlns:a="http://schemas.openxmlformats.org/drawingml/2006/main">
              <a:ext uri="{FF2B5EF4-FFF2-40B4-BE49-F238E27FC236}">
                <a16:creationId xmlns:a16="http://schemas.microsoft.com/office/drawing/2014/main" id="{DA2990B8-E721-4D5C-BCAB-8DA8A14CD9C6}"/>
              </a:ext>
            </a:extLst>
          </p:cNvPr>
          <p:cNvSpPr>
            <a:spLocks xmlns:a="http://schemas.openxmlformats.org/drawingml/2006/main" noGrp="1"/>
          </p:cNvSpPr>
          <p:nvPr/>
        </p:nvSpPr>
        <p:spPr>
          <a:xfrm xmlns:a="http://schemas.openxmlformats.org/drawingml/2006/main">
            <a:off x="7162800" y="46101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Notifications and reminders</a:t>
            </a:r>
          </a:p>
        </p:txBody>
      </p:sp>
      <p:sp>
        <p:nvSpPr>
          <p:cNvPr id="44" name="">
            <a:extLst xmlns:a="http://schemas.openxmlformats.org/drawingml/2006/main">
              <a:ext uri="{FF2B5EF4-FFF2-40B4-BE49-F238E27FC236}">
                <a16:creationId xmlns:a16="http://schemas.microsoft.com/office/drawing/2014/main" id="{525147E4-3424-4FCA-83D6-2F2F28895B38}"/>
              </a:ext>
            </a:extLst>
          </p:cNvPr>
          <p:cNvSpPr>
            <a:spLocks xmlns:a="http://schemas.openxmlformats.org/drawingml/2006/main" noGrp="1"/>
          </p:cNvSpPr>
          <p:nvPr/>
        </p:nvSpPr>
        <p:spPr>
          <a:xfrm xmlns:a="http://schemas.openxmlformats.org/drawingml/2006/main">
            <a:off x="8553450" y="51911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17064"/>
                </a:solidFill>
              </a:defRPr>
            </a:pPr>
            <a:r>
              <a:rPr sz="1050" b="1">
                <a:solidFill>
                  <a:srgbClr val="617064"/>
                </a:solidFill>
              </a:rPr>
              <a:t>03</a:t>
            </a:r>
          </a:p>
        </p:txBody>
      </p:sp>
      <p:sp>
        <p:nvSpPr>
          <p:cNvPr id="45" name="">
            <a:extLst xmlns:a="http://schemas.openxmlformats.org/drawingml/2006/main">
              <a:ext uri="{FF2B5EF4-FFF2-40B4-BE49-F238E27FC236}">
                <a16:creationId xmlns:a16="http://schemas.microsoft.com/office/drawing/2014/main" id="{E512E5CB-41D7-4196-8CA0-BB58652B49BF}"/>
              </a:ext>
            </a:extLst>
          </p:cNvPr>
          <p:cNvSpPr>
            <a:spLocks xmlns:a="http://schemas.openxmlformats.org/drawingml/2006/main" noGrp="1"/>
          </p:cNvSpPr>
          <p:nvPr/>
        </p:nvSpPr>
        <p:spPr>
          <a:xfrm xmlns:a="http://schemas.openxmlformats.org/drawingml/2006/main">
            <a:off x="9772650" y="1638300"/>
            <a:ext cx="2419350" cy="4000500"/>
          </a:xfrm>
          <a:prstGeom xmlns:a="http://schemas.openxmlformats.org/drawingml/2006/main" prst="roundRect">
            <a:avLst>
              <a:gd name="adj" fmla="val 4724"/>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6" name="">
            <a:extLst xmlns:a="http://schemas.openxmlformats.org/drawingml/2006/main">
              <a:ext uri="{FF2B5EF4-FFF2-40B4-BE49-F238E27FC236}">
                <a16:creationId xmlns:a16="http://schemas.microsoft.com/office/drawing/2014/main" id="{FDF86AC6-1798-4859-89E8-2D92DEC0A0A3}"/>
              </a:ext>
            </a:extLst>
          </p:cNvPr>
          <p:cNvSpPr>
            <a:spLocks xmlns:a="http://schemas.openxmlformats.org/drawingml/2006/main" noGrp="1"/>
          </p:cNvSpPr>
          <p:nvPr/>
        </p:nvSpPr>
        <p:spPr>
          <a:xfrm xmlns:a="http://schemas.openxmlformats.org/drawingml/2006/main">
            <a:off x="9772650" y="1638300"/>
            <a:ext cx="2419350" cy="114300"/>
          </a:xfrm>
          <a:prstGeom xmlns:a="http://schemas.openxmlformats.org/drawingml/2006/main" prst="rect">
            <a:avLst/>
          </a:prstGeom>
          <a:solidFill xmlns:a="http://schemas.openxmlformats.org/drawingml/2006/main">
            <a:srgbClr val="0A400C"/>
          </a:solidFill>
          <a:ln xmlns:a="http://schemas.openxmlformats.org/drawingml/2006/main" w="0">
            <a:solidFill>
              <a:srgbClr val="0A400C"/>
            </a:solidFill>
            <a:prstDash val="solid"/>
          </a:ln>
        </p:spPr>
      </p:sp>
      <p:sp>
        <p:nvSpPr>
          <p:cNvPr id="47" name="">
            <a:extLst xmlns:a="http://schemas.openxmlformats.org/drawingml/2006/main">
              <a:ext uri="{FF2B5EF4-FFF2-40B4-BE49-F238E27FC236}">
                <a16:creationId xmlns:a16="http://schemas.microsoft.com/office/drawing/2014/main" id="{0FE1FA62-C745-491B-ACAA-72BFC4AEAD21}"/>
              </a:ext>
            </a:extLst>
          </p:cNvPr>
          <p:cNvSpPr>
            <a:spLocks xmlns:a="http://schemas.openxmlformats.org/drawingml/2006/main" noGrp="1"/>
          </p:cNvSpPr>
          <p:nvPr/>
        </p:nvSpPr>
        <p:spPr>
          <a:xfrm xmlns:a="http://schemas.openxmlformats.org/drawingml/2006/main">
            <a:off x="9963150" y="2019300"/>
            <a:ext cx="2038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A400C"/>
                </a:solidFill>
              </a:defRPr>
            </a:pPr>
            <a:r>
              <a:rPr sz="1725" b="1">
                <a:solidFill>
                  <a:srgbClr val="0A400C"/>
                </a:solidFill>
              </a:rPr>
              <a:t>Operate safely</a:t>
            </a:r>
          </a:p>
        </p:txBody>
      </p:sp>
      <p:sp>
        <p:nvSpPr>
          <p:cNvPr id="48" name="">
            <a:extLst xmlns:a="http://schemas.openxmlformats.org/drawingml/2006/main">
              <a:ext uri="{FF2B5EF4-FFF2-40B4-BE49-F238E27FC236}">
                <a16:creationId xmlns:a16="http://schemas.microsoft.com/office/drawing/2014/main" id="{01A22635-F92A-462F-83D9-01D0FBD69B7B}"/>
              </a:ext>
            </a:extLst>
          </p:cNvPr>
          <p:cNvSpPr>
            <a:spLocks xmlns:a="http://schemas.openxmlformats.org/drawingml/2006/main" noGrp="1"/>
          </p:cNvSpPr>
          <p:nvPr/>
        </p:nvSpPr>
        <p:spPr>
          <a:xfrm xmlns:a="http://schemas.openxmlformats.org/drawingml/2006/main">
            <a:off x="9982200" y="2714625"/>
            <a:ext cx="76200" cy="76200"/>
          </a:xfrm>
          <a:prstGeom xmlns:a="http://schemas.openxmlformats.org/drawingml/2006/main" prst="ellipse">
            <a:avLst/>
          </a:prstGeom>
          <a:solidFill xmlns:a="http://schemas.openxmlformats.org/drawingml/2006/main">
            <a:srgbClr val="0A400C"/>
          </a:solidFill>
          <a:ln xmlns:a="http://schemas.openxmlformats.org/drawingml/2006/main" w="0">
            <a:solidFill>
              <a:srgbClr val="0A400C"/>
            </a:solidFill>
            <a:prstDash val="solid"/>
          </a:ln>
        </p:spPr>
      </p:sp>
      <p:sp>
        <p:nvSpPr>
          <p:cNvPr id="49" name="">
            <a:extLst xmlns:a="http://schemas.openxmlformats.org/drawingml/2006/main">
              <a:ext uri="{FF2B5EF4-FFF2-40B4-BE49-F238E27FC236}">
                <a16:creationId xmlns:a16="http://schemas.microsoft.com/office/drawing/2014/main" id="{3E12243B-6A2E-450B-A132-BD19A847205C}"/>
              </a:ext>
            </a:extLst>
          </p:cNvPr>
          <p:cNvSpPr>
            <a:spLocks xmlns:a="http://schemas.openxmlformats.org/drawingml/2006/main" noGrp="1"/>
          </p:cNvSpPr>
          <p:nvPr/>
        </p:nvSpPr>
        <p:spPr>
          <a:xfrm xmlns:a="http://schemas.openxmlformats.org/drawingml/2006/main">
            <a:off x="10191750" y="26289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Role permissions</a:t>
            </a:r>
          </a:p>
        </p:txBody>
      </p:sp>
      <p:sp>
        <p:nvSpPr>
          <p:cNvPr id="50" name="">
            <a:extLst xmlns:a="http://schemas.openxmlformats.org/drawingml/2006/main">
              <a:ext uri="{FF2B5EF4-FFF2-40B4-BE49-F238E27FC236}">
                <a16:creationId xmlns:a16="http://schemas.microsoft.com/office/drawing/2014/main" id="{E5FD5651-C74C-479D-A8C7-78AE68921BD1}"/>
              </a:ext>
            </a:extLst>
          </p:cNvPr>
          <p:cNvSpPr>
            <a:spLocks xmlns:a="http://schemas.openxmlformats.org/drawingml/2006/main" noGrp="1"/>
          </p:cNvSpPr>
          <p:nvPr/>
        </p:nvSpPr>
        <p:spPr>
          <a:xfrm xmlns:a="http://schemas.openxmlformats.org/drawingml/2006/main">
            <a:off x="9982200" y="3209925"/>
            <a:ext cx="76200" cy="76200"/>
          </a:xfrm>
          <a:prstGeom xmlns:a="http://schemas.openxmlformats.org/drawingml/2006/main" prst="ellipse">
            <a:avLst/>
          </a:prstGeom>
          <a:solidFill xmlns:a="http://schemas.openxmlformats.org/drawingml/2006/main">
            <a:srgbClr val="0A400C"/>
          </a:solidFill>
          <a:ln xmlns:a="http://schemas.openxmlformats.org/drawingml/2006/main" w="0">
            <a:solidFill>
              <a:srgbClr val="0A400C"/>
            </a:solidFill>
            <a:prstDash val="solid"/>
          </a:ln>
        </p:spPr>
      </p:sp>
      <p:sp>
        <p:nvSpPr>
          <p:cNvPr id="51" name="">
            <a:extLst xmlns:a="http://schemas.openxmlformats.org/drawingml/2006/main">
              <a:ext uri="{FF2B5EF4-FFF2-40B4-BE49-F238E27FC236}">
                <a16:creationId xmlns:a16="http://schemas.microsoft.com/office/drawing/2014/main" id="{F465E57C-672C-41AF-B447-3559CC7D6010}"/>
              </a:ext>
            </a:extLst>
          </p:cNvPr>
          <p:cNvSpPr>
            <a:spLocks xmlns:a="http://schemas.openxmlformats.org/drawingml/2006/main" noGrp="1"/>
          </p:cNvSpPr>
          <p:nvPr/>
        </p:nvSpPr>
        <p:spPr>
          <a:xfrm xmlns:a="http://schemas.openxmlformats.org/drawingml/2006/main">
            <a:off x="10191750" y="31242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Audit history</a:t>
            </a:r>
          </a:p>
        </p:txBody>
      </p:sp>
      <p:sp>
        <p:nvSpPr>
          <p:cNvPr id="52" name="">
            <a:extLst xmlns:a="http://schemas.openxmlformats.org/drawingml/2006/main">
              <a:ext uri="{FF2B5EF4-FFF2-40B4-BE49-F238E27FC236}">
                <a16:creationId xmlns:a16="http://schemas.microsoft.com/office/drawing/2014/main" id="{0B3CC01F-F022-4F46-8EFE-990BD9C81811}"/>
              </a:ext>
            </a:extLst>
          </p:cNvPr>
          <p:cNvSpPr>
            <a:spLocks xmlns:a="http://schemas.openxmlformats.org/drawingml/2006/main" noGrp="1"/>
          </p:cNvSpPr>
          <p:nvPr/>
        </p:nvSpPr>
        <p:spPr>
          <a:xfrm xmlns:a="http://schemas.openxmlformats.org/drawingml/2006/main">
            <a:off x="9982200" y="3705225"/>
            <a:ext cx="76200" cy="76200"/>
          </a:xfrm>
          <a:prstGeom xmlns:a="http://schemas.openxmlformats.org/drawingml/2006/main" prst="ellipse">
            <a:avLst/>
          </a:prstGeom>
          <a:solidFill xmlns:a="http://schemas.openxmlformats.org/drawingml/2006/main">
            <a:srgbClr val="0A400C"/>
          </a:solidFill>
          <a:ln xmlns:a="http://schemas.openxmlformats.org/drawingml/2006/main" w="0">
            <a:solidFill>
              <a:srgbClr val="0A400C"/>
            </a:solidFill>
            <a:prstDash val="solid"/>
          </a:ln>
        </p:spPr>
      </p:sp>
      <p:sp>
        <p:nvSpPr>
          <p:cNvPr id="53" name="">
            <a:extLst xmlns:a="http://schemas.openxmlformats.org/drawingml/2006/main">
              <a:ext uri="{FF2B5EF4-FFF2-40B4-BE49-F238E27FC236}">
                <a16:creationId xmlns:a16="http://schemas.microsoft.com/office/drawing/2014/main" id="{12FA26D5-4369-4626-BD3A-267F9085FDC5}"/>
              </a:ext>
            </a:extLst>
          </p:cNvPr>
          <p:cNvSpPr>
            <a:spLocks xmlns:a="http://schemas.openxmlformats.org/drawingml/2006/main" noGrp="1"/>
          </p:cNvSpPr>
          <p:nvPr/>
        </p:nvSpPr>
        <p:spPr>
          <a:xfrm xmlns:a="http://schemas.openxmlformats.org/drawingml/2006/main">
            <a:off x="10191750" y="36195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Archive and restore</a:t>
            </a:r>
          </a:p>
        </p:txBody>
      </p:sp>
      <p:sp>
        <p:nvSpPr>
          <p:cNvPr id="54" name="">
            <a:extLst xmlns:a="http://schemas.openxmlformats.org/drawingml/2006/main">
              <a:ext uri="{FF2B5EF4-FFF2-40B4-BE49-F238E27FC236}">
                <a16:creationId xmlns:a16="http://schemas.microsoft.com/office/drawing/2014/main" id="{75084A05-5F3F-4909-AE2D-AFCC699EDA16}"/>
              </a:ext>
            </a:extLst>
          </p:cNvPr>
          <p:cNvSpPr>
            <a:spLocks xmlns:a="http://schemas.openxmlformats.org/drawingml/2006/main" noGrp="1"/>
          </p:cNvSpPr>
          <p:nvPr/>
        </p:nvSpPr>
        <p:spPr>
          <a:xfrm xmlns:a="http://schemas.openxmlformats.org/drawingml/2006/main">
            <a:off x="9982200" y="4200525"/>
            <a:ext cx="76200" cy="76200"/>
          </a:xfrm>
          <a:prstGeom xmlns:a="http://schemas.openxmlformats.org/drawingml/2006/main" prst="ellipse">
            <a:avLst/>
          </a:prstGeom>
          <a:solidFill xmlns:a="http://schemas.openxmlformats.org/drawingml/2006/main">
            <a:srgbClr val="0A400C"/>
          </a:solidFill>
          <a:ln xmlns:a="http://schemas.openxmlformats.org/drawingml/2006/main" w="0">
            <a:solidFill>
              <a:srgbClr val="0A400C"/>
            </a:solidFill>
            <a:prstDash val="solid"/>
          </a:ln>
        </p:spPr>
      </p:sp>
      <p:sp>
        <p:nvSpPr>
          <p:cNvPr id="55" name="">
            <a:extLst xmlns:a="http://schemas.openxmlformats.org/drawingml/2006/main">
              <a:ext uri="{FF2B5EF4-FFF2-40B4-BE49-F238E27FC236}">
                <a16:creationId xmlns:a16="http://schemas.microsoft.com/office/drawing/2014/main" id="{44FD05B5-3381-4992-BF1B-D3F8D29DB040}"/>
              </a:ext>
            </a:extLst>
          </p:cNvPr>
          <p:cNvSpPr>
            <a:spLocks xmlns:a="http://schemas.openxmlformats.org/drawingml/2006/main" noGrp="1"/>
          </p:cNvSpPr>
          <p:nvPr/>
        </p:nvSpPr>
        <p:spPr>
          <a:xfrm xmlns:a="http://schemas.openxmlformats.org/drawingml/2006/main">
            <a:off x="10191750" y="41148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Admin operations</a:t>
            </a:r>
          </a:p>
        </p:txBody>
      </p:sp>
      <p:sp>
        <p:nvSpPr>
          <p:cNvPr id="56" name="">
            <a:extLst xmlns:a="http://schemas.openxmlformats.org/drawingml/2006/main">
              <a:ext uri="{FF2B5EF4-FFF2-40B4-BE49-F238E27FC236}">
                <a16:creationId xmlns:a16="http://schemas.microsoft.com/office/drawing/2014/main" id="{7AF018A6-4795-4403-B0CA-77DD59115440}"/>
              </a:ext>
            </a:extLst>
          </p:cNvPr>
          <p:cNvSpPr>
            <a:spLocks xmlns:a="http://schemas.openxmlformats.org/drawingml/2006/main" noGrp="1"/>
          </p:cNvSpPr>
          <p:nvPr/>
        </p:nvSpPr>
        <p:spPr>
          <a:xfrm xmlns:a="http://schemas.openxmlformats.org/drawingml/2006/main">
            <a:off x="9982200" y="4695825"/>
            <a:ext cx="76200" cy="76200"/>
          </a:xfrm>
          <a:prstGeom xmlns:a="http://schemas.openxmlformats.org/drawingml/2006/main" prst="ellipse">
            <a:avLst/>
          </a:prstGeom>
          <a:solidFill xmlns:a="http://schemas.openxmlformats.org/drawingml/2006/main">
            <a:srgbClr val="0A400C"/>
          </a:solidFill>
          <a:ln xmlns:a="http://schemas.openxmlformats.org/drawingml/2006/main" w="0">
            <a:solidFill>
              <a:srgbClr val="0A400C"/>
            </a:solidFill>
            <a:prstDash val="solid"/>
          </a:ln>
        </p:spPr>
      </p:sp>
      <p:sp>
        <p:nvSpPr>
          <p:cNvPr id="57" name="">
            <a:extLst xmlns:a="http://schemas.openxmlformats.org/drawingml/2006/main">
              <a:ext uri="{FF2B5EF4-FFF2-40B4-BE49-F238E27FC236}">
                <a16:creationId xmlns:a16="http://schemas.microsoft.com/office/drawing/2014/main" id="{5C2DB86B-D1C5-46DA-9240-E49D96E2489A}"/>
              </a:ext>
            </a:extLst>
          </p:cNvPr>
          <p:cNvSpPr>
            <a:spLocks xmlns:a="http://schemas.openxmlformats.org/drawingml/2006/main" noGrp="1"/>
          </p:cNvSpPr>
          <p:nvPr/>
        </p:nvSpPr>
        <p:spPr>
          <a:xfrm xmlns:a="http://schemas.openxmlformats.org/drawingml/2006/main">
            <a:off x="10191750" y="46101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Arabic and English UI</a:t>
            </a:r>
          </a:p>
        </p:txBody>
      </p:sp>
      <p:sp>
        <p:nvSpPr>
          <p:cNvPr id="58" name="">
            <a:extLst xmlns:a="http://schemas.openxmlformats.org/drawingml/2006/main">
              <a:ext uri="{FF2B5EF4-FFF2-40B4-BE49-F238E27FC236}">
                <a16:creationId xmlns:a16="http://schemas.microsoft.com/office/drawing/2014/main" id="{AAA4E08C-7BEC-4E9F-B59F-939EC3588DC1}"/>
              </a:ext>
            </a:extLst>
          </p:cNvPr>
          <p:cNvSpPr>
            <a:spLocks xmlns:a="http://schemas.openxmlformats.org/drawingml/2006/main" noGrp="1"/>
          </p:cNvSpPr>
          <p:nvPr/>
        </p:nvSpPr>
        <p:spPr>
          <a:xfrm xmlns:a="http://schemas.openxmlformats.org/drawingml/2006/main">
            <a:off x="11582400" y="51911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17064"/>
                </a:solidFill>
              </a:defRPr>
            </a:pPr>
            <a:r>
              <a:rPr sz="1050" b="1">
                <a:solidFill>
                  <a:srgbClr val="617064"/>
                </a:solidFill>
              </a:rPr>
              <a:t>04</a:t>
            </a:r>
          </a:p>
        </p:txBody>
      </p:sp>
      <p:sp>
        <p:nvSpPr>
          <p:cNvPr id="59" name="">
            <a:extLst xmlns:a="http://schemas.openxmlformats.org/drawingml/2006/main">
              <a:ext uri="{FF2B5EF4-FFF2-40B4-BE49-F238E27FC236}">
                <a16:creationId xmlns:a16="http://schemas.microsoft.com/office/drawing/2014/main" id="{F0018A49-990F-4670-970C-97D42A18169F}"/>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8CE"/>
          </a:solidFill>
          <a:ln xmlns:a="http://schemas.openxmlformats.org/drawingml/2006/main" w="0">
            <a:solidFill>
              <a:srgbClr val="D7D8CE"/>
            </a:solidFill>
            <a:prstDash val="solid"/>
          </a:ln>
        </p:spPr>
      </p:sp>
      <p:sp>
        <p:nvSpPr>
          <p:cNvPr id="60" name="">
            <a:extLst xmlns:a="http://schemas.openxmlformats.org/drawingml/2006/main">
              <a:ext uri="{FF2B5EF4-FFF2-40B4-BE49-F238E27FC236}">
                <a16:creationId xmlns:a16="http://schemas.microsoft.com/office/drawing/2014/main" id="{1685D35D-10BF-4905-BBBD-72B1F2C13760}"/>
              </a:ext>
            </a:extLst>
          </p:cNvPr>
          <p:cNvSpPr>
            <a:spLocks xmlns:a="http://schemas.openxmlformats.org/drawingml/2006/main" noGrp="1"/>
          </p:cNvSpPr>
          <p:nvPr/>
        </p:nvSpPr>
        <p:spPr>
          <a:xfrm xmlns:a="http://schemas.openxmlformats.org/drawingml/2006/main">
            <a:off x="685800" y="65246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17064"/>
                </a:solidFill>
              </a:defRPr>
            </a:pPr>
            <a:r>
              <a:rPr sz="825" b="1">
                <a:solidFill>
                  <a:srgbClr val="617064"/>
                </a:solidFill>
              </a:rPr>
              <a:t>INSIGHT TRACKER</a:t>
            </a:r>
          </a:p>
        </p:txBody>
      </p:sp>
      <p:sp>
        <p:nvSpPr>
          <p:cNvPr id="61" name="">
            <a:extLst xmlns:a="http://schemas.openxmlformats.org/drawingml/2006/main">
              <a:ext uri="{FF2B5EF4-FFF2-40B4-BE49-F238E27FC236}">
                <a16:creationId xmlns:a16="http://schemas.microsoft.com/office/drawing/2014/main" id="{8F6901CE-6487-4C42-8457-779D79390A14}"/>
              </a:ext>
            </a:extLst>
          </p:cNvPr>
          <p:cNvSpPr>
            <a:spLocks xmlns:a="http://schemas.openxmlformats.org/drawingml/2006/main" noGrp="1"/>
          </p:cNvSpPr>
          <p:nvPr/>
        </p:nvSpPr>
        <p:spPr>
          <a:xfrm xmlns:a="http://schemas.openxmlformats.org/drawingml/2006/main">
            <a:off x="11049000" y="65055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17064"/>
                </a:solidFill>
              </a:defRPr>
            </a:pPr>
            <a:r>
              <a:rPr sz="900" b="1">
                <a:solidFill>
                  <a:srgbClr val="617064"/>
                </a:solidFill>
              </a:rPr>
              <a:t>04</a:t>
            </a:r>
          </a:p>
        </p:txBody>
      </p:sp>
    </p:spTree>
    <p:extLst>
      <p:ext uri="{BB962C8B-B14F-4D97-AF65-F5344CB8AC3E}">
        <p14:creationId xmlns:p14="http://schemas.microsoft.com/office/powerpoint/2010/main" val="963413899"/>
      </p:ext>
    </p:extLst>
  </p:cSld>
</p:sld>
</file>

<file path=ppt/slides/slide5.xml><?xml version="1.0" encoding="utf-8"?>
<p:sld xmlns:p="http://schemas.openxmlformats.org/presentationml/2006/main">
  <p:cSld>
    <p:bg>
      <p:bgPr>
        <a:solidFill xmlns:a="http://schemas.openxmlformats.org/drawingml/2006/main">
          <a:srgbClr val="F3F1E8"/>
        </a:solidFill>
      </p:bgPr>
    </p:bg>
    <p:spTree>
      <p:nvGrpSpPr>
        <p:cNvPr id="1" name=""/>
        <p:cNvGrpSpPr/>
        <p:nvPr/>
      </p:nvGrpSpPr>
      <p:grpSpPr>
        <a:xfrm xmlns:a="http://schemas.openxmlformats.org/drawingml/2006/main"/>
      </p:grpSpPr>
      <p:sp>
        <p:nvSpPr>
          <p:cNvPr id="36" name="kicker-5">
            <a:extLst xmlns:a="http://schemas.openxmlformats.org/drawingml/2006/main">
              <a:ext uri="{FF2B5EF4-FFF2-40B4-BE49-F238E27FC236}">
                <a16:creationId xmlns:a16="http://schemas.microsoft.com/office/drawing/2014/main" id="{17308CB3-8428-4BC4-BF53-3ED861CC61F5}"/>
              </a:ext>
            </a:extLst>
          </p:cNvPr>
          <p:cNvSpPr>
            <a:spLocks xmlns:a="http://schemas.openxmlformats.org/drawingml/2006/main" noGrp="1"/>
          </p:cNvSpPr>
          <p:nvPr/>
        </p:nvSpPr>
        <p:spPr>
          <a:xfrm xmlns:a="http://schemas.openxmlformats.org/drawingml/2006/main">
            <a:off x="685800" y="400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7531B"/>
                </a:solidFill>
              </a:defRPr>
            </a:pPr>
            <a:r>
              <a:rPr sz="1050" b="1">
                <a:solidFill>
                  <a:srgbClr val="17531B"/>
                </a:solidFill>
              </a:rPr>
              <a:t>AI LAYER 1</a:t>
            </a:r>
          </a:p>
        </p:txBody>
      </p:sp>
      <p:sp>
        <p:nvSpPr>
          <p:cNvPr id="2" name="title-5">
            <a:extLst xmlns:a="http://schemas.openxmlformats.org/drawingml/2006/main">
              <a:ext uri="{FF2B5EF4-FFF2-40B4-BE49-F238E27FC236}">
                <a16:creationId xmlns:a16="http://schemas.microsoft.com/office/drawing/2014/main" id="{F4F33BDE-B0B0-41E1-A348-F2653E85F7F6}"/>
              </a:ext>
            </a:extLst>
          </p:cNvPr>
          <p:cNvSpPr>
            <a:spLocks xmlns:a="http://schemas.openxmlformats.org/drawingml/2006/main" noGrp="1"/>
          </p:cNvSpPr>
          <p:nvPr/>
        </p:nvSpPr>
        <p:spPr>
          <a:xfrm xmlns:a="http://schemas.openxmlformats.org/drawingml/2006/main">
            <a:off x="685800" y="742950"/>
            <a:ext cx="10744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43127"/>
                </a:solidFill>
              </a:defRPr>
            </a:pPr>
            <a:r>
              <a:rPr sz="2850" b="1">
                <a:solidFill>
                  <a:srgbClr val="243127"/>
                </a:solidFill>
              </a:rPr>
              <a:t>Structured RAG turns live records into cited briefings</a:t>
            </a:r>
          </a:p>
        </p:txBody>
      </p:sp>
      <p:sp>
        <p:nvSpPr>
          <p:cNvPr id="3" name="">
            <a:extLst xmlns:a="http://schemas.openxmlformats.org/drawingml/2006/main">
              <a:ext uri="{FF2B5EF4-FFF2-40B4-BE49-F238E27FC236}">
                <a16:creationId xmlns:a16="http://schemas.microsoft.com/office/drawing/2014/main" id="{998389D0-7311-4F90-B319-4ABA328EC6DF}"/>
              </a:ext>
            </a:extLst>
          </p:cNvPr>
          <p:cNvSpPr>
            <a:spLocks xmlns:a="http://schemas.openxmlformats.org/drawingml/2006/main" noGrp="1"/>
          </p:cNvSpPr>
          <p:nvPr/>
        </p:nvSpPr>
        <p:spPr>
          <a:xfrm xmlns:a="http://schemas.openxmlformats.org/drawingml/2006/main">
            <a:off x="685800" y="1409700"/>
            <a:ext cx="533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617064"/>
                </a:solidFill>
              </a:defRPr>
            </a:pPr>
            <a:r>
              <a:rPr sz="1575" b="0">
                <a:solidFill>
                  <a:srgbClr val="617064"/>
                </a:solidFill>
              </a:rPr>
              <a:t>The model receives a small permission-scoped evidence packet, not the whole database.</a:t>
            </a:r>
          </a:p>
        </p:txBody>
      </p:sp>
      <p:sp>
        <p:nvSpPr>
          <p:cNvPr id="4" name="">
            <a:extLst xmlns:a="http://schemas.openxmlformats.org/drawingml/2006/main">
              <a:ext uri="{FF2B5EF4-FFF2-40B4-BE49-F238E27FC236}">
                <a16:creationId xmlns:a16="http://schemas.microsoft.com/office/drawing/2014/main" id="{CEB80390-8F11-45B1-B110-40A9CD157B6F}"/>
              </a:ext>
            </a:extLst>
          </p:cNvPr>
          <p:cNvSpPr>
            <a:spLocks xmlns:a="http://schemas.openxmlformats.org/drawingml/2006/main" noGrp="1"/>
          </p:cNvSpPr>
          <p:nvPr/>
        </p:nvSpPr>
        <p:spPr>
          <a:xfrm xmlns:a="http://schemas.openxmlformats.org/drawingml/2006/main">
            <a:off x="1666875" y="2676525"/>
            <a:ext cx="95250" cy="38100"/>
          </a:xfrm>
          <a:prstGeom xmlns:a="http://schemas.openxmlformats.org/drawingml/2006/main" prst="rect">
            <a:avLst/>
          </a:prstGeom>
          <a:solidFill xmlns:a="http://schemas.openxmlformats.org/drawingml/2006/main">
            <a:srgbClr val="819067"/>
          </a:solidFill>
          <a:ln xmlns:a="http://schemas.openxmlformats.org/drawingml/2006/main" w="0">
            <a:solidFill>
              <a:srgbClr val="819067"/>
            </a:solidFill>
            <a:prstDash val="solid"/>
          </a:ln>
        </p:spPr>
      </p:sp>
      <p:sp>
        <p:nvSpPr>
          <p:cNvPr id="5" name="">
            <a:extLst xmlns:a="http://schemas.openxmlformats.org/drawingml/2006/main">
              <a:ext uri="{FF2B5EF4-FFF2-40B4-BE49-F238E27FC236}">
                <a16:creationId xmlns:a16="http://schemas.microsoft.com/office/drawing/2014/main" id="{12D1C029-EF89-45CB-A72B-C3606C162923}"/>
              </a:ext>
            </a:extLst>
          </p:cNvPr>
          <p:cNvSpPr>
            <a:spLocks xmlns:a="http://schemas.openxmlformats.org/drawingml/2006/main" noGrp="1"/>
          </p:cNvSpPr>
          <p:nvPr/>
        </p:nvSpPr>
        <p:spPr>
          <a:xfrm xmlns:a="http://schemas.openxmlformats.org/drawingml/2006/main">
            <a:off x="2743200" y="2676525"/>
            <a:ext cx="95250" cy="38100"/>
          </a:xfrm>
          <a:prstGeom xmlns:a="http://schemas.openxmlformats.org/drawingml/2006/main" prst="rect">
            <a:avLst/>
          </a:prstGeom>
          <a:solidFill xmlns:a="http://schemas.openxmlformats.org/drawingml/2006/main">
            <a:srgbClr val="819067"/>
          </a:solidFill>
          <a:ln xmlns:a="http://schemas.openxmlformats.org/drawingml/2006/main" w="0">
            <a:solidFill>
              <a:srgbClr val="819067"/>
            </a:solidFill>
            <a:prstDash val="solid"/>
          </a:ln>
        </p:spPr>
      </p:sp>
      <p:sp>
        <p:nvSpPr>
          <p:cNvPr id="6" name="">
            <a:extLst xmlns:a="http://schemas.openxmlformats.org/drawingml/2006/main">
              <a:ext uri="{FF2B5EF4-FFF2-40B4-BE49-F238E27FC236}">
                <a16:creationId xmlns:a16="http://schemas.microsoft.com/office/drawing/2014/main" id="{54638B52-F295-48BD-BC3F-D92541312CDD}"/>
              </a:ext>
            </a:extLst>
          </p:cNvPr>
          <p:cNvSpPr>
            <a:spLocks xmlns:a="http://schemas.openxmlformats.org/drawingml/2006/main" noGrp="1"/>
          </p:cNvSpPr>
          <p:nvPr/>
        </p:nvSpPr>
        <p:spPr>
          <a:xfrm xmlns:a="http://schemas.openxmlformats.org/drawingml/2006/main">
            <a:off x="3819525" y="2676525"/>
            <a:ext cx="95250" cy="38100"/>
          </a:xfrm>
          <a:prstGeom xmlns:a="http://schemas.openxmlformats.org/drawingml/2006/main" prst="rect">
            <a:avLst/>
          </a:prstGeom>
          <a:solidFill xmlns:a="http://schemas.openxmlformats.org/drawingml/2006/main">
            <a:srgbClr val="819067"/>
          </a:solidFill>
          <a:ln xmlns:a="http://schemas.openxmlformats.org/drawingml/2006/main" w="0">
            <a:solidFill>
              <a:srgbClr val="819067"/>
            </a:solidFill>
            <a:prstDash val="solid"/>
          </a:ln>
        </p:spPr>
      </p:sp>
      <p:sp>
        <p:nvSpPr>
          <p:cNvPr id="7" name="">
            <a:extLst xmlns:a="http://schemas.openxmlformats.org/drawingml/2006/main">
              <a:ext uri="{FF2B5EF4-FFF2-40B4-BE49-F238E27FC236}">
                <a16:creationId xmlns:a16="http://schemas.microsoft.com/office/drawing/2014/main" id="{E7CAE0B7-389C-41C8-872E-B0542A7B8AD0}"/>
              </a:ext>
            </a:extLst>
          </p:cNvPr>
          <p:cNvSpPr>
            <a:spLocks xmlns:a="http://schemas.openxmlformats.org/drawingml/2006/main" noGrp="1"/>
          </p:cNvSpPr>
          <p:nvPr/>
        </p:nvSpPr>
        <p:spPr>
          <a:xfrm xmlns:a="http://schemas.openxmlformats.org/drawingml/2006/main">
            <a:off x="4895850" y="2676525"/>
            <a:ext cx="95250" cy="38100"/>
          </a:xfrm>
          <a:prstGeom xmlns:a="http://schemas.openxmlformats.org/drawingml/2006/main" prst="rect">
            <a:avLst/>
          </a:prstGeom>
          <a:solidFill xmlns:a="http://schemas.openxmlformats.org/drawingml/2006/main">
            <a:srgbClr val="819067"/>
          </a:solidFill>
          <a:ln xmlns:a="http://schemas.openxmlformats.org/drawingml/2006/main" w="0">
            <a:solidFill>
              <a:srgbClr val="819067"/>
            </a:solidFill>
            <a:prstDash val="solid"/>
          </a:ln>
        </p:spPr>
      </p:sp>
      <p:sp>
        <p:nvSpPr>
          <p:cNvPr id="8" name="">
            <a:extLst xmlns:a="http://schemas.openxmlformats.org/drawingml/2006/main">
              <a:ext uri="{FF2B5EF4-FFF2-40B4-BE49-F238E27FC236}">
                <a16:creationId xmlns:a16="http://schemas.microsoft.com/office/drawing/2014/main" id="{C8CF41D0-D442-40BB-97C7-B5FEA061A2A4}"/>
              </a:ext>
            </a:extLst>
          </p:cNvPr>
          <p:cNvSpPr>
            <a:spLocks xmlns:a="http://schemas.openxmlformats.org/drawingml/2006/main" noGrp="1"/>
          </p:cNvSpPr>
          <p:nvPr/>
        </p:nvSpPr>
        <p:spPr>
          <a:xfrm xmlns:a="http://schemas.openxmlformats.org/drawingml/2006/main">
            <a:off x="685800" y="2266950"/>
            <a:ext cx="9810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F5EB021E-8186-4CCB-BC6D-B9D898869D32}"/>
              </a:ext>
            </a:extLst>
          </p:cNvPr>
          <p:cNvSpPr>
            <a:spLocks xmlns:a="http://schemas.openxmlformats.org/drawingml/2006/main" noGrp="1"/>
          </p:cNvSpPr>
          <p:nvPr/>
        </p:nvSpPr>
        <p:spPr>
          <a:xfrm xmlns:a="http://schemas.openxmlformats.org/drawingml/2006/main">
            <a:off x="819150" y="239077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819067"/>
                </a:solidFill>
              </a:defRPr>
            </a:pPr>
            <a:r>
              <a:rPr sz="900" b="1">
                <a:solidFill>
                  <a:srgbClr val="819067"/>
                </a:solidFill>
              </a:rPr>
              <a:t>1</a:t>
            </a:r>
          </a:p>
        </p:txBody>
      </p:sp>
      <p:sp>
        <p:nvSpPr>
          <p:cNvPr id="10" name="">
            <a:extLst xmlns:a="http://schemas.openxmlformats.org/drawingml/2006/main">
              <a:ext uri="{FF2B5EF4-FFF2-40B4-BE49-F238E27FC236}">
                <a16:creationId xmlns:a16="http://schemas.microsoft.com/office/drawing/2014/main" id="{BE063566-CECF-4260-A16C-8AD3815FF9B1}"/>
              </a:ext>
            </a:extLst>
          </p:cNvPr>
          <p:cNvSpPr>
            <a:spLocks xmlns:a="http://schemas.openxmlformats.org/drawingml/2006/main" noGrp="1"/>
          </p:cNvSpPr>
          <p:nvPr/>
        </p:nvSpPr>
        <p:spPr>
          <a:xfrm xmlns:a="http://schemas.openxmlformats.org/drawingml/2006/main">
            <a:off x="819150" y="2667000"/>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243127"/>
                </a:solidFill>
              </a:defRPr>
            </a:pPr>
            <a:r>
              <a:rPr sz="1275" b="1">
                <a:solidFill>
                  <a:srgbClr val="243127"/>
                </a:solidFill>
              </a:rPr>
              <a:t>Select</a:t>
            </a:r>
          </a:p>
        </p:txBody>
      </p:sp>
      <p:sp>
        <p:nvSpPr>
          <p:cNvPr id="11" name="">
            <a:extLst xmlns:a="http://schemas.openxmlformats.org/drawingml/2006/main">
              <a:ext uri="{FF2B5EF4-FFF2-40B4-BE49-F238E27FC236}">
                <a16:creationId xmlns:a16="http://schemas.microsoft.com/office/drawing/2014/main" id="{D4033536-E4BD-4A73-9ECC-67F31BF4C369}"/>
              </a:ext>
            </a:extLst>
          </p:cNvPr>
          <p:cNvSpPr>
            <a:spLocks xmlns:a="http://schemas.openxmlformats.org/drawingml/2006/main" noGrp="1"/>
          </p:cNvSpPr>
          <p:nvPr/>
        </p:nvSpPr>
        <p:spPr>
          <a:xfrm xmlns:a="http://schemas.openxmlformats.org/drawingml/2006/main">
            <a:off x="1762125" y="2266950"/>
            <a:ext cx="9810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2C9B572F-DBDB-4397-A8A0-3B291C0B531D}"/>
              </a:ext>
            </a:extLst>
          </p:cNvPr>
          <p:cNvSpPr>
            <a:spLocks xmlns:a="http://schemas.openxmlformats.org/drawingml/2006/main" noGrp="1"/>
          </p:cNvSpPr>
          <p:nvPr/>
        </p:nvSpPr>
        <p:spPr>
          <a:xfrm xmlns:a="http://schemas.openxmlformats.org/drawingml/2006/main">
            <a:off x="1895475" y="239077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819067"/>
                </a:solidFill>
              </a:defRPr>
            </a:pPr>
            <a:r>
              <a:rPr sz="900" b="1">
                <a:solidFill>
                  <a:srgbClr val="819067"/>
                </a:solidFill>
              </a:rPr>
              <a:t>2</a:t>
            </a:r>
          </a:p>
        </p:txBody>
      </p:sp>
      <p:sp>
        <p:nvSpPr>
          <p:cNvPr id="13" name="">
            <a:extLst xmlns:a="http://schemas.openxmlformats.org/drawingml/2006/main">
              <a:ext uri="{FF2B5EF4-FFF2-40B4-BE49-F238E27FC236}">
                <a16:creationId xmlns:a16="http://schemas.microsoft.com/office/drawing/2014/main" id="{71E73439-B7F8-4E60-8766-F04036F4E859}"/>
              </a:ext>
            </a:extLst>
          </p:cNvPr>
          <p:cNvSpPr>
            <a:spLocks xmlns:a="http://schemas.openxmlformats.org/drawingml/2006/main" noGrp="1"/>
          </p:cNvSpPr>
          <p:nvPr/>
        </p:nvSpPr>
        <p:spPr>
          <a:xfrm xmlns:a="http://schemas.openxmlformats.org/drawingml/2006/main">
            <a:off x="1895475" y="2667000"/>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243127"/>
                </a:solidFill>
              </a:defRPr>
            </a:pPr>
            <a:r>
              <a:rPr sz="1275" b="1">
                <a:solidFill>
                  <a:srgbClr val="243127"/>
                </a:solidFill>
              </a:rPr>
              <a:t>Data</a:t>
            </a:r>
          </a:p>
        </p:txBody>
      </p:sp>
      <p:sp>
        <p:nvSpPr>
          <p:cNvPr id="14" name="">
            <a:extLst xmlns:a="http://schemas.openxmlformats.org/drawingml/2006/main">
              <a:ext uri="{FF2B5EF4-FFF2-40B4-BE49-F238E27FC236}">
                <a16:creationId xmlns:a16="http://schemas.microsoft.com/office/drawing/2014/main" id="{49B96FB4-D725-4C79-8BBA-4C6F08A862B6}"/>
              </a:ext>
            </a:extLst>
          </p:cNvPr>
          <p:cNvSpPr>
            <a:spLocks xmlns:a="http://schemas.openxmlformats.org/drawingml/2006/main" noGrp="1"/>
          </p:cNvSpPr>
          <p:nvPr/>
        </p:nvSpPr>
        <p:spPr>
          <a:xfrm xmlns:a="http://schemas.openxmlformats.org/drawingml/2006/main">
            <a:off x="2838450" y="2266950"/>
            <a:ext cx="9810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0AEE406F-000E-4462-9912-8D01C577C1B0}"/>
              </a:ext>
            </a:extLst>
          </p:cNvPr>
          <p:cNvSpPr>
            <a:spLocks xmlns:a="http://schemas.openxmlformats.org/drawingml/2006/main" noGrp="1"/>
          </p:cNvSpPr>
          <p:nvPr/>
        </p:nvSpPr>
        <p:spPr>
          <a:xfrm xmlns:a="http://schemas.openxmlformats.org/drawingml/2006/main">
            <a:off x="2971800" y="239077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819067"/>
                </a:solidFill>
              </a:defRPr>
            </a:pPr>
            <a:r>
              <a:rPr sz="900" b="1">
                <a:solidFill>
                  <a:srgbClr val="819067"/>
                </a:solidFill>
              </a:rPr>
              <a:t>3</a:t>
            </a:r>
          </a:p>
        </p:txBody>
      </p:sp>
      <p:sp>
        <p:nvSpPr>
          <p:cNvPr id="16" name="">
            <a:extLst xmlns:a="http://schemas.openxmlformats.org/drawingml/2006/main">
              <a:ext uri="{FF2B5EF4-FFF2-40B4-BE49-F238E27FC236}">
                <a16:creationId xmlns:a16="http://schemas.microsoft.com/office/drawing/2014/main" id="{0631BCB7-A212-4660-92C0-C90C9D7124F2}"/>
              </a:ext>
            </a:extLst>
          </p:cNvPr>
          <p:cNvSpPr>
            <a:spLocks xmlns:a="http://schemas.openxmlformats.org/drawingml/2006/main" noGrp="1"/>
          </p:cNvSpPr>
          <p:nvPr/>
        </p:nvSpPr>
        <p:spPr>
          <a:xfrm xmlns:a="http://schemas.openxmlformats.org/drawingml/2006/main">
            <a:off x="2971800" y="2667000"/>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243127"/>
                </a:solidFill>
              </a:defRPr>
            </a:pPr>
            <a:r>
              <a:rPr sz="1275" b="1">
                <a:solidFill>
                  <a:srgbClr val="243127"/>
                </a:solidFill>
              </a:rPr>
              <a:t>Groq</a:t>
            </a:r>
          </a:p>
        </p:txBody>
      </p:sp>
      <p:sp>
        <p:nvSpPr>
          <p:cNvPr id="17" name="">
            <a:extLst xmlns:a="http://schemas.openxmlformats.org/drawingml/2006/main">
              <a:ext uri="{FF2B5EF4-FFF2-40B4-BE49-F238E27FC236}">
                <a16:creationId xmlns:a16="http://schemas.microsoft.com/office/drawing/2014/main" id="{8547B59C-82B0-4909-8788-6ED6CD6652E2}"/>
              </a:ext>
            </a:extLst>
          </p:cNvPr>
          <p:cNvSpPr>
            <a:spLocks xmlns:a="http://schemas.openxmlformats.org/drawingml/2006/main" noGrp="1"/>
          </p:cNvSpPr>
          <p:nvPr/>
        </p:nvSpPr>
        <p:spPr>
          <a:xfrm xmlns:a="http://schemas.openxmlformats.org/drawingml/2006/main">
            <a:off x="3914775" y="2266950"/>
            <a:ext cx="9810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F80A4816-363B-440B-A74A-F7A249BD67B0}"/>
              </a:ext>
            </a:extLst>
          </p:cNvPr>
          <p:cNvSpPr>
            <a:spLocks xmlns:a="http://schemas.openxmlformats.org/drawingml/2006/main" noGrp="1"/>
          </p:cNvSpPr>
          <p:nvPr/>
        </p:nvSpPr>
        <p:spPr>
          <a:xfrm xmlns:a="http://schemas.openxmlformats.org/drawingml/2006/main">
            <a:off x="4048125" y="239077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819067"/>
                </a:solidFill>
              </a:defRPr>
            </a:pPr>
            <a:r>
              <a:rPr sz="900" b="1">
                <a:solidFill>
                  <a:srgbClr val="819067"/>
                </a:solidFill>
              </a:rPr>
              <a:t>4</a:t>
            </a:r>
          </a:p>
        </p:txBody>
      </p:sp>
      <p:sp>
        <p:nvSpPr>
          <p:cNvPr id="19" name="">
            <a:extLst xmlns:a="http://schemas.openxmlformats.org/drawingml/2006/main">
              <a:ext uri="{FF2B5EF4-FFF2-40B4-BE49-F238E27FC236}">
                <a16:creationId xmlns:a16="http://schemas.microsoft.com/office/drawing/2014/main" id="{4EF4AF4D-987E-4348-8852-D0DF7E57FA67}"/>
              </a:ext>
            </a:extLst>
          </p:cNvPr>
          <p:cNvSpPr>
            <a:spLocks xmlns:a="http://schemas.openxmlformats.org/drawingml/2006/main" noGrp="1"/>
          </p:cNvSpPr>
          <p:nvPr/>
        </p:nvSpPr>
        <p:spPr>
          <a:xfrm xmlns:a="http://schemas.openxmlformats.org/drawingml/2006/main">
            <a:off x="4048125" y="2667000"/>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243127"/>
                </a:solidFill>
              </a:defRPr>
            </a:pPr>
            <a:r>
              <a:rPr sz="1275" b="1">
                <a:solidFill>
                  <a:srgbClr val="243127"/>
                </a:solidFill>
              </a:rPr>
              <a:t>Check</a:t>
            </a:r>
          </a:p>
        </p:txBody>
      </p:sp>
      <p:sp>
        <p:nvSpPr>
          <p:cNvPr id="20" name="">
            <a:extLst xmlns:a="http://schemas.openxmlformats.org/drawingml/2006/main">
              <a:ext uri="{FF2B5EF4-FFF2-40B4-BE49-F238E27FC236}">
                <a16:creationId xmlns:a16="http://schemas.microsoft.com/office/drawing/2014/main" id="{452D45F3-E668-4947-AB17-D7E67FD70538}"/>
              </a:ext>
            </a:extLst>
          </p:cNvPr>
          <p:cNvSpPr>
            <a:spLocks xmlns:a="http://schemas.openxmlformats.org/drawingml/2006/main" noGrp="1"/>
          </p:cNvSpPr>
          <p:nvPr/>
        </p:nvSpPr>
        <p:spPr>
          <a:xfrm xmlns:a="http://schemas.openxmlformats.org/drawingml/2006/main">
            <a:off x="4991100" y="2266950"/>
            <a:ext cx="981075" cy="857250"/>
          </a:xfrm>
          <a:prstGeom xmlns:a="http://schemas.openxmlformats.org/drawingml/2006/main" prst="roundRect">
            <a:avLst>
              <a:gd name="adj" fmla="val 13333"/>
            </a:avLst>
          </a:prstGeom>
          <a:solidFill xmlns:a="http://schemas.openxmlformats.org/drawingml/2006/main">
            <a:srgbClr val="17531B"/>
          </a:solidFill>
          <a:ln xmlns:a="http://schemas.openxmlformats.org/drawingml/2006/main" w="9525">
            <a:solidFill>
              <a:srgbClr val="17531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DEEF3B3D-68DE-46DE-8E4A-DAF0DA497794}"/>
              </a:ext>
            </a:extLst>
          </p:cNvPr>
          <p:cNvSpPr>
            <a:spLocks xmlns:a="http://schemas.openxmlformats.org/drawingml/2006/main" noGrp="1"/>
          </p:cNvSpPr>
          <p:nvPr/>
        </p:nvSpPr>
        <p:spPr>
          <a:xfrm xmlns:a="http://schemas.openxmlformats.org/drawingml/2006/main">
            <a:off x="5124450" y="239077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DDE8D6"/>
                </a:solidFill>
              </a:defRPr>
            </a:pPr>
            <a:r>
              <a:rPr sz="900" b="1">
                <a:solidFill>
                  <a:srgbClr val="DDE8D6"/>
                </a:solidFill>
              </a:rPr>
              <a:t>5</a:t>
            </a:r>
          </a:p>
        </p:txBody>
      </p:sp>
      <p:sp>
        <p:nvSpPr>
          <p:cNvPr id="22" name="">
            <a:extLst xmlns:a="http://schemas.openxmlformats.org/drawingml/2006/main">
              <a:ext uri="{FF2B5EF4-FFF2-40B4-BE49-F238E27FC236}">
                <a16:creationId xmlns:a16="http://schemas.microsoft.com/office/drawing/2014/main" id="{08B6E4DF-8315-47D7-849A-C9FDA84E6C33}"/>
              </a:ext>
            </a:extLst>
          </p:cNvPr>
          <p:cNvSpPr>
            <a:spLocks xmlns:a="http://schemas.openxmlformats.org/drawingml/2006/main" noGrp="1"/>
          </p:cNvSpPr>
          <p:nvPr/>
        </p:nvSpPr>
        <p:spPr>
          <a:xfrm xmlns:a="http://schemas.openxmlformats.org/drawingml/2006/main">
            <a:off x="5124450" y="2667000"/>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Review</a:t>
            </a:r>
          </a:p>
        </p:txBody>
      </p:sp>
      <p:sp>
        <p:nvSpPr>
          <p:cNvPr id="23" name="">
            <a:extLst xmlns:a="http://schemas.openxmlformats.org/drawingml/2006/main">
              <a:ext uri="{FF2B5EF4-FFF2-40B4-BE49-F238E27FC236}">
                <a16:creationId xmlns:a16="http://schemas.microsoft.com/office/drawing/2014/main" id="{B61D4A12-85B7-459F-B970-55170F7135A9}"/>
              </a:ext>
            </a:extLst>
          </p:cNvPr>
          <p:cNvSpPr>
            <a:spLocks xmlns:a="http://schemas.openxmlformats.org/drawingml/2006/main" noGrp="1"/>
          </p:cNvSpPr>
          <p:nvPr/>
        </p:nvSpPr>
        <p:spPr>
          <a:xfrm xmlns:a="http://schemas.openxmlformats.org/drawingml/2006/main">
            <a:off x="685800" y="35242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7531B"/>
                </a:solidFill>
              </a:defRPr>
            </a:pPr>
            <a:r>
              <a:rPr sz="1800" b="1">
                <a:solidFill>
                  <a:srgbClr val="17531B"/>
                </a:solidFill>
              </a:rPr>
              <a:t>Why it is RAG</a:t>
            </a:r>
          </a:p>
        </p:txBody>
      </p:sp>
      <p:sp>
        <p:nvSpPr>
          <p:cNvPr id="24" name="">
            <a:extLst xmlns:a="http://schemas.openxmlformats.org/drawingml/2006/main">
              <a:ext uri="{FF2B5EF4-FFF2-40B4-BE49-F238E27FC236}">
                <a16:creationId xmlns:a16="http://schemas.microsoft.com/office/drawing/2014/main" id="{A2E569D0-6760-468C-91A2-A34A8736123C}"/>
              </a:ext>
            </a:extLst>
          </p:cNvPr>
          <p:cNvSpPr>
            <a:spLocks xmlns:a="http://schemas.openxmlformats.org/drawingml/2006/main" noGrp="1"/>
          </p:cNvSpPr>
          <p:nvPr/>
        </p:nvSpPr>
        <p:spPr>
          <a:xfrm xmlns:a="http://schemas.openxmlformats.org/drawingml/2006/main">
            <a:off x="723900" y="3962400"/>
            <a:ext cx="51435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127"/>
                </a:solidFill>
              </a:defRPr>
            </a:pPr>
            <a:r>
              <a:rPr sz="1350" b="0">
                <a:solidFill>
                  <a:srgbClr val="243127"/>
                </a:solidFill>
              </a:rPr>
              <a:t>• Retrieval happens from current PostgreSQL records</a:t>
            </a:r>
          </a:p>
          <a:p xmlns:a="http://schemas.openxmlformats.org/drawingml/2006/main">
            <a:pPr algn="l">
              <a:defRPr sz="1350" b="0">
                <a:solidFill>
                  <a:srgbClr val="243127"/>
                </a:solidFill>
              </a:defRPr>
            </a:pPr>
            <a:r>
              <a:rPr sz="1350" b="0">
                <a:solidFill>
                  <a:srgbClr val="243127"/>
                </a:solidFill>
              </a:rPr>
              <a:t>• Generation uses Groq and GPT-OSS</a:t>
            </a:r>
          </a:p>
          <a:p xmlns:a="http://schemas.openxmlformats.org/drawingml/2006/main">
            <a:pPr algn="l">
              <a:defRPr sz="1350" b="0">
                <a:solidFill>
                  <a:srgbClr val="243127"/>
                </a:solidFill>
              </a:defRPr>
            </a:pPr>
            <a:r>
              <a:rPr sz="1350" b="0">
                <a:solidFill>
                  <a:srgbClr val="243127"/>
                </a:solidFill>
              </a:rPr>
              <a:t>• Every factual item must cite an allowed source</a:t>
            </a:r>
          </a:p>
          <a:p xmlns:a="http://schemas.openxmlformats.org/drawingml/2006/main">
            <a:pPr algn="l">
              <a:defRPr sz="1350" b="0">
                <a:solidFill>
                  <a:srgbClr val="243127"/>
                </a:solidFill>
              </a:defRPr>
            </a:pPr>
            <a:r>
              <a:rPr sz="1350" b="0">
                <a:solidFill>
                  <a:srgbClr val="243127"/>
                </a:solidFill>
              </a:rPr>
              <a:t>• The result is read-only and reviewable</a:t>
            </a:r>
          </a:p>
        </p:txBody>
      </p:sp>
      <p:sp>
        <p:nvSpPr>
          <p:cNvPr id="25" name="">
            <a:extLst xmlns:a="http://schemas.openxmlformats.org/drawingml/2006/main">
              <a:ext uri="{FF2B5EF4-FFF2-40B4-BE49-F238E27FC236}">
                <a16:creationId xmlns:a16="http://schemas.microsoft.com/office/drawing/2014/main" id="{273C9D68-ED43-4A9C-94B6-3824A14CE9F6}"/>
              </a:ext>
            </a:extLst>
          </p:cNvPr>
          <p:cNvSpPr>
            <a:spLocks xmlns:a="http://schemas.openxmlformats.org/drawingml/2006/main" noGrp="1"/>
          </p:cNvSpPr>
          <p:nvPr/>
        </p:nvSpPr>
        <p:spPr>
          <a:xfrm xmlns:a="http://schemas.openxmlformats.org/drawingml/2006/main">
            <a:off x="6496050" y="1543050"/>
            <a:ext cx="4914900" cy="3867150"/>
          </a:xfrm>
          <a:prstGeom xmlns:a="http://schemas.openxmlformats.org/drawingml/2006/main" prst="roundRect">
            <a:avLst>
              <a:gd name="adj" fmla="val 3941"/>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2a8ddfa3b0414262"/>
          <a:srcRect xmlns:a="http://schemas.openxmlformats.org/drawingml/2006/main" l="13949" t="0" r="13949" b="0"/>
          <a:stretch xmlns:a="http://schemas.openxmlformats.org/drawingml/2006/main">
            <a:fillRect l="0" t="0" r="0" b="0"/>
          </a:stretch>
        </p:blipFill>
        <p:spPr>
          <a:xfrm xmlns:a="http://schemas.openxmlformats.org/drawingml/2006/main">
            <a:off x="6572250" y="1619250"/>
            <a:ext cx="4762500" cy="3714750"/>
          </a:xfrm>
          <a:prstGeom xmlns:a="http://schemas.openxmlformats.org/drawingml/2006/main" prst="roundRect">
            <a:avLst>
              <a:gd name="adj" fmla="val 3077"/>
            </a:avLst>
          </a:prstGeom>
        </p:spPr>
      </p:pic>
      <p:sp>
        <p:nvSpPr>
          <p:cNvPr id="27" name="">
            <a:extLst xmlns:a="http://schemas.openxmlformats.org/drawingml/2006/main">
              <a:ext uri="{FF2B5EF4-FFF2-40B4-BE49-F238E27FC236}">
                <a16:creationId xmlns:a16="http://schemas.microsoft.com/office/drawing/2014/main" id="{B99A4198-3F76-42E4-9F43-BFE80A5B4A93}"/>
              </a:ext>
            </a:extLst>
          </p:cNvPr>
          <p:cNvSpPr>
            <a:spLocks xmlns:a="http://schemas.openxmlformats.org/drawingml/2006/main" noGrp="1"/>
          </p:cNvSpPr>
          <p:nvPr/>
        </p:nvSpPr>
        <p:spPr>
          <a:xfrm xmlns:a="http://schemas.openxmlformats.org/drawingml/2006/main">
            <a:off x="6743700" y="5619750"/>
            <a:ext cx="1238250" cy="323850"/>
          </a:xfrm>
          <a:prstGeom xmlns:a="http://schemas.openxmlformats.org/drawingml/2006/main" prst="roundRect">
            <a:avLst>
              <a:gd name="adj" fmla="val 50000"/>
            </a:avLst>
          </a:prstGeom>
          <a:solidFill xmlns:a="http://schemas.openxmlformats.org/drawingml/2006/main">
            <a:srgbClr val="E9ECE2"/>
          </a:solidFill>
          <a:ln xmlns:a="http://schemas.openxmlformats.org/drawingml/2006/main" w="0">
            <a:solidFill>
              <a:srgbClr val="E9ECE2"/>
            </a:solidFill>
            <a:prstDash val="solid"/>
          </a:ln>
        </p:spPr>
      </p:sp>
      <p:sp>
        <p:nvSpPr>
          <p:cNvPr id="28" name="">
            <a:extLst xmlns:a="http://schemas.openxmlformats.org/drawingml/2006/main">
              <a:ext uri="{FF2B5EF4-FFF2-40B4-BE49-F238E27FC236}">
                <a16:creationId xmlns:a16="http://schemas.microsoft.com/office/drawing/2014/main" id="{D67B53A8-416B-4FD6-A4BE-027FCE3784EF}"/>
              </a:ext>
            </a:extLst>
          </p:cNvPr>
          <p:cNvSpPr>
            <a:spLocks xmlns:a="http://schemas.openxmlformats.org/drawingml/2006/main" noGrp="1"/>
          </p:cNvSpPr>
          <p:nvPr/>
        </p:nvSpPr>
        <p:spPr>
          <a:xfrm xmlns:a="http://schemas.openxmlformats.org/drawingml/2006/main">
            <a:off x="6858000" y="5686425"/>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7531B"/>
                </a:solidFill>
              </a:defRPr>
            </a:pPr>
            <a:r>
              <a:rPr sz="1050" b="1">
                <a:solidFill>
                  <a:srgbClr val="17531B"/>
                </a:solidFill>
              </a:rPr>
              <a:t>Read-only</a:t>
            </a:r>
          </a:p>
        </p:txBody>
      </p:sp>
      <p:sp>
        <p:nvSpPr>
          <p:cNvPr id="29" name="">
            <a:extLst xmlns:a="http://schemas.openxmlformats.org/drawingml/2006/main">
              <a:ext uri="{FF2B5EF4-FFF2-40B4-BE49-F238E27FC236}">
                <a16:creationId xmlns:a16="http://schemas.microsoft.com/office/drawing/2014/main" id="{BC75CFBA-4BEF-4E70-9321-5E70080E60E3}"/>
              </a:ext>
            </a:extLst>
          </p:cNvPr>
          <p:cNvSpPr>
            <a:spLocks xmlns:a="http://schemas.openxmlformats.org/drawingml/2006/main" noGrp="1"/>
          </p:cNvSpPr>
          <p:nvPr/>
        </p:nvSpPr>
        <p:spPr>
          <a:xfrm xmlns:a="http://schemas.openxmlformats.org/drawingml/2006/main">
            <a:off x="8153400" y="5619750"/>
            <a:ext cx="1619250" cy="323850"/>
          </a:xfrm>
          <a:prstGeom xmlns:a="http://schemas.openxmlformats.org/drawingml/2006/main" prst="roundRect">
            <a:avLst>
              <a:gd name="adj" fmla="val 50000"/>
            </a:avLst>
          </a:prstGeom>
          <a:solidFill xmlns:a="http://schemas.openxmlformats.org/drawingml/2006/main">
            <a:srgbClr val="E9ECE2"/>
          </a:solidFill>
          <a:ln xmlns:a="http://schemas.openxmlformats.org/drawingml/2006/main" w="0">
            <a:solidFill>
              <a:srgbClr val="E9ECE2"/>
            </a:solidFill>
            <a:prstDash val="solid"/>
          </a:ln>
        </p:spPr>
      </p:sp>
      <p:sp>
        <p:nvSpPr>
          <p:cNvPr id="30" name="">
            <a:extLst xmlns:a="http://schemas.openxmlformats.org/drawingml/2006/main">
              <a:ext uri="{FF2B5EF4-FFF2-40B4-BE49-F238E27FC236}">
                <a16:creationId xmlns:a16="http://schemas.microsoft.com/office/drawing/2014/main" id="{618DDF73-F1BB-4157-8A64-1B5208917716}"/>
              </a:ext>
            </a:extLst>
          </p:cNvPr>
          <p:cNvSpPr>
            <a:spLocks xmlns:a="http://schemas.openxmlformats.org/drawingml/2006/main" noGrp="1"/>
          </p:cNvSpPr>
          <p:nvPr/>
        </p:nvSpPr>
        <p:spPr>
          <a:xfrm xmlns:a="http://schemas.openxmlformats.org/drawingml/2006/main">
            <a:off x="8267700" y="5686425"/>
            <a:ext cx="1390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7531B"/>
                </a:solidFill>
              </a:defRPr>
            </a:pPr>
            <a:r>
              <a:rPr sz="1050" b="1">
                <a:solidFill>
                  <a:srgbClr val="17531B"/>
                </a:solidFill>
              </a:rPr>
              <a:t>Strict JSON Schema</a:t>
            </a:r>
          </a:p>
        </p:txBody>
      </p:sp>
      <p:sp>
        <p:nvSpPr>
          <p:cNvPr id="31" name="">
            <a:extLst xmlns:a="http://schemas.openxmlformats.org/drawingml/2006/main">
              <a:ext uri="{FF2B5EF4-FFF2-40B4-BE49-F238E27FC236}">
                <a16:creationId xmlns:a16="http://schemas.microsoft.com/office/drawing/2014/main" id="{0198F31E-6C59-4A3F-B467-008E2CF5D935}"/>
              </a:ext>
            </a:extLst>
          </p:cNvPr>
          <p:cNvSpPr>
            <a:spLocks xmlns:a="http://schemas.openxmlformats.org/drawingml/2006/main" noGrp="1"/>
          </p:cNvSpPr>
          <p:nvPr/>
        </p:nvSpPr>
        <p:spPr>
          <a:xfrm xmlns:a="http://schemas.openxmlformats.org/drawingml/2006/main">
            <a:off x="9944100" y="5619750"/>
            <a:ext cx="1238250" cy="323850"/>
          </a:xfrm>
          <a:prstGeom xmlns:a="http://schemas.openxmlformats.org/drawingml/2006/main" prst="roundRect">
            <a:avLst>
              <a:gd name="adj" fmla="val 50000"/>
            </a:avLst>
          </a:prstGeom>
          <a:solidFill xmlns:a="http://schemas.openxmlformats.org/drawingml/2006/main">
            <a:srgbClr val="E9ECE2"/>
          </a:solidFill>
          <a:ln xmlns:a="http://schemas.openxmlformats.org/drawingml/2006/main" w="0">
            <a:solidFill>
              <a:srgbClr val="E9ECE2"/>
            </a:solidFill>
            <a:prstDash val="solid"/>
          </a:ln>
        </p:spPr>
      </p:sp>
      <p:sp>
        <p:nvSpPr>
          <p:cNvPr id="32" name="">
            <a:extLst xmlns:a="http://schemas.openxmlformats.org/drawingml/2006/main">
              <a:ext uri="{FF2B5EF4-FFF2-40B4-BE49-F238E27FC236}">
                <a16:creationId xmlns:a16="http://schemas.microsoft.com/office/drawing/2014/main" id="{5550FD6D-AE40-4DA8-9E29-E314741F0D55}"/>
              </a:ext>
            </a:extLst>
          </p:cNvPr>
          <p:cNvSpPr>
            <a:spLocks xmlns:a="http://schemas.openxmlformats.org/drawingml/2006/main" noGrp="1"/>
          </p:cNvSpPr>
          <p:nvPr/>
        </p:nvSpPr>
        <p:spPr>
          <a:xfrm xmlns:a="http://schemas.openxmlformats.org/drawingml/2006/main">
            <a:off x="10058400" y="5686425"/>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7531B"/>
                </a:solidFill>
              </a:defRPr>
            </a:pPr>
            <a:r>
              <a:rPr sz="1050" b="1">
                <a:solidFill>
                  <a:srgbClr val="17531B"/>
                </a:solidFill>
              </a:rPr>
              <a:t>Citations</a:t>
            </a:r>
          </a:p>
        </p:txBody>
      </p:sp>
      <p:sp>
        <p:nvSpPr>
          <p:cNvPr id="33" name="">
            <a:extLst xmlns:a="http://schemas.openxmlformats.org/drawingml/2006/main">
              <a:ext uri="{FF2B5EF4-FFF2-40B4-BE49-F238E27FC236}">
                <a16:creationId xmlns:a16="http://schemas.microsoft.com/office/drawing/2014/main" id="{B03BF760-F10F-4BE6-AD89-C6BC0DB1E598}"/>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8CE"/>
          </a:solidFill>
          <a:ln xmlns:a="http://schemas.openxmlformats.org/drawingml/2006/main" w="0">
            <a:solidFill>
              <a:srgbClr val="D7D8CE"/>
            </a:solidFill>
            <a:prstDash val="solid"/>
          </a:ln>
        </p:spPr>
      </p:sp>
      <p:sp>
        <p:nvSpPr>
          <p:cNvPr id="34" name="">
            <a:extLst xmlns:a="http://schemas.openxmlformats.org/drawingml/2006/main">
              <a:ext uri="{FF2B5EF4-FFF2-40B4-BE49-F238E27FC236}">
                <a16:creationId xmlns:a16="http://schemas.microsoft.com/office/drawing/2014/main" id="{B754A9F9-A273-4CAE-B481-41FC3359B68E}"/>
              </a:ext>
            </a:extLst>
          </p:cNvPr>
          <p:cNvSpPr>
            <a:spLocks xmlns:a="http://schemas.openxmlformats.org/drawingml/2006/main" noGrp="1"/>
          </p:cNvSpPr>
          <p:nvPr/>
        </p:nvSpPr>
        <p:spPr>
          <a:xfrm xmlns:a="http://schemas.openxmlformats.org/drawingml/2006/main">
            <a:off x="685800" y="65246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17064"/>
                </a:solidFill>
              </a:defRPr>
            </a:pPr>
            <a:r>
              <a:rPr sz="825" b="1">
                <a:solidFill>
                  <a:srgbClr val="617064"/>
                </a:solidFill>
              </a:rPr>
              <a:t>INSIGHT TRACKER</a:t>
            </a:r>
          </a:p>
        </p:txBody>
      </p:sp>
      <p:sp>
        <p:nvSpPr>
          <p:cNvPr id="35" name="">
            <a:extLst xmlns:a="http://schemas.openxmlformats.org/drawingml/2006/main">
              <a:ext uri="{FF2B5EF4-FFF2-40B4-BE49-F238E27FC236}">
                <a16:creationId xmlns:a16="http://schemas.microsoft.com/office/drawing/2014/main" id="{909CC86B-D4DB-47D4-A5FE-50E23F8CBD7E}"/>
              </a:ext>
            </a:extLst>
          </p:cNvPr>
          <p:cNvSpPr>
            <a:spLocks xmlns:a="http://schemas.openxmlformats.org/drawingml/2006/main" noGrp="1"/>
          </p:cNvSpPr>
          <p:nvPr/>
        </p:nvSpPr>
        <p:spPr>
          <a:xfrm xmlns:a="http://schemas.openxmlformats.org/drawingml/2006/main">
            <a:off x="11049000" y="65055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17064"/>
                </a:solidFill>
              </a:defRPr>
            </a:pPr>
            <a:r>
              <a:rPr sz="900" b="1">
                <a:solidFill>
                  <a:srgbClr val="617064"/>
                </a:solidFill>
              </a:rPr>
              <a:t>05</a:t>
            </a:r>
          </a:p>
        </p:txBody>
      </p:sp>
    </p:spTree>
    <p:extLst>
      <p:ext uri="{BB962C8B-B14F-4D97-AF65-F5344CB8AC3E}">
        <p14:creationId xmlns:p14="http://schemas.microsoft.com/office/powerpoint/2010/main" val="212731379"/>
      </p:ext>
    </p:extLst>
  </p:cSld>
</p:sld>
</file>

<file path=ppt/slides/slide6.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43" name="kicker-6">
            <a:extLst xmlns:a="http://schemas.openxmlformats.org/drawingml/2006/main">
              <a:ext uri="{FF2B5EF4-FFF2-40B4-BE49-F238E27FC236}">
                <a16:creationId xmlns:a16="http://schemas.microsoft.com/office/drawing/2014/main" id="{C8A62AAD-8B93-468C-A26E-EB832132B0BA}"/>
              </a:ext>
            </a:extLst>
          </p:cNvPr>
          <p:cNvSpPr>
            <a:spLocks xmlns:a="http://schemas.openxmlformats.org/drawingml/2006/main" noGrp="1"/>
          </p:cNvSpPr>
          <p:nvPr/>
        </p:nvSpPr>
        <p:spPr>
          <a:xfrm xmlns:a="http://schemas.openxmlformats.org/drawingml/2006/main">
            <a:off x="685800" y="400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7531B"/>
                </a:solidFill>
              </a:defRPr>
            </a:pPr>
            <a:r>
              <a:rPr sz="1050" b="1">
                <a:solidFill>
                  <a:srgbClr val="17531B"/>
                </a:solidFill>
              </a:rPr>
              <a:t>EVIDENCE ENGINEERING</a:t>
            </a:r>
          </a:p>
        </p:txBody>
      </p:sp>
      <p:sp>
        <p:nvSpPr>
          <p:cNvPr id="2" name="title-6">
            <a:extLst xmlns:a="http://schemas.openxmlformats.org/drawingml/2006/main">
              <a:ext uri="{FF2B5EF4-FFF2-40B4-BE49-F238E27FC236}">
                <a16:creationId xmlns:a16="http://schemas.microsoft.com/office/drawing/2014/main" id="{8B69C455-9D78-4476-9197-33C4136AE3EE}"/>
              </a:ext>
            </a:extLst>
          </p:cNvPr>
          <p:cNvSpPr>
            <a:spLocks xmlns:a="http://schemas.openxmlformats.org/drawingml/2006/main" noGrp="1"/>
          </p:cNvSpPr>
          <p:nvPr/>
        </p:nvSpPr>
        <p:spPr>
          <a:xfrm xmlns:a="http://schemas.openxmlformats.org/drawingml/2006/main">
            <a:off x="685800" y="742950"/>
            <a:ext cx="10744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43127"/>
                </a:solidFill>
              </a:defRPr>
            </a:pPr>
            <a:r>
              <a:rPr sz="2850" b="1">
                <a:solidFill>
                  <a:srgbClr val="243127"/>
                </a:solidFill>
              </a:rPr>
              <a:t>Most AI safety happens before and after the model</a:t>
            </a:r>
          </a:p>
        </p:txBody>
      </p:sp>
      <p:sp>
        <p:nvSpPr>
          <p:cNvPr id="3" name="">
            <a:extLst xmlns:a="http://schemas.openxmlformats.org/drawingml/2006/main">
              <a:ext uri="{FF2B5EF4-FFF2-40B4-BE49-F238E27FC236}">
                <a16:creationId xmlns:a16="http://schemas.microsoft.com/office/drawing/2014/main" id="{FC93C0E5-0158-45CA-A99B-C3751D28BB28}"/>
              </a:ext>
            </a:extLst>
          </p:cNvPr>
          <p:cNvSpPr>
            <a:spLocks xmlns:a="http://schemas.openxmlformats.org/drawingml/2006/main" noGrp="1"/>
          </p:cNvSpPr>
          <p:nvPr/>
        </p:nvSpPr>
        <p:spPr>
          <a:xfrm xmlns:a="http://schemas.openxmlformats.org/drawingml/2006/main">
            <a:off x="685800" y="1619250"/>
            <a:ext cx="3048000" cy="390525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F58CE192-6D1A-4442-8E01-8D44147E155B}"/>
              </a:ext>
            </a:extLst>
          </p:cNvPr>
          <p:cNvSpPr>
            <a:spLocks xmlns:a="http://schemas.openxmlformats.org/drawingml/2006/main" noGrp="1"/>
          </p:cNvSpPr>
          <p:nvPr/>
        </p:nvSpPr>
        <p:spPr>
          <a:xfrm xmlns:a="http://schemas.openxmlformats.org/drawingml/2006/main">
            <a:off x="914400" y="1885950"/>
            <a:ext cx="514350" cy="51435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5" name="">
            <a:extLst xmlns:a="http://schemas.openxmlformats.org/drawingml/2006/main">
              <a:ext uri="{FF2B5EF4-FFF2-40B4-BE49-F238E27FC236}">
                <a16:creationId xmlns:a16="http://schemas.microsoft.com/office/drawing/2014/main" id="{B200E5AE-C3E6-4534-9B02-DA6EA3EE13D8}"/>
              </a:ext>
            </a:extLst>
          </p:cNvPr>
          <p:cNvSpPr>
            <a:spLocks xmlns:a="http://schemas.openxmlformats.org/drawingml/2006/main" noGrp="1"/>
          </p:cNvSpPr>
          <p:nvPr/>
        </p:nvSpPr>
        <p:spPr>
          <a:xfrm xmlns:a="http://schemas.openxmlformats.org/drawingml/2006/main">
            <a:off x="914400" y="202882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1</a:t>
            </a:r>
          </a:p>
        </p:txBody>
      </p:sp>
      <p:sp>
        <p:nvSpPr>
          <p:cNvPr id="6" name="">
            <a:extLst xmlns:a="http://schemas.openxmlformats.org/drawingml/2006/main">
              <a:ext uri="{FF2B5EF4-FFF2-40B4-BE49-F238E27FC236}">
                <a16:creationId xmlns:a16="http://schemas.microsoft.com/office/drawing/2014/main" id="{83137A74-AC6C-4453-9A13-DDD84D9785F1}"/>
              </a:ext>
            </a:extLst>
          </p:cNvPr>
          <p:cNvSpPr>
            <a:spLocks xmlns:a="http://schemas.openxmlformats.org/drawingml/2006/main" noGrp="1"/>
          </p:cNvSpPr>
          <p:nvPr/>
        </p:nvSpPr>
        <p:spPr>
          <a:xfrm xmlns:a="http://schemas.openxmlformats.org/drawingml/2006/main">
            <a:off x="1600200" y="1952625"/>
            <a:ext cx="1857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7531B"/>
                </a:solidFill>
              </a:defRPr>
            </a:pPr>
            <a:r>
              <a:rPr sz="1800" b="1">
                <a:solidFill>
                  <a:srgbClr val="17531B"/>
                </a:solidFill>
              </a:rPr>
              <a:t>Before Groq</a:t>
            </a:r>
          </a:p>
        </p:txBody>
      </p:sp>
      <p:sp>
        <p:nvSpPr>
          <p:cNvPr id="7" name="">
            <a:extLst xmlns:a="http://schemas.openxmlformats.org/drawingml/2006/main">
              <a:ext uri="{FF2B5EF4-FFF2-40B4-BE49-F238E27FC236}">
                <a16:creationId xmlns:a16="http://schemas.microsoft.com/office/drawing/2014/main" id="{00F49BAD-CE52-4CBF-A101-D9B4FC670680}"/>
              </a:ext>
            </a:extLst>
          </p:cNvPr>
          <p:cNvSpPr>
            <a:spLocks xmlns:a="http://schemas.openxmlformats.org/drawingml/2006/main" noGrp="1"/>
          </p:cNvSpPr>
          <p:nvPr/>
        </p:nvSpPr>
        <p:spPr>
          <a:xfrm xmlns:a="http://schemas.openxmlformats.org/drawingml/2006/main">
            <a:off x="952500" y="2857500"/>
            <a:ext cx="85725" cy="85725"/>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8" name="">
            <a:extLst xmlns:a="http://schemas.openxmlformats.org/drawingml/2006/main">
              <a:ext uri="{FF2B5EF4-FFF2-40B4-BE49-F238E27FC236}">
                <a16:creationId xmlns:a16="http://schemas.microsoft.com/office/drawing/2014/main" id="{8C7E3CAB-2F9B-4F98-AE77-9DEA553E6FEF}"/>
              </a:ext>
            </a:extLst>
          </p:cNvPr>
          <p:cNvSpPr>
            <a:spLocks xmlns:a="http://schemas.openxmlformats.org/drawingml/2006/main" noGrp="1"/>
          </p:cNvSpPr>
          <p:nvPr/>
        </p:nvSpPr>
        <p:spPr>
          <a:xfrm xmlns:a="http://schemas.openxmlformats.org/drawingml/2006/main">
            <a:off x="1181100" y="2781300"/>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127"/>
                </a:solidFill>
              </a:defRPr>
            </a:pPr>
            <a:r>
              <a:rPr sz="1275" b="0">
                <a:solidFill>
                  <a:srgbClr val="243127"/>
                </a:solidFill>
              </a:rPr>
              <a:t>Recheck user and project scope</a:t>
            </a:r>
          </a:p>
        </p:txBody>
      </p:sp>
      <p:sp>
        <p:nvSpPr>
          <p:cNvPr id="9" name="">
            <a:extLst xmlns:a="http://schemas.openxmlformats.org/drawingml/2006/main">
              <a:ext uri="{FF2B5EF4-FFF2-40B4-BE49-F238E27FC236}">
                <a16:creationId xmlns:a16="http://schemas.microsoft.com/office/drawing/2014/main" id="{587C68BB-33E5-44CA-8E4C-FA4261671168}"/>
              </a:ext>
            </a:extLst>
          </p:cNvPr>
          <p:cNvSpPr>
            <a:spLocks xmlns:a="http://schemas.openxmlformats.org/drawingml/2006/main" noGrp="1"/>
          </p:cNvSpPr>
          <p:nvPr/>
        </p:nvSpPr>
        <p:spPr>
          <a:xfrm xmlns:a="http://schemas.openxmlformats.org/drawingml/2006/main">
            <a:off x="952500" y="3448050"/>
            <a:ext cx="85725" cy="85725"/>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10" name="">
            <a:extLst xmlns:a="http://schemas.openxmlformats.org/drawingml/2006/main">
              <a:ext uri="{FF2B5EF4-FFF2-40B4-BE49-F238E27FC236}">
                <a16:creationId xmlns:a16="http://schemas.microsoft.com/office/drawing/2014/main" id="{3E45FC06-AD62-4889-AB3D-AB116D165911}"/>
              </a:ext>
            </a:extLst>
          </p:cNvPr>
          <p:cNvSpPr>
            <a:spLocks xmlns:a="http://schemas.openxmlformats.org/drawingml/2006/main" noGrp="1"/>
          </p:cNvSpPr>
          <p:nvPr/>
        </p:nvSpPr>
        <p:spPr>
          <a:xfrm xmlns:a="http://schemas.openxmlformats.org/drawingml/2006/main">
            <a:off x="1181100" y="3371850"/>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127"/>
                </a:solidFill>
              </a:defRPr>
            </a:pPr>
            <a:r>
              <a:rPr sz="1275" b="0">
                <a:solidFill>
                  <a:srgbClr val="243127"/>
                </a:solidFill>
              </a:rPr>
              <a:t>Exclude sensitive domains</a:t>
            </a:r>
          </a:p>
        </p:txBody>
      </p:sp>
      <p:sp>
        <p:nvSpPr>
          <p:cNvPr id="11" name="">
            <a:extLst xmlns:a="http://schemas.openxmlformats.org/drawingml/2006/main">
              <a:ext uri="{FF2B5EF4-FFF2-40B4-BE49-F238E27FC236}">
                <a16:creationId xmlns:a16="http://schemas.microsoft.com/office/drawing/2014/main" id="{A4CC2505-8DD2-4BA3-8B94-4FC4B9172A29}"/>
              </a:ext>
            </a:extLst>
          </p:cNvPr>
          <p:cNvSpPr>
            <a:spLocks xmlns:a="http://schemas.openxmlformats.org/drawingml/2006/main" noGrp="1"/>
          </p:cNvSpPr>
          <p:nvPr/>
        </p:nvSpPr>
        <p:spPr>
          <a:xfrm xmlns:a="http://schemas.openxmlformats.org/drawingml/2006/main">
            <a:off x="952500" y="4038600"/>
            <a:ext cx="85725" cy="85725"/>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12" name="">
            <a:extLst xmlns:a="http://schemas.openxmlformats.org/drawingml/2006/main">
              <a:ext uri="{FF2B5EF4-FFF2-40B4-BE49-F238E27FC236}">
                <a16:creationId xmlns:a16="http://schemas.microsoft.com/office/drawing/2014/main" id="{75AC6D85-ADFF-49B7-A332-09A057A22B00}"/>
              </a:ext>
            </a:extLst>
          </p:cNvPr>
          <p:cNvSpPr>
            <a:spLocks xmlns:a="http://schemas.openxmlformats.org/drawingml/2006/main" noGrp="1"/>
          </p:cNvSpPr>
          <p:nvPr/>
        </p:nvSpPr>
        <p:spPr>
          <a:xfrm xmlns:a="http://schemas.openxmlformats.org/drawingml/2006/main">
            <a:off x="1181100" y="3962400"/>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127"/>
                </a:solidFill>
              </a:defRPr>
            </a:pPr>
            <a:r>
              <a:rPr sz="1275" b="0">
                <a:solidFill>
                  <a:srgbClr val="243127"/>
                </a:solidFill>
              </a:rPr>
              <a:t>Rank and cap evidence</a:t>
            </a:r>
          </a:p>
        </p:txBody>
      </p:sp>
      <p:sp>
        <p:nvSpPr>
          <p:cNvPr id="13" name="">
            <a:extLst xmlns:a="http://schemas.openxmlformats.org/drawingml/2006/main">
              <a:ext uri="{FF2B5EF4-FFF2-40B4-BE49-F238E27FC236}">
                <a16:creationId xmlns:a16="http://schemas.microsoft.com/office/drawing/2014/main" id="{454AE665-8035-4A02-B161-D9A566409090}"/>
              </a:ext>
            </a:extLst>
          </p:cNvPr>
          <p:cNvSpPr>
            <a:spLocks xmlns:a="http://schemas.openxmlformats.org/drawingml/2006/main" noGrp="1"/>
          </p:cNvSpPr>
          <p:nvPr/>
        </p:nvSpPr>
        <p:spPr>
          <a:xfrm xmlns:a="http://schemas.openxmlformats.org/drawingml/2006/main">
            <a:off x="952500" y="4629150"/>
            <a:ext cx="85725" cy="85725"/>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14" name="">
            <a:extLst xmlns:a="http://schemas.openxmlformats.org/drawingml/2006/main">
              <a:ext uri="{FF2B5EF4-FFF2-40B4-BE49-F238E27FC236}">
                <a16:creationId xmlns:a16="http://schemas.microsoft.com/office/drawing/2014/main" id="{636681A0-6EA1-42CC-9CF6-73DAD7212529}"/>
              </a:ext>
            </a:extLst>
          </p:cNvPr>
          <p:cNvSpPr>
            <a:spLocks xmlns:a="http://schemas.openxmlformats.org/drawingml/2006/main" noGrp="1"/>
          </p:cNvSpPr>
          <p:nvPr/>
        </p:nvSpPr>
        <p:spPr>
          <a:xfrm xmlns:a="http://schemas.openxmlformats.org/drawingml/2006/main">
            <a:off x="1181100" y="4552950"/>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127"/>
                </a:solidFill>
              </a:defRPr>
            </a:pPr>
            <a:r>
              <a:rPr sz="1275" b="0">
                <a:solidFill>
                  <a:srgbClr val="243127"/>
                </a:solidFill>
              </a:rPr>
              <a:t>Label database text as untrusted</a:t>
            </a:r>
          </a:p>
        </p:txBody>
      </p:sp>
      <p:sp>
        <p:nvSpPr>
          <p:cNvPr id="15" name="">
            <a:extLst xmlns:a="http://schemas.openxmlformats.org/drawingml/2006/main">
              <a:ext uri="{FF2B5EF4-FFF2-40B4-BE49-F238E27FC236}">
                <a16:creationId xmlns:a16="http://schemas.microsoft.com/office/drawing/2014/main" id="{89C45C82-B8F1-4FD4-A0DA-169AB25C5673}"/>
              </a:ext>
            </a:extLst>
          </p:cNvPr>
          <p:cNvSpPr>
            <a:spLocks xmlns:a="http://schemas.openxmlformats.org/drawingml/2006/main" noGrp="1"/>
          </p:cNvSpPr>
          <p:nvPr/>
        </p:nvSpPr>
        <p:spPr>
          <a:xfrm xmlns:a="http://schemas.openxmlformats.org/drawingml/2006/main">
            <a:off x="4095750" y="1619250"/>
            <a:ext cx="3048000" cy="390525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84623FFD-8EF1-4AC8-846A-472DC450A54C}"/>
              </a:ext>
            </a:extLst>
          </p:cNvPr>
          <p:cNvSpPr>
            <a:spLocks xmlns:a="http://schemas.openxmlformats.org/drawingml/2006/main" noGrp="1"/>
          </p:cNvSpPr>
          <p:nvPr/>
        </p:nvSpPr>
        <p:spPr>
          <a:xfrm xmlns:a="http://schemas.openxmlformats.org/drawingml/2006/main">
            <a:off x="4324350" y="1885950"/>
            <a:ext cx="514350" cy="514350"/>
          </a:xfrm>
          <a:prstGeom xmlns:a="http://schemas.openxmlformats.org/drawingml/2006/main" prst="ellipse">
            <a:avLst/>
          </a:prstGeom>
          <a:solidFill xmlns:a="http://schemas.openxmlformats.org/drawingml/2006/main">
            <a:srgbClr val="819067"/>
          </a:solidFill>
          <a:ln xmlns:a="http://schemas.openxmlformats.org/drawingml/2006/main" w="0">
            <a:solidFill>
              <a:srgbClr val="819067"/>
            </a:solidFill>
            <a:prstDash val="solid"/>
          </a:ln>
        </p:spPr>
      </p:sp>
      <p:sp>
        <p:nvSpPr>
          <p:cNvPr id="17" name="">
            <a:extLst xmlns:a="http://schemas.openxmlformats.org/drawingml/2006/main">
              <a:ext uri="{FF2B5EF4-FFF2-40B4-BE49-F238E27FC236}">
                <a16:creationId xmlns:a16="http://schemas.microsoft.com/office/drawing/2014/main" id="{E2261563-E836-4DAE-9DDE-E29FDBC63E0C}"/>
              </a:ext>
            </a:extLst>
          </p:cNvPr>
          <p:cNvSpPr>
            <a:spLocks xmlns:a="http://schemas.openxmlformats.org/drawingml/2006/main" noGrp="1"/>
          </p:cNvSpPr>
          <p:nvPr/>
        </p:nvSpPr>
        <p:spPr>
          <a:xfrm xmlns:a="http://schemas.openxmlformats.org/drawingml/2006/main">
            <a:off x="4324350" y="202882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2</a:t>
            </a:r>
          </a:p>
        </p:txBody>
      </p:sp>
      <p:sp>
        <p:nvSpPr>
          <p:cNvPr id="18" name="">
            <a:extLst xmlns:a="http://schemas.openxmlformats.org/drawingml/2006/main">
              <a:ext uri="{FF2B5EF4-FFF2-40B4-BE49-F238E27FC236}">
                <a16:creationId xmlns:a16="http://schemas.microsoft.com/office/drawing/2014/main" id="{D64BE10B-590F-49C3-A61F-C9E5C8A627C5}"/>
              </a:ext>
            </a:extLst>
          </p:cNvPr>
          <p:cNvSpPr>
            <a:spLocks xmlns:a="http://schemas.openxmlformats.org/drawingml/2006/main" noGrp="1"/>
          </p:cNvSpPr>
          <p:nvPr/>
        </p:nvSpPr>
        <p:spPr>
          <a:xfrm xmlns:a="http://schemas.openxmlformats.org/drawingml/2006/main">
            <a:off x="5010150" y="1952625"/>
            <a:ext cx="1857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819067"/>
                </a:solidFill>
              </a:defRPr>
            </a:pPr>
            <a:r>
              <a:rPr sz="1800" b="1">
                <a:solidFill>
                  <a:srgbClr val="819067"/>
                </a:solidFill>
              </a:rPr>
              <a:t>Inside Groq</a:t>
            </a:r>
          </a:p>
        </p:txBody>
      </p:sp>
      <p:sp>
        <p:nvSpPr>
          <p:cNvPr id="19" name="">
            <a:extLst xmlns:a="http://schemas.openxmlformats.org/drawingml/2006/main">
              <a:ext uri="{FF2B5EF4-FFF2-40B4-BE49-F238E27FC236}">
                <a16:creationId xmlns:a16="http://schemas.microsoft.com/office/drawing/2014/main" id="{F6AB5C9E-653F-41F9-A643-6F29F077707A}"/>
              </a:ext>
            </a:extLst>
          </p:cNvPr>
          <p:cNvSpPr>
            <a:spLocks xmlns:a="http://schemas.openxmlformats.org/drawingml/2006/main" noGrp="1"/>
          </p:cNvSpPr>
          <p:nvPr/>
        </p:nvSpPr>
        <p:spPr>
          <a:xfrm xmlns:a="http://schemas.openxmlformats.org/drawingml/2006/main">
            <a:off x="4362450" y="2857500"/>
            <a:ext cx="85725" cy="85725"/>
          </a:xfrm>
          <a:prstGeom xmlns:a="http://schemas.openxmlformats.org/drawingml/2006/main" prst="ellipse">
            <a:avLst/>
          </a:prstGeom>
          <a:solidFill xmlns:a="http://schemas.openxmlformats.org/drawingml/2006/main">
            <a:srgbClr val="819067"/>
          </a:solidFill>
          <a:ln xmlns:a="http://schemas.openxmlformats.org/drawingml/2006/main" w="0">
            <a:solidFill>
              <a:srgbClr val="819067"/>
            </a:solidFill>
            <a:prstDash val="solid"/>
          </a:ln>
        </p:spPr>
      </p:sp>
      <p:sp>
        <p:nvSpPr>
          <p:cNvPr id="20" name="">
            <a:extLst xmlns:a="http://schemas.openxmlformats.org/drawingml/2006/main">
              <a:ext uri="{FF2B5EF4-FFF2-40B4-BE49-F238E27FC236}">
                <a16:creationId xmlns:a16="http://schemas.microsoft.com/office/drawing/2014/main" id="{AB174834-1ED5-46B1-BCC9-17CEBABDC227}"/>
              </a:ext>
            </a:extLst>
          </p:cNvPr>
          <p:cNvSpPr>
            <a:spLocks xmlns:a="http://schemas.openxmlformats.org/drawingml/2006/main" noGrp="1"/>
          </p:cNvSpPr>
          <p:nvPr/>
        </p:nvSpPr>
        <p:spPr>
          <a:xfrm xmlns:a="http://schemas.openxmlformats.org/drawingml/2006/main">
            <a:off x="4591050" y="2781300"/>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127"/>
                </a:solidFill>
              </a:defRPr>
            </a:pPr>
            <a:r>
              <a:rPr sz="1275" b="0">
                <a:solidFill>
                  <a:srgbClr val="243127"/>
                </a:solidFill>
              </a:rPr>
              <a:t>Approved GPT-OSS model only</a:t>
            </a:r>
          </a:p>
        </p:txBody>
      </p:sp>
      <p:sp>
        <p:nvSpPr>
          <p:cNvPr id="21" name="">
            <a:extLst xmlns:a="http://schemas.openxmlformats.org/drawingml/2006/main">
              <a:ext uri="{FF2B5EF4-FFF2-40B4-BE49-F238E27FC236}">
                <a16:creationId xmlns:a16="http://schemas.microsoft.com/office/drawing/2014/main" id="{12DD9E95-9BB4-48D7-904A-79227E0D51F3}"/>
              </a:ext>
            </a:extLst>
          </p:cNvPr>
          <p:cNvSpPr>
            <a:spLocks xmlns:a="http://schemas.openxmlformats.org/drawingml/2006/main" noGrp="1"/>
          </p:cNvSpPr>
          <p:nvPr/>
        </p:nvSpPr>
        <p:spPr>
          <a:xfrm xmlns:a="http://schemas.openxmlformats.org/drawingml/2006/main">
            <a:off x="4362450" y="3448050"/>
            <a:ext cx="85725" cy="85725"/>
          </a:xfrm>
          <a:prstGeom xmlns:a="http://schemas.openxmlformats.org/drawingml/2006/main" prst="ellipse">
            <a:avLst/>
          </a:prstGeom>
          <a:solidFill xmlns:a="http://schemas.openxmlformats.org/drawingml/2006/main">
            <a:srgbClr val="819067"/>
          </a:solidFill>
          <a:ln xmlns:a="http://schemas.openxmlformats.org/drawingml/2006/main" w="0">
            <a:solidFill>
              <a:srgbClr val="819067"/>
            </a:solidFill>
            <a:prstDash val="solid"/>
          </a:ln>
        </p:spPr>
      </p:sp>
      <p:sp>
        <p:nvSpPr>
          <p:cNvPr id="22" name="">
            <a:extLst xmlns:a="http://schemas.openxmlformats.org/drawingml/2006/main">
              <a:ext uri="{FF2B5EF4-FFF2-40B4-BE49-F238E27FC236}">
                <a16:creationId xmlns:a16="http://schemas.microsoft.com/office/drawing/2014/main" id="{E7A34B31-87C2-454C-B6CC-BE2ECBBC5F4F}"/>
              </a:ext>
            </a:extLst>
          </p:cNvPr>
          <p:cNvSpPr>
            <a:spLocks xmlns:a="http://schemas.openxmlformats.org/drawingml/2006/main" noGrp="1"/>
          </p:cNvSpPr>
          <p:nvPr/>
        </p:nvSpPr>
        <p:spPr>
          <a:xfrm xmlns:a="http://schemas.openxmlformats.org/drawingml/2006/main">
            <a:off x="4591050" y="3371850"/>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127"/>
                </a:solidFill>
              </a:defRPr>
            </a:pPr>
            <a:r>
              <a:rPr sz="1275" b="0">
                <a:solidFill>
                  <a:srgbClr val="243127"/>
                </a:solidFill>
              </a:rPr>
              <a:t>Strict JSON Schema</a:t>
            </a:r>
          </a:p>
        </p:txBody>
      </p:sp>
      <p:sp>
        <p:nvSpPr>
          <p:cNvPr id="23" name="">
            <a:extLst xmlns:a="http://schemas.openxmlformats.org/drawingml/2006/main">
              <a:ext uri="{FF2B5EF4-FFF2-40B4-BE49-F238E27FC236}">
                <a16:creationId xmlns:a16="http://schemas.microsoft.com/office/drawing/2014/main" id="{EB4A102D-998A-4F4E-8B14-F8E7559797B1}"/>
              </a:ext>
            </a:extLst>
          </p:cNvPr>
          <p:cNvSpPr>
            <a:spLocks xmlns:a="http://schemas.openxmlformats.org/drawingml/2006/main" noGrp="1"/>
          </p:cNvSpPr>
          <p:nvPr/>
        </p:nvSpPr>
        <p:spPr>
          <a:xfrm xmlns:a="http://schemas.openxmlformats.org/drawingml/2006/main">
            <a:off x="4362450" y="4038600"/>
            <a:ext cx="85725" cy="85725"/>
          </a:xfrm>
          <a:prstGeom xmlns:a="http://schemas.openxmlformats.org/drawingml/2006/main" prst="ellipse">
            <a:avLst/>
          </a:prstGeom>
          <a:solidFill xmlns:a="http://schemas.openxmlformats.org/drawingml/2006/main">
            <a:srgbClr val="819067"/>
          </a:solidFill>
          <a:ln xmlns:a="http://schemas.openxmlformats.org/drawingml/2006/main" w="0">
            <a:solidFill>
              <a:srgbClr val="819067"/>
            </a:solidFill>
            <a:prstDash val="solid"/>
          </a:ln>
        </p:spPr>
      </p:sp>
      <p:sp>
        <p:nvSpPr>
          <p:cNvPr id="24" name="">
            <a:extLst xmlns:a="http://schemas.openxmlformats.org/drawingml/2006/main">
              <a:ext uri="{FF2B5EF4-FFF2-40B4-BE49-F238E27FC236}">
                <a16:creationId xmlns:a16="http://schemas.microsoft.com/office/drawing/2014/main" id="{0C1F710F-E961-4940-8B9C-F73731A7F9C9}"/>
              </a:ext>
            </a:extLst>
          </p:cNvPr>
          <p:cNvSpPr>
            <a:spLocks xmlns:a="http://schemas.openxmlformats.org/drawingml/2006/main" noGrp="1"/>
          </p:cNvSpPr>
          <p:nvPr/>
        </p:nvSpPr>
        <p:spPr>
          <a:xfrm xmlns:a="http://schemas.openxmlformats.org/drawingml/2006/main">
            <a:off x="4591050" y="3962400"/>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127"/>
                </a:solidFill>
              </a:defRPr>
            </a:pPr>
            <a:r>
              <a:rPr sz="1275" b="0">
                <a:solidFill>
                  <a:srgbClr val="243127"/>
                </a:solidFill>
              </a:rPr>
              <a:t>No tools or web access</a:t>
            </a:r>
          </a:p>
        </p:txBody>
      </p:sp>
      <p:sp>
        <p:nvSpPr>
          <p:cNvPr id="25" name="">
            <a:extLst xmlns:a="http://schemas.openxmlformats.org/drawingml/2006/main">
              <a:ext uri="{FF2B5EF4-FFF2-40B4-BE49-F238E27FC236}">
                <a16:creationId xmlns:a16="http://schemas.microsoft.com/office/drawing/2014/main" id="{2CD04304-841E-45D6-8CC1-4BC22F38B1A3}"/>
              </a:ext>
            </a:extLst>
          </p:cNvPr>
          <p:cNvSpPr>
            <a:spLocks xmlns:a="http://schemas.openxmlformats.org/drawingml/2006/main" noGrp="1"/>
          </p:cNvSpPr>
          <p:nvPr/>
        </p:nvSpPr>
        <p:spPr>
          <a:xfrm xmlns:a="http://schemas.openxmlformats.org/drawingml/2006/main">
            <a:off x="4362450" y="4629150"/>
            <a:ext cx="85725" cy="85725"/>
          </a:xfrm>
          <a:prstGeom xmlns:a="http://schemas.openxmlformats.org/drawingml/2006/main" prst="ellipse">
            <a:avLst/>
          </a:prstGeom>
          <a:solidFill xmlns:a="http://schemas.openxmlformats.org/drawingml/2006/main">
            <a:srgbClr val="819067"/>
          </a:solidFill>
          <a:ln xmlns:a="http://schemas.openxmlformats.org/drawingml/2006/main" w="0">
            <a:solidFill>
              <a:srgbClr val="819067"/>
            </a:solidFill>
            <a:prstDash val="solid"/>
          </a:ln>
        </p:spPr>
      </p:sp>
      <p:sp>
        <p:nvSpPr>
          <p:cNvPr id="26" name="">
            <a:extLst xmlns:a="http://schemas.openxmlformats.org/drawingml/2006/main">
              <a:ext uri="{FF2B5EF4-FFF2-40B4-BE49-F238E27FC236}">
                <a16:creationId xmlns:a16="http://schemas.microsoft.com/office/drawing/2014/main" id="{8CD19267-F894-44EF-8F86-19BE14A56CB7}"/>
              </a:ext>
            </a:extLst>
          </p:cNvPr>
          <p:cNvSpPr>
            <a:spLocks xmlns:a="http://schemas.openxmlformats.org/drawingml/2006/main" noGrp="1"/>
          </p:cNvSpPr>
          <p:nvPr/>
        </p:nvSpPr>
        <p:spPr>
          <a:xfrm xmlns:a="http://schemas.openxmlformats.org/drawingml/2006/main">
            <a:off x="4591050" y="4552950"/>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127"/>
                </a:solidFill>
              </a:defRPr>
            </a:pPr>
            <a:r>
              <a:rPr sz="1275" b="0">
                <a:solidFill>
                  <a:srgbClr val="243127"/>
                </a:solidFill>
              </a:rPr>
              <a:t>Bounded output tokens</a:t>
            </a:r>
          </a:p>
        </p:txBody>
      </p:sp>
      <p:sp>
        <p:nvSpPr>
          <p:cNvPr id="27" name="">
            <a:extLst xmlns:a="http://schemas.openxmlformats.org/drawingml/2006/main">
              <a:ext uri="{FF2B5EF4-FFF2-40B4-BE49-F238E27FC236}">
                <a16:creationId xmlns:a16="http://schemas.microsoft.com/office/drawing/2014/main" id="{6B139F61-EE03-41B5-8533-C452BEA7806F}"/>
              </a:ext>
            </a:extLst>
          </p:cNvPr>
          <p:cNvSpPr>
            <a:spLocks xmlns:a="http://schemas.openxmlformats.org/drawingml/2006/main" noGrp="1"/>
          </p:cNvSpPr>
          <p:nvPr/>
        </p:nvSpPr>
        <p:spPr>
          <a:xfrm xmlns:a="http://schemas.openxmlformats.org/drawingml/2006/main">
            <a:off x="7505700" y="1619250"/>
            <a:ext cx="3048000" cy="390525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8" name="">
            <a:extLst xmlns:a="http://schemas.openxmlformats.org/drawingml/2006/main">
              <a:ext uri="{FF2B5EF4-FFF2-40B4-BE49-F238E27FC236}">
                <a16:creationId xmlns:a16="http://schemas.microsoft.com/office/drawing/2014/main" id="{17D8E89A-2260-4FE1-91EC-2A47358AFCD4}"/>
              </a:ext>
            </a:extLst>
          </p:cNvPr>
          <p:cNvSpPr>
            <a:spLocks xmlns:a="http://schemas.openxmlformats.org/drawingml/2006/main" noGrp="1"/>
          </p:cNvSpPr>
          <p:nvPr/>
        </p:nvSpPr>
        <p:spPr>
          <a:xfrm xmlns:a="http://schemas.openxmlformats.org/drawingml/2006/main">
            <a:off x="7734300" y="1885950"/>
            <a:ext cx="514350" cy="514350"/>
          </a:xfrm>
          <a:prstGeom xmlns:a="http://schemas.openxmlformats.org/drawingml/2006/main" prst="ellipse">
            <a:avLst/>
          </a:prstGeom>
          <a:solidFill xmlns:a="http://schemas.openxmlformats.org/drawingml/2006/main">
            <a:srgbClr val="B1AB86"/>
          </a:solidFill>
          <a:ln xmlns:a="http://schemas.openxmlformats.org/drawingml/2006/main" w="0">
            <a:solidFill>
              <a:srgbClr val="B1AB86"/>
            </a:solidFill>
            <a:prstDash val="solid"/>
          </a:ln>
        </p:spPr>
      </p:sp>
      <p:sp>
        <p:nvSpPr>
          <p:cNvPr id="29" name="">
            <a:extLst xmlns:a="http://schemas.openxmlformats.org/drawingml/2006/main">
              <a:ext uri="{FF2B5EF4-FFF2-40B4-BE49-F238E27FC236}">
                <a16:creationId xmlns:a16="http://schemas.microsoft.com/office/drawing/2014/main" id="{C7636E66-A810-427C-9152-F55D8CCD15FB}"/>
              </a:ext>
            </a:extLst>
          </p:cNvPr>
          <p:cNvSpPr>
            <a:spLocks xmlns:a="http://schemas.openxmlformats.org/drawingml/2006/main" noGrp="1"/>
          </p:cNvSpPr>
          <p:nvPr/>
        </p:nvSpPr>
        <p:spPr>
          <a:xfrm xmlns:a="http://schemas.openxmlformats.org/drawingml/2006/main">
            <a:off x="7734300" y="202882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3</a:t>
            </a:r>
          </a:p>
        </p:txBody>
      </p:sp>
      <p:sp>
        <p:nvSpPr>
          <p:cNvPr id="30" name="">
            <a:extLst xmlns:a="http://schemas.openxmlformats.org/drawingml/2006/main">
              <a:ext uri="{FF2B5EF4-FFF2-40B4-BE49-F238E27FC236}">
                <a16:creationId xmlns:a16="http://schemas.microsoft.com/office/drawing/2014/main" id="{A08652EE-E2B6-43AD-A4D9-8D5E835EDF65}"/>
              </a:ext>
            </a:extLst>
          </p:cNvPr>
          <p:cNvSpPr>
            <a:spLocks xmlns:a="http://schemas.openxmlformats.org/drawingml/2006/main" noGrp="1"/>
          </p:cNvSpPr>
          <p:nvPr/>
        </p:nvSpPr>
        <p:spPr>
          <a:xfrm xmlns:a="http://schemas.openxmlformats.org/drawingml/2006/main">
            <a:off x="8420100" y="1952625"/>
            <a:ext cx="1857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B1AB86"/>
                </a:solidFill>
              </a:defRPr>
            </a:pPr>
            <a:r>
              <a:rPr sz="1800" b="1">
                <a:solidFill>
                  <a:srgbClr val="B1AB86"/>
                </a:solidFill>
              </a:rPr>
              <a:t>After Groq</a:t>
            </a:r>
          </a:p>
        </p:txBody>
      </p:sp>
      <p:sp>
        <p:nvSpPr>
          <p:cNvPr id="31" name="">
            <a:extLst xmlns:a="http://schemas.openxmlformats.org/drawingml/2006/main">
              <a:ext uri="{FF2B5EF4-FFF2-40B4-BE49-F238E27FC236}">
                <a16:creationId xmlns:a16="http://schemas.microsoft.com/office/drawing/2014/main" id="{19ABFC9B-AA33-49CE-95EB-8B593272FF39}"/>
              </a:ext>
            </a:extLst>
          </p:cNvPr>
          <p:cNvSpPr>
            <a:spLocks xmlns:a="http://schemas.openxmlformats.org/drawingml/2006/main" noGrp="1"/>
          </p:cNvSpPr>
          <p:nvPr/>
        </p:nvSpPr>
        <p:spPr>
          <a:xfrm xmlns:a="http://schemas.openxmlformats.org/drawingml/2006/main">
            <a:off x="7772400" y="2857500"/>
            <a:ext cx="85725" cy="85725"/>
          </a:xfrm>
          <a:prstGeom xmlns:a="http://schemas.openxmlformats.org/drawingml/2006/main" prst="ellipse">
            <a:avLst/>
          </a:prstGeom>
          <a:solidFill xmlns:a="http://schemas.openxmlformats.org/drawingml/2006/main">
            <a:srgbClr val="B1AB86"/>
          </a:solidFill>
          <a:ln xmlns:a="http://schemas.openxmlformats.org/drawingml/2006/main" w="0">
            <a:solidFill>
              <a:srgbClr val="B1AB86"/>
            </a:solidFill>
            <a:prstDash val="solid"/>
          </a:ln>
        </p:spPr>
      </p:sp>
      <p:sp>
        <p:nvSpPr>
          <p:cNvPr id="32" name="">
            <a:extLst xmlns:a="http://schemas.openxmlformats.org/drawingml/2006/main">
              <a:ext uri="{FF2B5EF4-FFF2-40B4-BE49-F238E27FC236}">
                <a16:creationId xmlns:a16="http://schemas.microsoft.com/office/drawing/2014/main" id="{5FAA2C02-201D-4AE5-AA8F-8C202B9DAF5F}"/>
              </a:ext>
            </a:extLst>
          </p:cNvPr>
          <p:cNvSpPr>
            <a:spLocks xmlns:a="http://schemas.openxmlformats.org/drawingml/2006/main" noGrp="1"/>
          </p:cNvSpPr>
          <p:nvPr/>
        </p:nvSpPr>
        <p:spPr>
          <a:xfrm xmlns:a="http://schemas.openxmlformats.org/drawingml/2006/main">
            <a:off x="8001000" y="2781300"/>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127"/>
                </a:solidFill>
              </a:defRPr>
            </a:pPr>
            <a:r>
              <a:rPr sz="1275" b="0">
                <a:solidFill>
                  <a:srgbClr val="243127"/>
                </a:solidFill>
              </a:rPr>
              <a:t>Validate every citation</a:t>
            </a:r>
          </a:p>
        </p:txBody>
      </p:sp>
      <p:sp>
        <p:nvSpPr>
          <p:cNvPr id="33" name="">
            <a:extLst xmlns:a="http://schemas.openxmlformats.org/drawingml/2006/main">
              <a:ext uri="{FF2B5EF4-FFF2-40B4-BE49-F238E27FC236}">
                <a16:creationId xmlns:a16="http://schemas.microsoft.com/office/drawing/2014/main" id="{2C582194-C77A-4460-AA43-5694790C8FA6}"/>
              </a:ext>
            </a:extLst>
          </p:cNvPr>
          <p:cNvSpPr>
            <a:spLocks xmlns:a="http://schemas.openxmlformats.org/drawingml/2006/main" noGrp="1"/>
          </p:cNvSpPr>
          <p:nvPr/>
        </p:nvSpPr>
        <p:spPr>
          <a:xfrm xmlns:a="http://schemas.openxmlformats.org/drawingml/2006/main">
            <a:off x="7772400" y="3448050"/>
            <a:ext cx="85725" cy="85725"/>
          </a:xfrm>
          <a:prstGeom xmlns:a="http://schemas.openxmlformats.org/drawingml/2006/main" prst="ellipse">
            <a:avLst/>
          </a:prstGeom>
          <a:solidFill xmlns:a="http://schemas.openxmlformats.org/drawingml/2006/main">
            <a:srgbClr val="B1AB86"/>
          </a:solidFill>
          <a:ln xmlns:a="http://schemas.openxmlformats.org/drawingml/2006/main" w="0">
            <a:solidFill>
              <a:srgbClr val="B1AB86"/>
            </a:solidFill>
            <a:prstDash val="solid"/>
          </a:ln>
        </p:spPr>
      </p:sp>
      <p:sp>
        <p:nvSpPr>
          <p:cNvPr id="34" name="">
            <a:extLst xmlns:a="http://schemas.openxmlformats.org/drawingml/2006/main">
              <a:ext uri="{FF2B5EF4-FFF2-40B4-BE49-F238E27FC236}">
                <a16:creationId xmlns:a16="http://schemas.microsoft.com/office/drawing/2014/main" id="{C44D1AD0-15CD-4674-A955-5A66D02D9467}"/>
              </a:ext>
            </a:extLst>
          </p:cNvPr>
          <p:cNvSpPr>
            <a:spLocks xmlns:a="http://schemas.openxmlformats.org/drawingml/2006/main" noGrp="1"/>
          </p:cNvSpPr>
          <p:nvPr/>
        </p:nvSpPr>
        <p:spPr>
          <a:xfrm xmlns:a="http://schemas.openxmlformats.org/drawingml/2006/main">
            <a:off x="8001000" y="3371850"/>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127"/>
                </a:solidFill>
              </a:defRPr>
            </a:pPr>
            <a:r>
              <a:rPr sz="1275" b="0">
                <a:solidFill>
                  <a:srgbClr val="243127"/>
                </a:solidFill>
              </a:rPr>
              <a:t>Reject unknown source IDs</a:t>
            </a:r>
          </a:p>
        </p:txBody>
      </p:sp>
      <p:sp>
        <p:nvSpPr>
          <p:cNvPr id="35" name="">
            <a:extLst xmlns:a="http://schemas.openxmlformats.org/drawingml/2006/main">
              <a:ext uri="{FF2B5EF4-FFF2-40B4-BE49-F238E27FC236}">
                <a16:creationId xmlns:a16="http://schemas.microsoft.com/office/drawing/2014/main" id="{6EF00E9E-E45D-4F0F-B948-168E157C5683}"/>
              </a:ext>
            </a:extLst>
          </p:cNvPr>
          <p:cNvSpPr>
            <a:spLocks xmlns:a="http://schemas.openxmlformats.org/drawingml/2006/main" noGrp="1"/>
          </p:cNvSpPr>
          <p:nvPr/>
        </p:nvSpPr>
        <p:spPr>
          <a:xfrm xmlns:a="http://schemas.openxmlformats.org/drawingml/2006/main">
            <a:off x="7772400" y="4038600"/>
            <a:ext cx="85725" cy="85725"/>
          </a:xfrm>
          <a:prstGeom xmlns:a="http://schemas.openxmlformats.org/drawingml/2006/main" prst="ellipse">
            <a:avLst/>
          </a:prstGeom>
          <a:solidFill xmlns:a="http://schemas.openxmlformats.org/drawingml/2006/main">
            <a:srgbClr val="B1AB86"/>
          </a:solidFill>
          <a:ln xmlns:a="http://schemas.openxmlformats.org/drawingml/2006/main" w="0">
            <a:solidFill>
              <a:srgbClr val="B1AB86"/>
            </a:solidFill>
            <a:prstDash val="solid"/>
          </a:ln>
        </p:spPr>
      </p:sp>
      <p:sp>
        <p:nvSpPr>
          <p:cNvPr id="36" name="">
            <a:extLst xmlns:a="http://schemas.openxmlformats.org/drawingml/2006/main">
              <a:ext uri="{FF2B5EF4-FFF2-40B4-BE49-F238E27FC236}">
                <a16:creationId xmlns:a16="http://schemas.microsoft.com/office/drawing/2014/main" id="{38BDBA6C-E05E-4A23-A54A-4E4B26FC1E8A}"/>
              </a:ext>
            </a:extLst>
          </p:cNvPr>
          <p:cNvSpPr>
            <a:spLocks xmlns:a="http://schemas.openxmlformats.org/drawingml/2006/main" noGrp="1"/>
          </p:cNvSpPr>
          <p:nvPr/>
        </p:nvSpPr>
        <p:spPr>
          <a:xfrm xmlns:a="http://schemas.openxmlformats.org/drawingml/2006/main">
            <a:off x="8001000" y="3962400"/>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127"/>
                </a:solidFill>
              </a:defRPr>
            </a:pPr>
            <a:r>
              <a:rPr sz="1275" b="0">
                <a:solidFill>
                  <a:srgbClr val="243127"/>
                </a:solidFill>
              </a:rPr>
              <a:t>Escape output</a:t>
            </a:r>
          </a:p>
        </p:txBody>
      </p:sp>
      <p:sp>
        <p:nvSpPr>
          <p:cNvPr id="37" name="">
            <a:extLst xmlns:a="http://schemas.openxmlformats.org/drawingml/2006/main">
              <a:ext uri="{FF2B5EF4-FFF2-40B4-BE49-F238E27FC236}">
                <a16:creationId xmlns:a16="http://schemas.microsoft.com/office/drawing/2014/main" id="{3F5E831C-DB11-41EF-89EB-4E3F4B67321C}"/>
              </a:ext>
            </a:extLst>
          </p:cNvPr>
          <p:cNvSpPr>
            <a:spLocks xmlns:a="http://schemas.openxmlformats.org/drawingml/2006/main" noGrp="1"/>
          </p:cNvSpPr>
          <p:nvPr/>
        </p:nvSpPr>
        <p:spPr>
          <a:xfrm xmlns:a="http://schemas.openxmlformats.org/drawingml/2006/main">
            <a:off x="7772400" y="4629150"/>
            <a:ext cx="85725" cy="85725"/>
          </a:xfrm>
          <a:prstGeom xmlns:a="http://schemas.openxmlformats.org/drawingml/2006/main" prst="ellipse">
            <a:avLst/>
          </a:prstGeom>
          <a:solidFill xmlns:a="http://schemas.openxmlformats.org/drawingml/2006/main">
            <a:srgbClr val="B1AB86"/>
          </a:solidFill>
          <a:ln xmlns:a="http://schemas.openxmlformats.org/drawingml/2006/main" w="0">
            <a:solidFill>
              <a:srgbClr val="B1AB86"/>
            </a:solidFill>
            <a:prstDash val="solid"/>
          </a:ln>
        </p:spPr>
      </p:sp>
      <p:sp>
        <p:nvSpPr>
          <p:cNvPr id="38" name="">
            <a:extLst xmlns:a="http://schemas.openxmlformats.org/drawingml/2006/main">
              <a:ext uri="{FF2B5EF4-FFF2-40B4-BE49-F238E27FC236}">
                <a16:creationId xmlns:a16="http://schemas.microsoft.com/office/drawing/2014/main" id="{D26F1148-E028-4143-A861-5A75820249CF}"/>
              </a:ext>
            </a:extLst>
          </p:cNvPr>
          <p:cNvSpPr>
            <a:spLocks xmlns:a="http://schemas.openxmlformats.org/drawingml/2006/main" noGrp="1"/>
          </p:cNvSpPr>
          <p:nvPr/>
        </p:nvSpPr>
        <p:spPr>
          <a:xfrm xmlns:a="http://schemas.openxmlformats.org/drawingml/2006/main">
            <a:off x="8001000" y="4552950"/>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127"/>
                </a:solidFill>
              </a:defRPr>
            </a:pPr>
            <a:r>
              <a:rPr sz="1275" b="0">
                <a:solidFill>
                  <a:srgbClr val="243127"/>
                </a:solidFill>
              </a:rPr>
              <a:t>Store safe metrics, not raw errors</a:t>
            </a:r>
          </a:p>
        </p:txBody>
      </p:sp>
      <p:sp>
        <p:nvSpPr>
          <p:cNvPr id="39" name="">
            <a:extLst xmlns:a="http://schemas.openxmlformats.org/drawingml/2006/main">
              <a:ext uri="{FF2B5EF4-FFF2-40B4-BE49-F238E27FC236}">
                <a16:creationId xmlns:a16="http://schemas.microsoft.com/office/drawing/2014/main" id="{4EAC5FEA-5C77-4C8F-AB1E-4DAA9F4CE5CA}"/>
              </a:ext>
            </a:extLst>
          </p:cNvPr>
          <p:cNvSpPr>
            <a:spLocks xmlns:a="http://schemas.openxmlformats.org/drawingml/2006/main" noGrp="1"/>
          </p:cNvSpPr>
          <p:nvPr/>
        </p:nvSpPr>
        <p:spPr>
          <a:xfrm xmlns:a="http://schemas.openxmlformats.org/drawingml/2006/main">
            <a:off x="1476375" y="5829300"/>
            <a:ext cx="923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A400C"/>
                </a:solidFill>
              </a:defRPr>
            </a:pPr>
            <a:r>
              <a:rPr sz="1500" b="1">
                <a:solidFill>
                  <a:srgbClr val="0A400C"/>
                </a:solidFill>
              </a:rPr>
              <a:t>The model explains evidence; the application decides what evidence is allowed and whether the answer is valid.</a:t>
            </a:r>
          </a:p>
        </p:txBody>
      </p:sp>
      <p:sp>
        <p:nvSpPr>
          <p:cNvPr id="40" name="">
            <a:extLst xmlns:a="http://schemas.openxmlformats.org/drawingml/2006/main">
              <a:ext uri="{FF2B5EF4-FFF2-40B4-BE49-F238E27FC236}">
                <a16:creationId xmlns:a16="http://schemas.microsoft.com/office/drawing/2014/main" id="{7AE4F750-D37C-4385-9C04-B1D3E7160588}"/>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8CE"/>
          </a:solidFill>
          <a:ln xmlns:a="http://schemas.openxmlformats.org/drawingml/2006/main" w="0">
            <a:solidFill>
              <a:srgbClr val="D7D8CE"/>
            </a:solidFill>
            <a:prstDash val="solid"/>
          </a:ln>
        </p:spPr>
      </p:sp>
      <p:sp>
        <p:nvSpPr>
          <p:cNvPr id="41" name="">
            <a:extLst xmlns:a="http://schemas.openxmlformats.org/drawingml/2006/main">
              <a:ext uri="{FF2B5EF4-FFF2-40B4-BE49-F238E27FC236}">
                <a16:creationId xmlns:a16="http://schemas.microsoft.com/office/drawing/2014/main" id="{929A5EC1-62E0-4155-A402-328231009E8A}"/>
              </a:ext>
            </a:extLst>
          </p:cNvPr>
          <p:cNvSpPr>
            <a:spLocks xmlns:a="http://schemas.openxmlformats.org/drawingml/2006/main" noGrp="1"/>
          </p:cNvSpPr>
          <p:nvPr/>
        </p:nvSpPr>
        <p:spPr>
          <a:xfrm xmlns:a="http://schemas.openxmlformats.org/drawingml/2006/main">
            <a:off x="685800" y="65246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17064"/>
                </a:solidFill>
              </a:defRPr>
            </a:pPr>
            <a:r>
              <a:rPr sz="825" b="1">
                <a:solidFill>
                  <a:srgbClr val="617064"/>
                </a:solidFill>
              </a:rPr>
              <a:t>INSIGHT TRACKER</a:t>
            </a:r>
          </a:p>
        </p:txBody>
      </p:sp>
      <p:sp>
        <p:nvSpPr>
          <p:cNvPr id="42" name="">
            <a:extLst xmlns:a="http://schemas.openxmlformats.org/drawingml/2006/main">
              <a:ext uri="{FF2B5EF4-FFF2-40B4-BE49-F238E27FC236}">
                <a16:creationId xmlns:a16="http://schemas.microsoft.com/office/drawing/2014/main" id="{FB9FB6C2-5784-429C-B253-1940B85843A2}"/>
              </a:ext>
            </a:extLst>
          </p:cNvPr>
          <p:cNvSpPr>
            <a:spLocks xmlns:a="http://schemas.openxmlformats.org/drawingml/2006/main" noGrp="1"/>
          </p:cNvSpPr>
          <p:nvPr/>
        </p:nvSpPr>
        <p:spPr>
          <a:xfrm xmlns:a="http://schemas.openxmlformats.org/drawingml/2006/main">
            <a:off x="11049000" y="65055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17064"/>
                </a:solidFill>
              </a:defRPr>
            </a:pPr>
            <a:r>
              <a:rPr sz="900" b="1">
                <a:solidFill>
                  <a:srgbClr val="617064"/>
                </a:solidFill>
              </a:rPr>
              <a:t>06</a:t>
            </a:r>
          </a:p>
        </p:txBody>
      </p:sp>
    </p:spTree>
    <p:extLst>
      <p:ext uri="{BB962C8B-B14F-4D97-AF65-F5344CB8AC3E}">
        <p14:creationId xmlns:p14="http://schemas.microsoft.com/office/powerpoint/2010/main" val="92076385"/>
      </p:ext>
    </p:extLst>
  </p:cSld>
</p:sld>
</file>

<file path=ppt/slides/slide7.xml><?xml version="1.0" encoding="utf-8"?>
<p:sld xmlns:p="http://schemas.openxmlformats.org/presentationml/2006/main">
  <p:cSld>
    <p:bg>
      <p:bgPr>
        <a:solidFill xmlns:a="http://schemas.openxmlformats.org/drawingml/2006/main">
          <a:srgbClr val="F3F1E8"/>
        </a:solidFill>
      </p:bgPr>
    </p:bg>
    <p:spTree>
      <p:nvGrpSpPr>
        <p:cNvPr id="1" name=""/>
        <p:cNvGrpSpPr/>
        <p:nvPr/>
      </p:nvGrpSpPr>
      <p:grpSpPr>
        <a:xfrm xmlns:a="http://schemas.openxmlformats.org/drawingml/2006/main"/>
      </p:grpSpPr>
      <p:sp>
        <p:nvSpPr>
          <p:cNvPr id="49" name="kicker-7">
            <a:extLst xmlns:a="http://schemas.openxmlformats.org/drawingml/2006/main">
              <a:ext uri="{FF2B5EF4-FFF2-40B4-BE49-F238E27FC236}">
                <a16:creationId xmlns:a16="http://schemas.microsoft.com/office/drawing/2014/main" id="{1B5A6697-C33C-4011-A603-D4663224849F}"/>
              </a:ext>
            </a:extLst>
          </p:cNvPr>
          <p:cNvSpPr>
            <a:spLocks xmlns:a="http://schemas.openxmlformats.org/drawingml/2006/main" noGrp="1"/>
          </p:cNvSpPr>
          <p:nvPr/>
        </p:nvSpPr>
        <p:spPr>
          <a:xfrm xmlns:a="http://schemas.openxmlformats.org/drawingml/2006/main">
            <a:off x="685800" y="400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7531B"/>
                </a:solidFill>
              </a:defRPr>
            </a:pPr>
            <a:r>
              <a:rPr sz="1050" b="1">
                <a:solidFill>
                  <a:srgbClr val="17531B"/>
                </a:solidFill>
              </a:rPr>
              <a:t>AI LAYER 2</a:t>
            </a:r>
          </a:p>
        </p:txBody>
      </p:sp>
      <p:sp>
        <p:nvSpPr>
          <p:cNvPr id="2" name="title-7">
            <a:extLst xmlns:a="http://schemas.openxmlformats.org/drawingml/2006/main">
              <a:ext uri="{FF2B5EF4-FFF2-40B4-BE49-F238E27FC236}">
                <a16:creationId xmlns:a16="http://schemas.microsoft.com/office/drawing/2014/main" id="{066099D8-7D12-444C-B708-9A2C2616E292}"/>
              </a:ext>
            </a:extLst>
          </p:cNvPr>
          <p:cNvSpPr>
            <a:spLocks xmlns:a="http://schemas.openxmlformats.org/drawingml/2006/main" noGrp="1"/>
          </p:cNvSpPr>
          <p:nvPr/>
        </p:nvSpPr>
        <p:spPr>
          <a:xfrm xmlns:a="http://schemas.openxmlformats.org/drawingml/2006/main">
            <a:off x="685800" y="742950"/>
            <a:ext cx="10744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43127"/>
                </a:solidFill>
              </a:defRPr>
            </a:pPr>
            <a:r>
              <a:rPr sz="2850" b="1">
                <a:solidFill>
                  <a:srgbClr val="243127"/>
                </a:solidFill>
              </a:rPr>
              <a:t>The recovery agent plans, observes, pauses and verifies</a:t>
            </a:r>
          </a:p>
        </p:txBody>
      </p:sp>
      <p:sp>
        <p:nvSpPr>
          <p:cNvPr id="3" name="">
            <a:extLst xmlns:a="http://schemas.openxmlformats.org/drawingml/2006/main">
              <a:ext uri="{FF2B5EF4-FFF2-40B4-BE49-F238E27FC236}">
                <a16:creationId xmlns:a16="http://schemas.microsoft.com/office/drawing/2014/main" id="{90B72BD2-193F-4BAB-8A0E-BFDB9376549A}"/>
              </a:ext>
            </a:extLst>
          </p:cNvPr>
          <p:cNvSpPr>
            <a:spLocks xmlns:a="http://schemas.openxmlformats.org/drawingml/2006/main" noGrp="1"/>
          </p:cNvSpPr>
          <p:nvPr/>
        </p:nvSpPr>
        <p:spPr>
          <a:xfrm xmlns:a="http://schemas.openxmlformats.org/drawingml/2006/main">
            <a:off x="685800" y="13811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617064"/>
                </a:solidFill>
              </a:defRPr>
            </a:pPr>
            <a:r>
              <a:rPr sz="1575" b="0">
                <a:solidFill>
                  <a:srgbClr val="617064"/>
                </a:solidFill>
              </a:rPr>
              <a:t>This is agentic because the next step depends on tool observations, not on a fixed prompt sequence.</a:t>
            </a:r>
          </a:p>
        </p:txBody>
      </p:sp>
      <p:sp>
        <p:nvSpPr>
          <p:cNvPr id="4" name="">
            <a:extLst xmlns:a="http://schemas.openxmlformats.org/drawingml/2006/main">
              <a:ext uri="{FF2B5EF4-FFF2-40B4-BE49-F238E27FC236}">
                <a16:creationId xmlns:a16="http://schemas.microsoft.com/office/drawing/2014/main" id="{279434EA-F71A-47F4-9088-D2EC8050DCE0}"/>
              </a:ext>
            </a:extLst>
          </p:cNvPr>
          <p:cNvSpPr>
            <a:spLocks xmlns:a="http://schemas.openxmlformats.org/drawingml/2006/main" noGrp="1"/>
          </p:cNvSpPr>
          <p:nvPr/>
        </p:nvSpPr>
        <p:spPr>
          <a:xfrm xmlns:a="http://schemas.openxmlformats.org/drawingml/2006/main">
            <a:off x="1857375" y="2447925"/>
            <a:ext cx="76200" cy="38100"/>
          </a:xfrm>
          <a:prstGeom xmlns:a="http://schemas.openxmlformats.org/drawingml/2006/main" prst="rect">
            <a:avLst/>
          </a:prstGeom>
          <a:solidFill xmlns:a="http://schemas.openxmlformats.org/drawingml/2006/main">
            <a:srgbClr val="819067"/>
          </a:solidFill>
          <a:ln xmlns:a="http://schemas.openxmlformats.org/drawingml/2006/main" w="0">
            <a:solidFill>
              <a:srgbClr val="819067"/>
            </a:solidFill>
            <a:prstDash val="solid"/>
          </a:ln>
        </p:spPr>
      </p:sp>
      <p:sp>
        <p:nvSpPr>
          <p:cNvPr id="5" name="">
            <a:extLst xmlns:a="http://schemas.openxmlformats.org/drawingml/2006/main">
              <a:ext uri="{FF2B5EF4-FFF2-40B4-BE49-F238E27FC236}">
                <a16:creationId xmlns:a16="http://schemas.microsoft.com/office/drawing/2014/main" id="{CA5267C6-0F18-4345-A564-B0C9E7145A5B}"/>
              </a:ext>
            </a:extLst>
          </p:cNvPr>
          <p:cNvSpPr>
            <a:spLocks xmlns:a="http://schemas.openxmlformats.org/drawingml/2006/main" noGrp="1"/>
          </p:cNvSpPr>
          <p:nvPr/>
        </p:nvSpPr>
        <p:spPr>
          <a:xfrm xmlns:a="http://schemas.openxmlformats.org/drawingml/2006/main">
            <a:off x="3257550" y="2447925"/>
            <a:ext cx="76200" cy="38100"/>
          </a:xfrm>
          <a:prstGeom xmlns:a="http://schemas.openxmlformats.org/drawingml/2006/main" prst="rect">
            <a:avLst/>
          </a:prstGeom>
          <a:solidFill xmlns:a="http://schemas.openxmlformats.org/drawingml/2006/main">
            <a:srgbClr val="819067"/>
          </a:solidFill>
          <a:ln xmlns:a="http://schemas.openxmlformats.org/drawingml/2006/main" w="0">
            <a:solidFill>
              <a:srgbClr val="819067"/>
            </a:solidFill>
            <a:prstDash val="solid"/>
          </a:ln>
        </p:spPr>
      </p:sp>
      <p:sp>
        <p:nvSpPr>
          <p:cNvPr id="6" name="">
            <a:extLst xmlns:a="http://schemas.openxmlformats.org/drawingml/2006/main">
              <a:ext uri="{FF2B5EF4-FFF2-40B4-BE49-F238E27FC236}">
                <a16:creationId xmlns:a16="http://schemas.microsoft.com/office/drawing/2014/main" id="{E4979E2B-2295-405F-A23B-3A30DD229C1B}"/>
              </a:ext>
            </a:extLst>
          </p:cNvPr>
          <p:cNvSpPr>
            <a:spLocks xmlns:a="http://schemas.openxmlformats.org/drawingml/2006/main" noGrp="1"/>
          </p:cNvSpPr>
          <p:nvPr/>
        </p:nvSpPr>
        <p:spPr>
          <a:xfrm xmlns:a="http://schemas.openxmlformats.org/drawingml/2006/main">
            <a:off x="4657725" y="2447925"/>
            <a:ext cx="76200" cy="38100"/>
          </a:xfrm>
          <a:prstGeom xmlns:a="http://schemas.openxmlformats.org/drawingml/2006/main" prst="rect">
            <a:avLst/>
          </a:prstGeom>
          <a:solidFill xmlns:a="http://schemas.openxmlformats.org/drawingml/2006/main">
            <a:srgbClr val="819067"/>
          </a:solidFill>
          <a:ln xmlns:a="http://schemas.openxmlformats.org/drawingml/2006/main" w="0">
            <a:solidFill>
              <a:srgbClr val="819067"/>
            </a:solidFill>
            <a:prstDash val="solid"/>
          </a:ln>
        </p:spPr>
      </p:sp>
      <p:sp>
        <p:nvSpPr>
          <p:cNvPr id="7" name="">
            <a:extLst xmlns:a="http://schemas.openxmlformats.org/drawingml/2006/main">
              <a:ext uri="{FF2B5EF4-FFF2-40B4-BE49-F238E27FC236}">
                <a16:creationId xmlns:a16="http://schemas.microsoft.com/office/drawing/2014/main" id="{DC4C37CA-C842-4F72-8A89-62635CCD4861}"/>
              </a:ext>
            </a:extLst>
          </p:cNvPr>
          <p:cNvSpPr>
            <a:spLocks xmlns:a="http://schemas.openxmlformats.org/drawingml/2006/main" noGrp="1"/>
          </p:cNvSpPr>
          <p:nvPr/>
        </p:nvSpPr>
        <p:spPr>
          <a:xfrm xmlns:a="http://schemas.openxmlformats.org/drawingml/2006/main">
            <a:off x="6057900" y="2447925"/>
            <a:ext cx="76200" cy="38100"/>
          </a:xfrm>
          <a:prstGeom xmlns:a="http://schemas.openxmlformats.org/drawingml/2006/main" prst="rect">
            <a:avLst/>
          </a:prstGeom>
          <a:solidFill xmlns:a="http://schemas.openxmlformats.org/drawingml/2006/main">
            <a:srgbClr val="819067"/>
          </a:solidFill>
          <a:ln xmlns:a="http://schemas.openxmlformats.org/drawingml/2006/main" w="0">
            <a:solidFill>
              <a:srgbClr val="819067"/>
            </a:solidFill>
            <a:prstDash val="solid"/>
          </a:ln>
        </p:spPr>
      </p:sp>
      <p:sp>
        <p:nvSpPr>
          <p:cNvPr id="8" name="">
            <a:extLst xmlns:a="http://schemas.openxmlformats.org/drawingml/2006/main">
              <a:ext uri="{FF2B5EF4-FFF2-40B4-BE49-F238E27FC236}">
                <a16:creationId xmlns:a16="http://schemas.microsoft.com/office/drawing/2014/main" id="{87EF400F-5C31-4281-B65D-F3B67E9DF201}"/>
              </a:ext>
            </a:extLst>
          </p:cNvPr>
          <p:cNvSpPr>
            <a:spLocks xmlns:a="http://schemas.openxmlformats.org/drawingml/2006/main" noGrp="1"/>
          </p:cNvSpPr>
          <p:nvPr/>
        </p:nvSpPr>
        <p:spPr>
          <a:xfrm xmlns:a="http://schemas.openxmlformats.org/drawingml/2006/main">
            <a:off x="7458075" y="2447925"/>
            <a:ext cx="76200" cy="38100"/>
          </a:xfrm>
          <a:prstGeom xmlns:a="http://schemas.openxmlformats.org/drawingml/2006/main" prst="rect">
            <a:avLst/>
          </a:prstGeom>
          <a:solidFill xmlns:a="http://schemas.openxmlformats.org/drawingml/2006/main">
            <a:srgbClr val="819067"/>
          </a:solidFill>
          <a:ln xmlns:a="http://schemas.openxmlformats.org/drawingml/2006/main" w="0">
            <a:solidFill>
              <a:srgbClr val="819067"/>
            </a:solidFill>
            <a:prstDash val="solid"/>
          </a:ln>
        </p:spPr>
      </p:sp>
      <p:sp>
        <p:nvSpPr>
          <p:cNvPr id="9" name="">
            <a:extLst xmlns:a="http://schemas.openxmlformats.org/drawingml/2006/main">
              <a:ext uri="{FF2B5EF4-FFF2-40B4-BE49-F238E27FC236}">
                <a16:creationId xmlns:a16="http://schemas.microsoft.com/office/drawing/2014/main" id="{5247BD6B-6E0D-4D2C-9957-4F69C9FB90A7}"/>
              </a:ext>
            </a:extLst>
          </p:cNvPr>
          <p:cNvSpPr>
            <a:spLocks xmlns:a="http://schemas.openxmlformats.org/drawingml/2006/main" noGrp="1"/>
          </p:cNvSpPr>
          <p:nvPr/>
        </p:nvSpPr>
        <p:spPr>
          <a:xfrm xmlns:a="http://schemas.openxmlformats.org/drawingml/2006/main">
            <a:off x="8858250" y="2447925"/>
            <a:ext cx="76200" cy="38100"/>
          </a:xfrm>
          <a:prstGeom xmlns:a="http://schemas.openxmlformats.org/drawingml/2006/main" prst="rect">
            <a:avLst/>
          </a:prstGeom>
          <a:solidFill xmlns:a="http://schemas.openxmlformats.org/drawingml/2006/main">
            <a:srgbClr val="819067"/>
          </a:solidFill>
          <a:ln xmlns:a="http://schemas.openxmlformats.org/drawingml/2006/main" w="0">
            <a:solidFill>
              <a:srgbClr val="819067"/>
            </a:solidFill>
            <a:prstDash val="solid"/>
          </a:ln>
        </p:spPr>
      </p:sp>
      <p:sp>
        <p:nvSpPr>
          <p:cNvPr id="10" name="">
            <a:extLst xmlns:a="http://schemas.openxmlformats.org/drawingml/2006/main">
              <a:ext uri="{FF2B5EF4-FFF2-40B4-BE49-F238E27FC236}">
                <a16:creationId xmlns:a16="http://schemas.microsoft.com/office/drawing/2014/main" id="{4922D588-A595-4804-B39A-59C2F3002FAB}"/>
              </a:ext>
            </a:extLst>
          </p:cNvPr>
          <p:cNvSpPr>
            <a:spLocks xmlns:a="http://schemas.openxmlformats.org/drawingml/2006/main" noGrp="1"/>
          </p:cNvSpPr>
          <p:nvPr/>
        </p:nvSpPr>
        <p:spPr>
          <a:xfrm xmlns:a="http://schemas.openxmlformats.org/drawingml/2006/main">
            <a:off x="10258425" y="2447925"/>
            <a:ext cx="76200" cy="38100"/>
          </a:xfrm>
          <a:prstGeom xmlns:a="http://schemas.openxmlformats.org/drawingml/2006/main" prst="rect">
            <a:avLst/>
          </a:prstGeom>
          <a:solidFill xmlns:a="http://schemas.openxmlformats.org/drawingml/2006/main">
            <a:srgbClr val="819067"/>
          </a:solidFill>
          <a:ln xmlns:a="http://schemas.openxmlformats.org/drawingml/2006/main" w="0">
            <a:solidFill>
              <a:srgbClr val="819067"/>
            </a:solidFill>
            <a:prstDash val="solid"/>
          </a:ln>
        </p:spPr>
      </p:sp>
      <p:sp>
        <p:nvSpPr>
          <p:cNvPr id="11" name="">
            <a:extLst xmlns:a="http://schemas.openxmlformats.org/drawingml/2006/main">
              <a:ext uri="{FF2B5EF4-FFF2-40B4-BE49-F238E27FC236}">
                <a16:creationId xmlns:a16="http://schemas.microsoft.com/office/drawing/2014/main" id="{31922B54-F5B2-46D8-AA65-773672A0C819}"/>
              </a:ext>
            </a:extLst>
          </p:cNvPr>
          <p:cNvSpPr>
            <a:spLocks xmlns:a="http://schemas.openxmlformats.org/drawingml/2006/main" noGrp="1"/>
          </p:cNvSpPr>
          <p:nvPr/>
        </p:nvSpPr>
        <p:spPr>
          <a:xfrm xmlns:a="http://schemas.openxmlformats.org/drawingml/2006/main">
            <a:off x="533400" y="2038350"/>
            <a:ext cx="13239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58852410-9A1A-400B-A451-FF453B5EE85B}"/>
              </a:ext>
            </a:extLst>
          </p:cNvPr>
          <p:cNvSpPr>
            <a:spLocks xmlns:a="http://schemas.openxmlformats.org/drawingml/2006/main" noGrp="1"/>
          </p:cNvSpPr>
          <p:nvPr/>
        </p:nvSpPr>
        <p:spPr>
          <a:xfrm xmlns:a="http://schemas.openxmlformats.org/drawingml/2006/main">
            <a:off x="666750" y="216217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819067"/>
                </a:solidFill>
              </a:defRPr>
            </a:pPr>
            <a:r>
              <a:rPr sz="900" b="1">
                <a:solidFill>
                  <a:srgbClr val="819067"/>
                </a:solidFill>
              </a:rPr>
              <a:t>1</a:t>
            </a:r>
          </a:p>
        </p:txBody>
      </p:sp>
      <p:sp>
        <p:nvSpPr>
          <p:cNvPr id="13" name="">
            <a:extLst xmlns:a="http://schemas.openxmlformats.org/drawingml/2006/main">
              <a:ext uri="{FF2B5EF4-FFF2-40B4-BE49-F238E27FC236}">
                <a16:creationId xmlns:a16="http://schemas.microsoft.com/office/drawing/2014/main" id="{A5C85514-9E3F-4FE4-A818-41BE3B48E434}"/>
              </a:ext>
            </a:extLst>
          </p:cNvPr>
          <p:cNvSpPr>
            <a:spLocks xmlns:a="http://schemas.openxmlformats.org/drawingml/2006/main" noGrp="1"/>
          </p:cNvSpPr>
          <p:nvPr/>
        </p:nvSpPr>
        <p:spPr>
          <a:xfrm xmlns:a="http://schemas.openxmlformats.org/drawingml/2006/main">
            <a:off x="666750" y="2438400"/>
            <a:ext cx="10572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243127"/>
                </a:solidFill>
              </a:defRPr>
            </a:pPr>
            <a:r>
              <a:rPr sz="1275" b="1">
                <a:solidFill>
                  <a:srgbClr val="243127"/>
                </a:solidFill>
              </a:rPr>
              <a:t>Goal</a:t>
            </a:r>
          </a:p>
        </p:txBody>
      </p:sp>
      <p:sp>
        <p:nvSpPr>
          <p:cNvPr id="14" name="">
            <a:extLst xmlns:a="http://schemas.openxmlformats.org/drawingml/2006/main">
              <a:ext uri="{FF2B5EF4-FFF2-40B4-BE49-F238E27FC236}">
                <a16:creationId xmlns:a16="http://schemas.microsoft.com/office/drawing/2014/main" id="{DE9C79CF-5764-4C07-ACBA-AD94725400C9}"/>
              </a:ext>
            </a:extLst>
          </p:cNvPr>
          <p:cNvSpPr>
            <a:spLocks xmlns:a="http://schemas.openxmlformats.org/drawingml/2006/main" noGrp="1"/>
          </p:cNvSpPr>
          <p:nvPr/>
        </p:nvSpPr>
        <p:spPr>
          <a:xfrm xmlns:a="http://schemas.openxmlformats.org/drawingml/2006/main">
            <a:off x="1933575" y="2038350"/>
            <a:ext cx="13239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2B5500CD-4DF1-4627-A644-2AB05F4AA407}"/>
              </a:ext>
            </a:extLst>
          </p:cNvPr>
          <p:cNvSpPr>
            <a:spLocks xmlns:a="http://schemas.openxmlformats.org/drawingml/2006/main" noGrp="1"/>
          </p:cNvSpPr>
          <p:nvPr/>
        </p:nvSpPr>
        <p:spPr>
          <a:xfrm xmlns:a="http://schemas.openxmlformats.org/drawingml/2006/main">
            <a:off x="2066925" y="216217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819067"/>
                </a:solidFill>
              </a:defRPr>
            </a:pPr>
            <a:r>
              <a:rPr sz="900" b="1">
                <a:solidFill>
                  <a:srgbClr val="819067"/>
                </a:solidFill>
              </a:rPr>
              <a:t>2</a:t>
            </a:r>
          </a:p>
        </p:txBody>
      </p:sp>
      <p:sp>
        <p:nvSpPr>
          <p:cNvPr id="16" name="">
            <a:extLst xmlns:a="http://schemas.openxmlformats.org/drawingml/2006/main">
              <a:ext uri="{FF2B5EF4-FFF2-40B4-BE49-F238E27FC236}">
                <a16:creationId xmlns:a16="http://schemas.microsoft.com/office/drawing/2014/main" id="{6FEA097C-62A0-4A97-8AD6-DEA620732CB9}"/>
              </a:ext>
            </a:extLst>
          </p:cNvPr>
          <p:cNvSpPr>
            <a:spLocks xmlns:a="http://schemas.openxmlformats.org/drawingml/2006/main" noGrp="1"/>
          </p:cNvSpPr>
          <p:nvPr/>
        </p:nvSpPr>
        <p:spPr>
          <a:xfrm xmlns:a="http://schemas.openxmlformats.org/drawingml/2006/main">
            <a:off x="2066925" y="2438400"/>
            <a:ext cx="10572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243127"/>
                </a:solidFill>
              </a:defRPr>
            </a:pPr>
            <a:r>
              <a:rPr sz="1275" b="1">
                <a:solidFill>
                  <a:srgbClr val="243127"/>
                </a:solidFill>
              </a:rPr>
              <a:t>Plan</a:t>
            </a:r>
          </a:p>
        </p:txBody>
      </p:sp>
      <p:sp>
        <p:nvSpPr>
          <p:cNvPr id="17" name="">
            <a:extLst xmlns:a="http://schemas.openxmlformats.org/drawingml/2006/main">
              <a:ext uri="{FF2B5EF4-FFF2-40B4-BE49-F238E27FC236}">
                <a16:creationId xmlns:a16="http://schemas.microsoft.com/office/drawing/2014/main" id="{971685B4-23FB-4C5B-9266-B999DFAC7D30}"/>
              </a:ext>
            </a:extLst>
          </p:cNvPr>
          <p:cNvSpPr>
            <a:spLocks xmlns:a="http://schemas.openxmlformats.org/drawingml/2006/main" noGrp="1"/>
          </p:cNvSpPr>
          <p:nvPr/>
        </p:nvSpPr>
        <p:spPr>
          <a:xfrm xmlns:a="http://schemas.openxmlformats.org/drawingml/2006/main">
            <a:off x="3333750" y="2038350"/>
            <a:ext cx="13239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1E691F24-7F28-4E25-9DC1-3D849B221A85}"/>
              </a:ext>
            </a:extLst>
          </p:cNvPr>
          <p:cNvSpPr>
            <a:spLocks xmlns:a="http://schemas.openxmlformats.org/drawingml/2006/main" noGrp="1"/>
          </p:cNvSpPr>
          <p:nvPr/>
        </p:nvSpPr>
        <p:spPr>
          <a:xfrm xmlns:a="http://schemas.openxmlformats.org/drawingml/2006/main">
            <a:off x="3467100" y="216217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819067"/>
                </a:solidFill>
              </a:defRPr>
            </a:pPr>
            <a:r>
              <a:rPr sz="900" b="1">
                <a:solidFill>
                  <a:srgbClr val="819067"/>
                </a:solidFill>
              </a:rPr>
              <a:t>3</a:t>
            </a:r>
          </a:p>
        </p:txBody>
      </p:sp>
      <p:sp>
        <p:nvSpPr>
          <p:cNvPr id="19" name="">
            <a:extLst xmlns:a="http://schemas.openxmlformats.org/drawingml/2006/main">
              <a:ext uri="{FF2B5EF4-FFF2-40B4-BE49-F238E27FC236}">
                <a16:creationId xmlns:a16="http://schemas.microsoft.com/office/drawing/2014/main" id="{C0246377-7D9F-4F86-9400-B42E99990429}"/>
              </a:ext>
            </a:extLst>
          </p:cNvPr>
          <p:cNvSpPr>
            <a:spLocks xmlns:a="http://schemas.openxmlformats.org/drawingml/2006/main" noGrp="1"/>
          </p:cNvSpPr>
          <p:nvPr/>
        </p:nvSpPr>
        <p:spPr>
          <a:xfrm xmlns:a="http://schemas.openxmlformats.org/drawingml/2006/main">
            <a:off x="3467100" y="2438400"/>
            <a:ext cx="10572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243127"/>
                </a:solidFill>
              </a:defRPr>
            </a:pPr>
            <a:r>
              <a:rPr sz="1275" b="1">
                <a:solidFill>
                  <a:srgbClr val="243127"/>
                </a:solidFill>
              </a:rPr>
              <a:t>Read tools</a:t>
            </a:r>
          </a:p>
        </p:txBody>
      </p:sp>
      <p:sp>
        <p:nvSpPr>
          <p:cNvPr id="20" name="">
            <a:extLst xmlns:a="http://schemas.openxmlformats.org/drawingml/2006/main">
              <a:ext uri="{FF2B5EF4-FFF2-40B4-BE49-F238E27FC236}">
                <a16:creationId xmlns:a16="http://schemas.microsoft.com/office/drawing/2014/main" id="{5713D3F7-064F-49EF-90B5-AE9113353363}"/>
              </a:ext>
            </a:extLst>
          </p:cNvPr>
          <p:cNvSpPr>
            <a:spLocks xmlns:a="http://schemas.openxmlformats.org/drawingml/2006/main" noGrp="1"/>
          </p:cNvSpPr>
          <p:nvPr/>
        </p:nvSpPr>
        <p:spPr>
          <a:xfrm xmlns:a="http://schemas.openxmlformats.org/drawingml/2006/main">
            <a:off x="4733925" y="2038350"/>
            <a:ext cx="13239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233424B9-AF6A-48C2-BAAA-6185C632C36D}"/>
              </a:ext>
            </a:extLst>
          </p:cNvPr>
          <p:cNvSpPr>
            <a:spLocks xmlns:a="http://schemas.openxmlformats.org/drawingml/2006/main" noGrp="1"/>
          </p:cNvSpPr>
          <p:nvPr/>
        </p:nvSpPr>
        <p:spPr>
          <a:xfrm xmlns:a="http://schemas.openxmlformats.org/drawingml/2006/main">
            <a:off x="4867275" y="216217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819067"/>
                </a:solidFill>
              </a:defRPr>
            </a:pPr>
            <a:r>
              <a:rPr sz="900" b="1">
                <a:solidFill>
                  <a:srgbClr val="819067"/>
                </a:solidFill>
              </a:rPr>
              <a:t>4</a:t>
            </a:r>
          </a:p>
        </p:txBody>
      </p:sp>
      <p:sp>
        <p:nvSpPr>
          <p:cNvPr id="22" name="">
            <a:extLst xmlns:a="http://schemas.openxmlformats.org/drawingml/2006/main">
              <a:ext uri="{FF2B5EF4-FFF2-40B4-BE49-F238E27FC236}">
                <a16:creationId xmlns:a16="http://schemas.microsoft.com/office/drawing/2014/main" id="{791C9D16-BB41-47DD-B90E-30608F0C682B}"/>
              </a:ext>
            </a:extLst>
          </p:cNvPr>
          <p:cNvSpPr>
            <a:spLocks xmlns:a="http://schemas.openxmlformats.org/drawingml/2006/main" noGrp="1"/>
          </p:cNvSpPr>
          <p:nvPr/>
        </p:nvSpPr>
        <p:spPr>
          <a:xfrm xmlns:a="http://schemas.openxmlformats.org/drawingml/2006/main">
            <a:off x="4867275" y="2438400"/>
            <a:ext cx="10572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243127"/>
                </a:solidFill>
              </a:defRPr>
            </a:pPr>
            <a:r>
              <a:rPr sz="1275" b="1">
                <a:solidFill>
                  <a:srgbClr val="243127"/>
                </a:solidFill>
              </a:rPr>
              <a:t>Observation</a:t>
            </a:r>
          </a:p>
        </p:txBody>
      </p:sp>
      <p:sp>
        <p:nvSpPr>
          <p:cNvPr id="23" name="">
            <a:extLst xmlns:a="http://schemas.openxmlformats.org/drawingml/2006/main">
              <a:ext uri="{FF2B5EF4-FFF2-40B4-BE49-F238E27FC236}">
                <a16:creationId xmlns:a16="http://schemas.microsoft.com/office/drawing/2014/main" id="{E247FEF8-1E3D-4421-9999-BD97E97C9EF8}"/>
              </a:ext>
            </a:extLst>
          </p:cNvPr>
          <p:cNvSpPr>
            <a:spLocks xmlns:a="http://schemas.openxmlformats.org/drawingml/2006/main" noGrp="1"/>
          </p:cNvSpPr>
          <p:nvPr/>
        </p:nvSpPr>
        <p:spPr>
          <a:xfrm xmlns:a="http://schemas.openxmlformats.org/drawingml/2006/main">
            <a:off x="6134100" y="2038350"/>
            <a:ext cx="13239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18929850-A009-44F4-9A08-9405CB5B5558}"/>
              </a:ext>
            </a:extLst>
          </p:cNvPr>
          <p:cNvSpPr>
            <a:spLocks xmlns:a="http://schemas.openxmlformats.org/drawingml/2006/main" noGrp="1"/>
          </p:cNvSpPr>
          <p:nvPr/>
        </p:nvSpPr>
        <p:spPr>
          <a:xfrm xmlns:a="http://schemas.openxmlformats.org/drawingml/2006/main">
            <a:off x="6267450" y="216217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819067"/>
                </a:solidFill>
              </a:defRPr>
            </a:pPr>
            <a:r>
              <a:rPr sz="900" b="1">
                <a:solidFill>
                  <a:srgbClr val="819067"/>
                </a:solidFill>
              </a:rPr>
              <a:t>5</a:t>
            </a:r>
          </a:p>
        </p:txBody>
      </p:sp>
      <p:sp>
        <p:nvSpPr>
          <p:cNvPr id="25" name="">
            <a:extLst xmlns:a="http://schemas.openxmlformats.org/drawingml/2006/main">
              <a:ext uri="{FF2B5EF4-FFF2-40B4-BE49-F238E27FC236}">
                <a16:creationId xmlns:a16="http://schemas.microsoft.com/office/drawing/2014/main" id="{FDB583C5-4CF8-43DF-A8E1-BCFEC6E65E84}"/>
              </a:ext>
            </a:extLst>
          </p:cNvPr>
          <p:cNvSpPr>
            <a:spLocks xmlns:a="http://schemas.openxmlformats.org/drawingml/2006/main" noGrp="1"/>
          </p:cNvSpPr>
          <p:nvPr/>
        </p:nvSpPr>
        <p:spPr>
          <a:xfrm xmlns:a="http://schemas.openxmlformats.org/drawingml/2006/main">
            <a:off x="6267450" y="2438400"/>
            <a:ext cx="10572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243127"/>
                </a:solidFill>
              </a:defRPr>
            </a:pPr>
            <a:r>
              <a:rPr sz="1275" b="1">
                <a:solidFill>
                  <a:srgbClr val="243127"/>
                </a:solidFill>
              </a:rPr>
              <a:t>Proposal</a:t>
            </a:r>
          </a:p>
        </p:txBody>
      </p:sp>
      <p:sp>
        <p:nvSpPr>
          <p:cNvPr id="26" name="">
            <a:extLst xmlns:a="http://schemas.openxmlformats.org/drawingml/2006/main">
              <a:ext uri="{FF2B5EF4-FFF2-40B4-BE49-F238E27FC236}">
                <a16:creationId xmlns:a16="http://schemas.microsoft.com/office/drawing/2014/main" id="{F14E7934-2434-4D0B-B098-4FED3A1FFF77}"/>
              </a:ext>
            </a:extLst>
          </p:cNvPr>
          <p:cNvSpPr>
            <a:spLocks xmlns:a="http://schemas.openxmlformats.org/drawingml/2006/main" noGrp="1"/>
          </p:cNvSpPr>
          <p:nvPr/>
        </p:nvSpPr>
        <p:spPr>
          <a:xfrm xmlns:a="http://schemas.openxmlformats.org/drawingml/2006/main">
            <a:off x="7534275" y="2038350"/>
            <a:ext cx="13239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E1D38EA2-0BEA-43DE-9035-5B40D31CFDD0}"/>
              </a:ext>
            </a:extLst>
          </p:cNvPr>
          <p:cNvSpPr>
            <a:spLocks xmlns:a="http://schemas.openxmlformats.org/drawingml/2006/main" noGrp="1"/>
          </p:cNvSpPr>
          <p:nvPr/>
        </p:nvSpPr>
        <p:spPr>
          <a:xfrm xmlns:a="http://schemas.openxmlformats.org/drawingml/2006/main">
            <a:off x="7667625" y="216217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819067"/>
                </a:solidFill>
              </a:defRPr>
            </a:pPr>
            <a:r>
              <a:rPr sz="900" b="1">
                <a:solidFill>
                  <a:srgbClr val="819067"/>
                </a:solidFill>
              </a:rPr>
              <a:t>6</a:t>
            </a:r>
          </a:p>
        </p:txBody>
      </p:sp>
      <p:sp>
        <p:nvSpPr>
          <p:cNvPr id="28" name="">
            <a:extLst xmlns:a="http://schemas.openxmlformats.org/drawingml/2006/main">
              <a:ext uri="{FF2B5EF4-FFF2-40B4-BE49-F238E27FC236}">
                <a16:creationId xmlns:a16="http://schemas.microsoft.com/office/drawing/2014/main" id="{D8701074-6925-4798-81B8-B95D6ACD3021}"/>
              </a:ext>
            </a:extLst>
          </p:cNvPr>
          <p:cNvSpPr>
            <a:spLocks xmlns:a="http://schemas.openxmlformats.org/drawingml/2006/main" noGrp="1"/>
          </p:cNvSpPr>
          <p:nvPr/>
        </p:nvSpPr>
        <p:spPr>
          <a:xfrm xmlns:a="http://schemas.openxmlformats.org/drawingml/2006/main">
            <a:off x="7667625" y="2438400"/>
            <a:ext cx="10572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243127"/>
                </a:solidFill>
              </a:defRPr>
            </a:pPr>
            <a:r>
              <a:rPr sz="1275" b="1">
                <a:solidFill>
                  <a:srgbClr val="243127"/>
                </a:solidFill>
              </a:rPr>
              <a:t>Human approval</a:t>
            </a:r>
          </a:p>
        </p:txBody>
      </p:sp>
      <p:sp>
        <p:nvSpPr>
          <p:cNvPr id="29" name="">
            <a:extLst xmlns:a="http://schemas.openxmlformats.org/drawingml/2006/main">
              <a:ext uri="{FF2B5EF4-FFF2-40B4-BE49-F238E27FC236}">
                <a16:creationId xmlns:a16="http://schemas.microsoft.com/office/drawing/2014/main" id="{9663CFAE-A5E8-4D02-8275-74306AEB2BD3}"/>
              </a:ext>
            </a:extLst>
          </p:cNvPr>
          <p:cNvSpPr>
            <a:spLocks xmlns:a="http://schemas.openxmlformats.org/drawingml/2006/main" noGrp="1"/>
          </p:cNvSpPr>
          <p:nvPr/>
        </p:nvSpPr>
        <p:spPr>
          <a:xfrm xmlns:a="http://schemas.openxmlformats.org/drawingml/2006/main">
            <a:off x="8934450" y="2038350"/>
            <a:ext cx="13239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40F6BD40-8DCD-40DB-83BF-04AAAE360C45}"/>
              </a:ext>
            </a:extLst>
          </p:cNvPr>
          <p:cNvSpPr>
            <a:spLocks xmlns:a="http://schemas.openxmlformats.org/drawingml/2006/main" noGrp="1"/>
          </p:cNvSpPr>
          <p:nvPr/>
        </p:nvSpPr>
        <p:spPr>
          <a:xfrm xmlns:a="http://schemas.openxmlformats.org/drawingml/2006/main">
            <a:off x="9067800" y="216217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819067"/>
                </a:solidFill>
              </a:defRPr>
            </a:pPr>
            <a:r>
              <a:rPr sz="900" b="1">
                <a:solidFill>
                  <a:srgbClr val="819067"/>
                </a:solidFill>
              </a:rPr>
              <a:t>7</a:t>
            </a:r>
          </a:p>
        </p:txBody>
      </p:sp>
      <p:sp>
        <p:nvSpPr>
          <p:cNvPr id="31" name="">
            <a:extLst xmlns:a="http://schemas.openxmlformats.org/drawingml/2006/main">
              <a:ext uri="{FF2B5EF4-FFF2-40B4-BE49-F238E27FC236}">
                <a16:creationId xmlns:a16="http://schemas.microsoft.com/office/drawing/2014/main" id="{5F06A896-F8BB-478F-9F19-E874DCB0B0C0}"/>
              </a:ext>
            </a:extLst>
          </p:cNvPr>
          <p:cNvSpPr>
            <a:spLocks xmlns:a="http://schemas.openxmlformats.org/drawingml/2006/main" noGrp="1"/>
          </p:cNvSpPr>
          <p:nvPr/>
        </p:nvSpPr>
        <p:spPr>
          <a:xfrm xmlns:a="http://schemas.openxmlformats.org/drawingml/2006/main">
            <a:off x="9067800" y="2438400"/>
            <a:ext cx="10572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243127"/>
                </a:solidFill>
              </a:defRPr>
            </a:pPr>
            <a:r>
              <a:rPr sz="1275" b="1">
                <a:solidFill>
                  <a:srgbClr val="243127"/>
                </a:solidFill>
              </a:rPr>
              <a:t>Execute</a:t>
            </a:r>
          </a:p>
        </p:txBody>
      </p:sp>
      <p:sp>
        <p:nvSpPr>
          <p:cNvPr id="32" name="">
            <a:extLst xmlns:a="http://schemas.openxmlformats.org/drawingml/2006/main">
              <a:ext uri="{FF2B5EF4-FFF2-40B4-BE49-F238E27FC236}">
                <a16:creationId xmlns:a16="http://schemas.microsoft.com/office/drawing/2014/main" id="{3530F1C2-EE36-497D-9B57-F8FE49CC3954}"/>
              </a:ext>
            </a:extLst>
          </p:cNvPr>
          <p:cNvSpPr>
            <a:spLocks xmlns:a="http://schemas.openxmlformats.org/drawingml/2006/main" noGrp="1"/>
          </p:cNvSpPr>
          <p:nvPr/>
        </p:nvSpPr>
        <p:spPr>
          <a:xfrm xmlns:a="http://schemas.openxmlformats.org/drawingml/2006/main">
            <a:off x="10334625" y="2038350"/>
            <a:ext cx="1323975" cy="857250"/>
          </a:xfrm>
          <a:prstGeom xmlns:a="http://schemas.openxmlformats.org/drawingml/2006/main" prst="roundRect">
            <a:avLst>
              <a:gd name="adj" fmla="val 13333"/>
            </a:avLst>
          </a:prstGeom>
          <a:solidFill xmlns:a="http://schemas.openxmlformats.org/drawingml/2006/main">
            <a:srgbClr val="17531B"/>
          </a:solidFill>
          <a:ln xmlns:a="http://schemas.openxmlformats.org/drawingml/2006/main" w="9525">
            <a:solidFill>
              <a:srgbClr val="17531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3" name="">
            <a:extLst xmlns:a="http://schemas.openxmlformats.org/drawingml/2006/main">
              <a:ext uri="{FF2B5EF4-FFF2-40B4-BE49-F238E27FC236}">
                <a16:creationId xmlns:a16="http://schemas.microsoft.com/office/drawing/2014/main" id="{2AEE3C12-54C0-4506-A2E5-9FEDB37A6890}"/>
              </a:ext>
            </a:extLst>
          </p:cNvPr>
          <p:cNvSpPr>
            <a:spLocks xmlns:a="http://schemas.openxmlformats.org/drawingml/2006/main" noGrp="1"/>
          </p:cNvSpPr>
          <p:nvPr/>
        </p:nvSpPr>
        <p:spPr>
          <a:xfrm xmlns:a="http://schemas.openxmlformats.org/drawingml/2006/main">
            <a:off x="10467975" y="216217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DDE8D6"/>
                </a:solidFill>
              </a:defRPr>
            </a:pPr>
            <a:r>
              <a:rPr sz="900" b="1">
                <a:solidFill>
                  <a:srgbClr val="DDE8D6"/>
                </a:solidFill>
              </a:rPr>
              <a:t>8</a:t>
            </a:r>
          </a:p>
        </p:txBody>
      </p:sp>
      <p:sp>
        <p:nvSpPr>
          <p:cNvPr id="34" name="">
            <a:extLst xmlns:a="http://schemas.openxmlformats.org/drawingml/2006/main">
              <a:ext uri="{FF2B5EF4-FFF2-40B4-BE49-F238E27FC236}">
                <a16:creationId xmlns:a16="http://schemas.microsoft.com/office/drawing/2014/main" id="{FFDAF2C5-CA7A-47A8-BE14-3CBF27127861}"/>
              </a:ext>
            </a:extLst>
          </p:cNvPr>
          <p:cNvSpPr>
            <a:spLocks xmlns:a="http://schemas.openxmlformats.org/drawingml/2006/main" noGrp="1"/>
          </p:cNvSpPr>
          <p:nvPr/>
        </p:nvSpPr>
        <p:spPr>
          <a:xfrm xmlns:a="http://schemas.openxmlformats.org/drawingml/2006/main">
            <a:off x="10467975" y="2438400"/>
            <a:ext cx="10572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Verify</a:t>
            </a:r>
          </a:p>
        </p:txBody>
      </p:sp>
      <p:sp>
        <p:nvSpPr>
          <p:cNvPr id="35" name="">
            <a:extLst xmlns:a="http://schemas.openxmlformats.org/drawingml/2006/main">
              <a:ext uri="{FF2B5EF4-FFF2-40B4-BE49-F238E27FC236}">
                <a16:creationId xmlns:a16="http://schemas.microsoft.com/office/drawing/2014/main" id="{370E07EC-8FD6-49F4-B568-796872E9C4F9}"/>
              </a:ext>
            </a:extLst>
          </p:cNvPr>
          <p:cNvSpPr>
            <a:spLocks xmlns:a="http://schemas.openxmlformats.org/drawingml/2006/main" noGrp="1"/>
          </p:cNvSpPr>
          <p:nvPr/>
        </p:nvSpPr>
        <p:spPr>
          <a:xfrm xmlns:a="http://schemas.openxmlformats.org/drawingml/2006/main">
            <a:off x="685800" y="3390900"/>
            <a:ext cx="4953000"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69CBAD5A-EE28-4C4C-9133-D24A583DE8D8}"/>
              </a:ext>
            </a:extLst>
          </p:cNvPr>
          <p:cNvSpPr>
            <a:spLocks xmlns:a="http://schemas.openxmlformats.org/drawingml/2006/main" noGrp="1"/>
          </p:cNvSpPr>
          <p:nvPr/>
        </p:nvSpPr>
        <p:spPr>
          <a:xfrm xmlns:a="http://schemas.openxmlformats.org/drawingml/2006/main">
            <a:off x="952500" y="36766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7531B"/>
                </a:solidFill>
              </a:defRPr>
            </a:pPr>
            <a:r>
              <a:rPr sz="1800" b="1">
                <a:solidFill>
                  <a:srgbClr val="17531B"/>
                </a:solidFill>
              </a:rPr>
              <a:t>Observation</a:t>
            </a:r>
          </a:p>
        </p:txBody>
      </p:sp>
      <p:sp>
        <p:nvSpPr>
          <p:cNvPr id="37" name="">
            <a:extLst xmlns:a="http://schemas.openxmlformats.org/drawingml/2006/main">
              <a:ext uri="{FF2B5EF4-FFF2-40B4-BE49-F238E27FC236}">
                <a16:creationId xmlns:a16="http://schemas.microsoft.com/office/drawing/2014/main" id="{974949C4-8BA1-488F-ACE9-080162CBBEE3}"/>
              </a:ext>
            </a:extLst>
          </p:cNvPr>
          <p:cNvSpPr>
            <a:spLocks xmlns:a="http://schemas.openxmlformats.org/drawingml/2006/main" noGrp="1"/>
          </p:cNvSpPr>
          <p:nvPr/>
        </p:nvSpPr>
        <p:spPr>
          <a:xfrm xmlns:a="http://schemas.openxmlformats.org/drawingml/2006/main">
            <a:off x="952500" y="4114800"/>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127"/>
                </a:solidFill>
              </a:defRPr>
            </a:pPr>
            <a:r>
              <a:rPr sz="1350" b="0">
                <a:solidFill>
                  <a:srgbClr val="243127"/>
                </a:solidFill>
              </a:rPr>
              <a:t>12 overdue tasks · 2 blocked approvals</a:t>
            </a:r>
          </a:p>
        </p:txBody>
      </p:sp>
      <p:sp>
        <p:nvSpPr>
          <p:cNvPr id="38" name="">
            <a:extLst xmlns:a="http://schemas.openxmlformats.org/drawingml/2006/main">
              <a:ext uri="{FF2B5EF4-FFF2-40B4-BE49-F238E27FC236}">
                <a16:creationId xmlns:a16="http://schemas.microsoft.com/office/drawing/2014/main" id="{C198293A-D8FD-4D0D-B5F8-94BE99C84EAC}"/>
              </a:ext>
            </a:extLst>
          </p:cNvPr>
          <p:cNvSpPr>
            <a:spLocks xmlns:a="http://schemas.openxmlformats.org/drawingml/2006/main" noGrp="1"/>
          </p:cNvSpPr>
          <p:nvPr/>
        </p:nvSpPr>
        <p:spPr>
          <a:xfrm xmlns:a="http://schemas.openxmlformats.org/drawingml/2006/main">
            <a:off x="952500" y="4514850"/>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819067"/>
                </a:solidFill>
              </a:defRPr>
            </a:pPr>
            <a:r>
              <a:rPr sz="2250" b="1">
                <a:solidFill>
                  <a:srgbClr val="819067"/>
                </a:solidFill>
              </a:rPr>
              <a:t>↓</a:t>
            </a:r>
          </a:p>
        </p:txBody>
      </p:sp>
      <p:sp>
        <p:nvSpPr>
          <p:cNvPr id="39" name="">
            <a:extLst xmlns:a="http://schemas.openxmlformats.org/drawingml/2006/main">
              <a:ext uri="{FF2B5EF4-FFF2-40B4-BE49-F238E27FC236}">
                <a16:creationId xmlns:a16="http://schemas.microsoft.com/office/drawing/2014/main" id="{593F2E7D-A33A-4D58-9BA0-7CD72ADD0EC7}"/>
              </a:ext>
            </a:extLst>
          </p:cNvPr>
          <p:cNvSpPr>
            <a:spLocks xmlns:a="http://schemas.openxmlformats.org/drawingml/2006/main" noGrp="1"/>
          </p:cNvSpPr>
          <p:nvPr/>
        </p:nvSpPr>
        <p:spPr>
          <a:xfrm xmlns:a="http://schemas.openxmlformats.org/drawingml/2006/main">
            <a:off x="952500" y="50101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17064"/>
                </a:solidFill>
              </a:defRPr>
            </a:pPr>
            <a:r>
              <a:rPr sz="1275" b="0">
                <a:solidFill>
                  <a:srgbClr val="617064"/>
                </a:solidFill>
              </a:rPr>
              <a:t>Next tool selected</a:t>
            </a:r>
          </a:p>
        </p:txBody>
      </p:sp>
      <p:sp>
        <p:nvSpPr>
          <p:cNvPr id="40" name="">
            <a:extLst xmlns:a="http://schemas.openxmlformats.org/drawingml/2006/main">
              <a:ext uri="{FF2B5EF4-FFF2-40B4-BE49-F238E27FC236}">
                <a16:creationId xmlns:a16="http://schemas.microsoft.com/office/drawing/2014/main" id="{FF298654-F7DC-436C-90A7-4F1C25700982}"/>
              </a:ext>
            </a:extLst>
          </p:cNvPr>
          <p:cNvSpPr>
            <a:spLocks xmlns:a="http://schemas.openxmlformats.org/drawingml/2006/main" noGrp="1"/>
          </p:cNvSpPr>
          <p:nvPr/>
        </p:nvSpPr>
        <p:spPr>
          <a:xfrm xmlns:a="http://schemas.openxmlformats.org/drawingml/2006/main">
            <a:off x="2914650" y="4914900"/>
            <a:ext cx="2362200" cy="514350"/>
          </a:xfrm>
          <a:prstGeom xmlns:a="http://schemas.openxmlformats.org/drawingml/2006/main" prst="roundRect">
            <a:avLst>
              <a:gd name="adj" fmla="val 22222"/>
            </a:avLst>
          </a:prstGeom>
          <a:solidFill xmlns:a="http://schemas.openxmlformats.org/drawingml/2006/main">
            <a:srgbClr val="0A400C"/>
          </a:solidFill>
          <a:ln xmlns:a="http://schemas.openxmlformats.org/drawingml/2006/main" w="0">
            <a:solidFill>
              <a:srgbClr val="0A400C"/>
            </a:solidFill>
            <a:prstDash val="solid"/>
          </a:ln>
        </p:spPr>
      </p:sp>
      <p:sp>
        <p:nvSpPr>
          <p:cNvPr id="41" name="">
            <a:extLst xmlns:a="http://schemas.openxmlformats.org/drawingml/2006/main">
              <a:ext uri="{FF2B5EF4-FFF2-40B4-BE49-F238E27FC236}">
                <a16:creationId xmlns:a16="http://schemas.microsoft.com/office/drawing/2014/main" id="{A7425656-0391-4510-B937-D88242DA2AA5}"/>
              </a:ext>
            </a:extLst>
          </p:cNvPr>
          <p:cNvSpPr>
            <a:spLocks xmlns:a="http://schemas.openxmlformats.org/drawingml/2006/main" noGrp="1"/>
          </p:cNvSpPr>
          <p:nvPr/>
        </p:nvSpPr>
        <p:spPr>
          <a:xfrm xmlns:a="http://schemas.openxmlformats.org/drawingml/2006/main">
            <a:off x="3028950" y="5057775"/>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get_team_workload</a:t>
            </a:r>
          </a:p>
        </p:txBody>
      </p:sp>
      <p:sp>
        <p:nvSpPr>
          <p:cNvPr id="42" name="">
            <a:extLst xmlns:a="http://schemas.openxmlformats.org/drawingml/2006/main">
              <a:ext uri="{FF2B5EF4-FFF2-40B4-BE49-F238E27FC236}">
                <a16:creationId xmlns:a16="http://schemas.microsoft.com/office/drawing/2014/main" id="{25A86B9D-11DF-46DE-B99B-EC3976FC23C5}"/>
              </a:ext>
            </a:extLst>
          </p:cNvPr>
          <p:cNvSpPr>
            <a:spLocks xmlns:a="http://schemas.openxmlformats.org/drawingml/2006/main" noGrp="1"/>
          </p:cNvSpPr>
          <p:nvPr/>
        </p:nvSpPr>
        <p:spPr>
          <a:xfrm xmlns:a="http://schemas.openxmlformats.org/drawingml/2006/main">
            <a:off x="6076950" y="33909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531B"/>
                </a:solidFill>
              </a:defRPr>
            </a:pPr>
            <a:r>
              <a:rPr sz="1725" b="1">
                <a:solidFill>
                  <a:srgbClr val="17531B"/>
                </a:solidFill>
              </a:rPr>
              <a:t>Dynamic read tools</a:t>
            </a:r>
          </a:p>
        </p:txBody>
      </p:sp>
      <p:sp>
        <p:nvSpPr>
          <p:cNvPr id="43" name="">
            <a:extLst xmlns:a="http://schemas.openxmlformats.org/drawingml/2006/main">
              <a:ext uri="{FF2B5EF4-FFF2-40B4-BE49-F238E27FC236}">
                <a16:creationId xmlns:a16="http://schemas.microsoft.com/office/drawing/2014/main" id="{4D23B64B-634E-4B93-A32B-8114498EA953}"/>
              </a:ext>
            </a:extLst>
          </p:cNvPr>
          <p:cNvSpPr>
            <a:spLocks xmlns:a="http://schemas.openxmlformats.org/drawingml/2006/main" noGrp="1"/>
          </p:cNvSpPr>
          <p:nvPr/>
        </p:nvSpPr>
        <p:spPr>
          <a:xfrm xmlns:a="http://schemas.openxmlformats.org/drawingml/2006/main">
            <a:off x="6115050" y="3829050"/>
            <a:ext cx="257175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127"/>
                </a:solidFill>
              </a:defRPr>
            </a:pPr>
            <a:r>
              <a:rPr sz="1275" b="0">
                <a:solidFill>
                  <a:srgbClr val="243127"/>
                </a:solidFill>
              </a:rPr>
              <a:t>• Project snapshot</a:t>
            </a:r>
          </a:p>
          <a:p xmlns:a="http://schemas.openxmlformats.org/drawingml/2006/main">
            <a:pPr algn="l">
              <a:defRPr sz="1275" b="0">
                <a:solidFill>
                  <a:srgbClr val="243127"/>
                </a:solidFill>
              </a:defRPr>
            </a:pPr>
            <a:r>
              <a:rPr sz="1275" b="0">
                <a:solidFill>
                  <a:srgbClr val="243127"/>
                </a:solidFill>
              </a:rPr>
              <a:t>• Overdue and blocked tasks</a:t>
            </a:r>
          </a:p>
          <a:p xmlns:a="http://schemas.openxmlformats.org/drawingml/2006/main">
            <a:pPr algn="l">
              <a:defRPr sz="1275" b="0">
                <a:solidFill>
                  <a:srgbClr val="243127"/>
                </a:solidFill>
              </a:defRPr>
            </a:pPr>
            <a:r>
              <a:rPr sz="1275" b="0">
                <a:solidFill>
                  <a:srgbClr val="243127"/>
                </a:solidFill>
              </a:rPr>
              <a:t>• Upcoming milestones</a:t>
            </a:r>
          </a:p>
          <a:p xmlns:a="http://schemas.openxmlformats.org/drawingml/2006/main">
            <a:pPr algn="l">
              <a:defRPr sz="1275" b="0">
                <a:solidFill>
                  <a:srgbClr val="243127"/>
                </a:solidFill>
              </a:defRPr>
            </a:pPr>
            <a:r>
              <a:rPr sz="1275" b="0">
                <a:solidFill>
                  <a:srgbClr val="243127"/>
                </a:solidFill>
              </a:rPr>
              <a:t>• Pending approvals</a:t>
            </a:r>
          </a:p>
          <a:p xmlns:a="http://schemas.openxmlformats.org/drawingml/2006/main">
            <a:pPr algn="l">
              <a:defRPr sz="1275" b="0">
                <a:solidFill>
                  <a:srgbClr val="243127"/>
                </a:solidFill>
              </a:defRPr>
            </a:pPr>
            <a:r>
              <a:rPr sz="1275" b="0">
                <a:solidFill>
                  <a:srgbClr val="243127"/>
                </a:solidFill>
              </a:rPr>
              <a:t>• Team workload</a:t>
            </a:r>
          </a:p>
          <a:p xmlns:a="http://schemas.openxmlformats.org/drawingml/2006/main">
            <a:pPr algn="l">
              <a:defRPr sz="1275" b="0">
                <a:solidFill>
                  <a:srgbClr val="243127"/>
                </a:solidFill>
              </a:defRPr>
            </a:pPr>
            <a:r>
              <a:rPr sz="1275" b="0">
                <a:solidFill>
                  <a:srgbClr val="243127"/>
                </a:solidFill>
              </a:rPr>
              <a:t>• Project progress</a:t>
            </a:r>
          </a:p>
          <a:p xmlns:a="http://schemas.openxmlformats.org/drawingml/2006/main">
            <a:pPr algn="l">
              <a:defRPr sz="1275" b="0">
                <a:solidFill>
                  <a:srgbClr val="243127"/>
                </a:solidFill>
              </a:defRPr>
            </a:pPr>
            <a:r>
              <a:rPr sz="1275" b="0">
                <a:solidFill>
                  <a:srgbClr val="243127"/>
                </a:solidFill>
              </a:rPr>
              <a:t>• Reviewed memory</a:t>
            </a:r>
          </a:p>
        </p:txBody>
      </p:sp>
      <p:sp>
        <p:nvSpPr>
          <p:cNvPr id="44" name="">
            <a:extLst xmlns:a="http://schemas.openxmlformats.org/drawingml/2006/main">
              <a:ext uri="{FF2B5EF4-FFF2-40B4-BE49-F238E27FC236}">
                <a16:creationId xmlns:a16="http://schemas.microsoft.com/office/drawing/2014/main" id="{91A66B69-AA69-438B-9281-2B25994C7DB0}"/>
              </a:ext>
            </a:extLst>
          </p:cNvPr>
          <p:cNvSpPr>
            <a:spLocks xmlns:a="http://schemas.openxmlformats.org/drawingml/2006/main" noGrp="1"/>
          </p:cNvSpPr>
          <p:nvPr/>
        </p:nvSpPr>
        <p:spPr>
          <a:xfrm xmlns:a="http://schemas.openxmlformats.org/drawingml/2006/main">
            <a:off x="8991600" y="33909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819067"/>
                </a:solidFill>
              </a:defRPr>
            </a:pPr>
            <a:r>
              <a:rPr sz="1725" b="1">
                <a:solidFill>
                  <a:srgbClr val="819067"/>
                </a:solidFill>
              </a:rPr>
              <a:t>Proposal-only actions</a:t>
            </a:r>
          </a:p>
        </p:txBody>
      </p:sp>
      <p:sp>
        <p:nvSpPr>
          <p:cNvPr id="45" name="">
            <a:extLst xmlns:a="http://schemas.openxmlformats.org/drawingml/2006/main">
              <a:ext uri="{FF2B5EF4-FFF2-40B4-BE49-F238E27FC236}">
                <a16:creationId xmlns:a16="http://schemas.microsoft.com/office/drawing/2014/main" id="{CBAFE2B0-022B-462B-B07B-0F24F353BE95}"/>
              </a:ext>
            </a:extLst>
          </p:cNvPr>
          <p:cNvSpPr>
            <a:spLocks xmlns:a="http://schemas.openxmlformats.org/drawingml/2006/main" noGrp="1"/>
          </p:cNvSpPr>
          <p:nvPr/>
        </p:nvSpPr>
        <p:spPr>
          <a:xfrm xmlns:a="http://schemas.openxmlformats.org/drawingml/2006/main">
            <a:off x="9029700" y="3829050"/>
            <a:ext cx="23241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127"/>
                </a:solidFill>
              </a:defRPr>
            </a:pPr>
            <a:r>
              <a:rPr sz="1275" b="0">
                <a:solidFill>
                  <a:srgbClr val="243127"/>
                </a:solidFill>
              </a:rPr>
              <a:t>• Task update</a:t>
            </a:r>
          </a:p>
          <a:p xmlns:a="http://schemas.openxmlformats.org/drawingml/2006/main">
            <a:pPr algn="l">
              <a:defRPr sz="1275" b="0">
                <a:solidFill>
                  <a:srgbClr val="243127"/>
                </a:solidFill>
              </a:defRPr>
            </a:pPr>
            <a:r>
              <a:rPr sz="1275" b="0">
                <a:solidFill>
                  <a:srgbClr val="243127"/>
                </a:solidFill>
              </a:rPr>
              <a:t>• Task assignment</a:t>
            </a:r>
          </a:p>
          <a:p xmlns:a="http://schemas.openxmlformats.org/drawingml/2006/main">
            <a:pPr algn="l">
              <a:defRPr sz="1275" b="0">
                <a:solidFill>
                  <a:srgbClr val="243127"/>
                </a:solidFill>
              </a:defRPr>
            </a:pPr>
            <a:r>
              <a:rPr sz="1275" b="0">
                <a:solidFill>
                  <a:srgbClr val="243127"/>
                </a:solidFill>
              </a:rPr>
              <a:t>• Task comment</a:t>
            </a:r>
          </a:p>
          <a:p xmlns:a="http://schemas.openxmlformats.org/drawingml/2006/main">
            <a:pPr algn="l">
              <a:defRPr sz="1275" b="0">
                <a:solidFill>
                  <a:srgbClr val="243127"/>
                </a:solidFill>
              </a:defRPr>
            </a:pPr>
            <a:r>
              <a:rPr sz="1275" b="0">
                <a:solidFill>
                  <a:srgbClr val="243127"/>
                </a:solidFill>
              </a:rPr>
              <a:t>• Deadline change</a:t>
            </a:r>
          </a:p>
          <a:p xmlns:a="http://schemas.openxmlformats.org/drawingml/2006/main">
            <a:pPr algn="l">
              <a:defRPr sz="1275" b="0">
                <a:solidFill>
                  <a:srgbClr val="243127"/>
                </a:solidFill>
              </a:defRPr>
            </a:pPr>
            <a:r>
              <a:rPr sz="1275" b="0">
                <a:solidFill>
                  <a:srgbClr val="243127"/>
                </a:solidFill>
              </a:rPr>
              <a:t>• Team notification</a:t>
            </a:r>
          </a:p>
          <a:p xmlns:a="http://schemas.openxmlformats.org/drawingml/2006/main">
            <a:r>
              <a:t/>
            </a:r>
          </a:p>
          <a:p xmlns:a="http://schemas.openxmlformats.org/drawingml/2006/main">
            <a:pPr algn="l">
              <a:defRPr sz="1275" b="0">
                <a:solidFill>
                  <a:srgbClr val="243127"/>
                </a:solidFill>
              </a:defRPr>
            </a:pPr>
            <a:r>
              <a:rPr sz="1275" b="0">
                <a:solidFill>
                  <a:srgbClr val="243127"/>
                </a:solidFill>
              </a:rPr>
              <a:t>No direct model writes</a:t>
            </a:r>
          </a:p>
        </p:txBody>
      </p:sp>
      <p:sp>
        <p:nvSpPr>
          <p:cNvPr id="46" name="">
            <a:extLst xmlns:a="http://schemas.openxmlformats.org/drawingml/2006/main">
              <a:ext uri="{FF2B5EF4-FFF2-40B4-BE49-F238E27FC236}">
                <a16:creationId xmlns:a16="http://schemas.microsoft.com/office/drawing/2014/main" id="{57C68A23-4F67-4175-9782-F79BDA0C5FFA}"/>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8CE"/>
          </a:solidFill>
          <a:ln xmlns:a="http://schemas.openxmlformats.org/drawingml/2006/main" w="0">
            <a:solidFill>
              <a:srgbClr val="D7D8CE"/>
            </a:solidFill>
            <a:prstDash val="solid"/>
          </a:ln>
        </p:spPr>
      </p:sp>
      <p:sp>
        <p:nvSpPr>
          <p:cNvPr id="47" name="">
            <a:extLst xmlns:a="http://schemas.openxmlformats.org/drawingml/2006/main">
              <a:ext uri="{FF2B5EF4-FFF2-40B4-BE49-F238E27FC236}">
                <a16:creationId xmlns:a16="http://schemas.microsoft.com/office/drawing/2014/main" id="{0A3015E1-80E3-4FD5-99A2-A5391BD7B203}"/>
              </a:ext>
            </a:extLst>
          </p:cNvPr>
          <p:cNvSpPr>
            <a:spLocks xmlns:a="http://schemas.openxmlformats.org/drawingml/2006/main" noGrp="1"/>
          </p:cNvSpPr>
          <p:nvPr/>
        </p:nvSpPr>
        <p:spPr>
          <a:xfrm xmlns:a="http://schemas.openxmlformats.org/drawingml/2006/main">
            <a:off x="685800" y="65246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17064"/>
                </a:solidFill>
              </a:defRPr>
            </a:pPr>
            <a:r>
              <a:rPr sz="825" b="1">
                <a:solidFill>
                  <a:srgbClr val="617064"/>
                </a:solidFill>
              </a:rPr>
              <a:t>INSIGHT TRACKER</a:t>
            </a:r>
          </a:p>
        </p:txBody>
      </p:sp>
      <p:sp>
        <p:nvSpPr>
          <p:cNvPr id="48" name="">
            <a:extLst xmlns:a="http://schemas.openxmlformats.org/drawingml/2006/main">
              <a:ext uri="{FF2B5EF4-FFF2-40B4-BE49-F238E27FC236}">
                <a16:creationId xmlns:a16="http://schemas.microsoft.com/office/drawing/2014/main" id="{BA007308-1391-485A-9975-3F39148CD6A1}"/>
              </a:ext>
            </a:extLst>
          </p:cNvPr>
          <p:cNvSpPr>
            <a:spLocks xmlns:a="http://schemas.openxmlformats.org/drawingml/2006/main" noGrp="1"/>
          </p:cNvSpPr>
          <p:nvPr/>
        </p:nvSpPr>
        <p:spPr>
          <a:xfrm xmlns:a="http://schemas.openxmlformats.org/drawingml/2006/main">
            <a:off x="11049000" y="65055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17064"/>
                </a:solidFill>
              </a:defRPr>
            </a:pPr>
            <a:r>
              <a:rPr sz="900" b="1">
                <a:solidFill>
                  <a:srgbClr val="617064"/>
                </a:solidFill>
              </a:rPr>
              <a:t>07</a:t>
            </a:r>
          </a:p>
        </p:txBody>
      </p:sp>
    </p:spTree>
    <p:extLst>
      <p:ext uri="{BB962C8B-B14F-4D97-AF65-F5344CB8AC3E}">
        <p14:creationId xmlns:p14="http://schemas.microsoft.com/office/powerpoint/2010/main" val="181107974"/>
      </p:ext>
    </p:extLst>
  </p:cSld>
</p:sld>
</file>

<file path=ppt/slides/slide8.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45" name="kicker-8">
            <a:extLst xmlns:a="http://schemas.openxmlformats.org/drawingml/2006/main">
              <a:ext uri="{FF2B5EF4-FFF2-40B4-BE49-F238E27FC236}">
                <a16:creationId xmlns:a16="http://schemas.microsoft.com/office/drawing/2014/main" id="{6A062BA6-EC1E-40ED-86D5-A03DD79C10A9}"/>
              </a:ext>
            </a:extLst>
          </p:cNvPr>
          <p:cNvSpPr>
            <a:spLocks xmlns:a="http://schemas.openxmlformats.org/drawingml/2006/main" noGrp="1"/>
          </p:cNvSpPr>
          <p:nvPr/>
        </p:nvSpPr>
        <p:spPr>
          <a:xfrm xmlns:a="http://schemas.openxmlformats.org/drawingml/2006/main">
            <a:off x="685800" y="400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7531B"/>
                </a:solidFill>
              </a:defRPr>
            </a:pPr>
            <a:r>
              <a:rPr sz="1050" b="1">
                <a:solidFill>
                  <a:srgbClr val="17531B"/>
                </a:solidFill>
              </a:rPr>
              <a:t>CONTROLLED EXECUTION</a:t>
            </a:r>
          </a:p>
        </p:txBody>
      </p:sp>
      <p:sp>
        <p:nvSpPr>
          <p:cNvPr id="2" name="title-8">
            <a:extLst xmlns:a="http://schemas.openxmlformats.org/drawingml/2006/main">
              <a:ext uri="{FF2B5EF4-FFF2-40B4-BE49-F238E27FC236}">
                <a16:creationId xmlns:a16="http://schemas.microsoft.com/office/drawing/2014/main" id="{3BEE10CE-59E5-42AA-8EB5-52EA24067C97}"/>
              </a:ext>
            </a:extLst>
          </p:cNvPr>
          <p:cNvSpPr>
            <a:spLocks xmlns:a="http://schemas.openxmlformats.org/drawingml/2006/main" noGrp="1"/>
          </p:cNvSpPr>
          <p:nvPr/>
        </p:nvSpPr>
        <p:spPr>
          <a:xfrm xmlns:a="http://schemas.openxmlformats.org/drawingml/2006/main">
            <a:off x="685800" y="742950"/>
            <a:ext cx="10744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43127"/>
                </a:solidFill>
              </a:defRPr>
            </a:pPr>
            <a:r>
              <a:rPr sz="2850" b="1">
                <a:solidFill>
                  <a:srgbClr val="243127"/>
                </a:solidFill>
              </a:rPr>
              <a:t>Human approval remains the write boundary</a:t>
            </a:r>
          </a:p>
        </p:txBody>
      </p:sp>
      <p:sp>
        <p:nvSpPr>
          <p:cNvPr id="3" name="">
            <a:extLst xmlns:a="http://schemas.openxmlformats.org/drawingml/2006/main">
              <a:ext uri="{FF2B5EF4-FFF2-40B4-BE49-F238E27FC236}">
                <a16:creationId xmlns:a16="http://schemas.microsoft.com/office/drawing/2014/main" id="{EFFC75A9-3805-48E3-A445-8B973AA5D9F9}"/>
              </a:ext>
            </a:extLst>
          </p:cNvPr>
          <p:cNvSpPr>
            <a:spLocks xmlns:a="http://schemas.openxmlformats.org/drawingml/2006/main" noGrp="1"/>
          </p:cNvSpPr>
          <p:nvPr/>
        </p:nvSpPr>
        <p:spPr>
          <a:xfrm xmlns:a="http://schemas.openxmlformats.org/drawingml/2006/main">
            <a:off x="685800" y="13906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617064"/>
                </a:solidFill>
              </a:defRPr>
            </a:pPr>
            <a:r>
              <a:rPr sz="1650" b="0">
                <a:solidFill>
                  <a:srgbClr val="617064"/>
                </a:solidFill>
              </a:rPr>
              <a:t>The model can propose a change. It cannot approve or execute it.</a:t>
            </a:r>
          </a:p>
        </p:txBody>
      </p:sp>
      <p:sp>
        <p:nvSpPr>
          <p:cNvPr id="4" name="">
            <a:extLst xmlns:a="http://schemas.openxmlformats.org/drawingml/2006/main">
              <a:ext uri="{FF2B5EF4-FFF2-40B4-BE49-F238E27FC236}">
                <a16:creationId xmlns:a16="http://schemas.microsoft.com/office/drawing/2014/main" id="{CDEE6F59-BA5A-4CE1-A6D6-7D01CD090651}"/>
              </a:ext>
            </a:extLst>
          </p:cNvPr>
          <p:cNvSpPr>
            <a:spLocks xmlns:a="http://schemas.openxmlformats.org/drawingml/2006/main" noGrp="1"/>
          </p:cNvSpPr>
          <p:nvPr/>
        </p:nvSpPr>
        <p:spPr>
          <a:xfrm xmlns:a="http://schemas.openxmlformats.org/drawingml/2006/main">
            <a:off x="685800" y="2143125"/>
            <a:ext cx="323850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FA96472E-A8FD-4DB6-B1B2-88F7E8B0863A}"/>
              </a:ext>
            </a:extLst>
          </p:cNvPr>
          <p:cNvSpPr>
            <a:spLocks xmlns:a="http://schemas.openxmlformats.org/drawingml/2006/main" noGrp="1"/>
          </p:cNvSpPr>
          <p:nvPr/>
        </p:nvSpPr>
        <p:spPr>
          <a:xfrm xmlns:a="http://schemas.openxmlformats.org/drawingml/2006/main">
            <a:off x="933450" y="2419350"/>
            <a:ext cx="271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7531B"/>
                </a:solidFill>
              </a:defRPr>
            </a:pPr>
            <a:r>
              <a:rPr sz="1875" b="1">
                <a:solidFill>
                  <a:srgbClr val="17531B"/>
                </a:solidFill>
              </a:rPr>
              <a:t>Proposed change</a:t>
            </a:r>
          </a:p>
        </p:txBody>
      </p:sp>
      <p:sp>
        <p:nvSpPr>
          <p:cNvPr id="6" name="">
            <a:extLst xmlns:a="http://schemas.openxmlformats.org/drawingml/2006/main">
              <a:ext uri="{FF2B5EF4-FFF2-40B4-BE49-F238E27FC236}">
                <a16:creationId xmlns:a16="http://schemas.microsoft.com/office/drawing/2014/main" id="{B9EE7639-7CFA-4927-B95D-7B97B26DD1E8}"/>
              </a:ext>
            </a:extLst>
          </p:cNvPr>
          <p:cNvSpPr>
            <a:spLocks xmlns:a="http://schemas.openxmlformats.org/drawingml/2006/main" noGrp="1"/>
          </p:cNvSpPr>
          <p:nvPr/>
        </p:nvSpPr>
        <p:spPr>
          <a:xfrm xmlns:a="http://schemas.openxmlformats.org/drawingml/2006/main">
            <a:off x="933450" y="3028950"/>
            <a:ext cx="1095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17064"/>
                </a:solidFill>
              </a:defRPr>
            </a:pPr>
            <a:r>
              <a:rPr sz="1200" b="0">
                <a:solidFill>
                  <a:srgbClr val="617064"/>
                </a:solidFill>
              </a:rPr>
              <a:t>Task status</a:t>
            </a:r>
          </a:p>
        </p:txBody>
      </p:sp>
      <p:sp>
        <p:nvSpPr>
          <p:cNvPr id="7" name="">
            <a:extLst xmlns:a="http://schemas.openxmlformats.org/drawingml/2006/main">
              <a:ext uri="{FF2B5EF4-FFF2-40B4-BE49-F238E27FC236}">
                <a16:creationId xmlns:a16="http://schemas.microsoft.com/office/drawing/2014/main" id="{6D317EC2-FCB9-4FA7-B7DB-6E64574BA2B7}"/>
              </a:ext>
            </a:extLst>
          </p:cNvPr>
          <p:cNvSpPr>
            <a:spLocks xmlns:a="http://schemas.openxmlformats.org/drawingml/2006/main" noGrp="1"/>
          </p:cNvSpPr>
          <p:nvPr/>
        </p:nvSpPr>
        <p:spPr>
          <a:xfrm xmlns:a="http://schemas.openxmlformats.org/drawingml/2006/main">
            <a:off x="2400300" y="3000375"/>
            <a:ext cx="1219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575" b="1">
                <a:solidFill>
                  <a:srgbClr val="B5423A"/>
                </a:solidFill>
              </a:defRPr>
            </a:pPr>
            <a:r>
              <a:rPr sz="1575" b="1">
                <a:solidFill>
                  <a:srgbClr val="B5423A"/>
                </a:solidFill>
              </a:rPr>
              <a:t>Blocked</a:t>
            </a:r>
          </a:p>
        </p:txBody>
      </p:sp>
      <p:sp>
        <p:nvSpPr>
          <p:cNvPr id="8" name="">
            <a:extLst xmlns:a="http://schemas.openxmlformats.org/drawingml/2006/main">
              <a:ext uri="{FF2B5EF4-FFF2-40B4-BE49-F238E27FC236}">
                <a16:creationId xmlns:a16="http://schemas.microsoft.com/office/drawing/2014/main" id="{0F840584-99F5-4F20-967D-56D818D3DB97}"/>
              </a:ext>
            </a:extLst>
          </p:cNvPr>
          <p:cNvSpPr>
            <a:spLocks xmlns:a="http://schemas.openxmlformats.org/drawingml/2006/main" noGrp="1"/>
          </p:cNvSpPr>
          <p:nvPr/>
        </p:nvSpPr>
        <p:spPr>
          <a:xfrm xmlns:a="http://schemas.openxmlformats.org/drawingml/2006/main">
            <a:off x="933450" y="3390900"/>
            <a:ext cx="2705100" cy="19050"/>
          </a:xfrm>
          <a:prstGeom xmlns:a="http://schemas.openxmlformats.org/drawingml/2006/main" prst="rect">
            <a:avLst/>
          </a:prstGeom>
          <a:solidFill xmlns:a="http://schemas.openxmlformats.org/drawingml/2006/main">
            <a:srgbClr val="D7D8CE"/>
          </a:solidFill>
          <a:ln xmlns:a="http://schemas.openxmlformats.org/drawingml/2006/main" w="0">
            <a:solidFill>
              <a:srgbClr val="D7D8CE"/>
            </a:solidFill>
            <a:prstDash val="solid"/>
          </a:ln>
        </p:spPr>
      </p:sp>
      <p:sp>
        <p:nvSpPr>
          <p:cNvPr id="9" name="">
            <a:extLst xmlns:a="http://schemas.openxmlformats.org/drawingml/2006/main">
              <a:ext uri="{FF2B5EF4-FFF2-40B4-BE49-F238E27FC236}">
                <a16:creationId xmlns:a16="http://schemas.microsoft.com/office/drawing/2014/main" id="{8F83E3AF-6EB0-4466-9723-A4E26287FEC6}"/>
              </a:ext>
            </a:extLst>
          </p:cNvPr>
          <p:cNvSpPr>
            <a:spLocks xmlns:a="http://schemas.openxmlformats.org/drawingml/2006/main" noGrp="1"/>
          </p:cNvSpPr>
          <p:nvPr/>
        </p:nvSpPr>
        <p:spPr>
          <a:xfrm xmlns:a="http://schemas.openxmlformats.org/drawingml/2006/main">
            <a:off x="933450" y="36385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17064"/>
                </a:solidFill>
              </a:defRPr>
            </a:pPr>
            <a:r>
              <a:rPr sz="1200" b="0">
                <a:solidFill>
                  <a:srgbClr val="617064"/>
                </a:solidFill>
              </a:rPr>
              <a:t>New deadline</a:t>
            </a:r>
          </a:p>
        </p:txBody>
      </p:sp>
      <p:sp>
        <p:nvSpPr>
          <p:cNvPr id="10" name="">
            <a:extLst xmlns:a="http://schemas.openxmlformats.org/drawingml/2006/main">
              <a:ext uri="{FF2B5EF4-FFF2-40B4-BE49-F238E27FC236}">
                <a16:creationId xmlns:a16="http://schemas.microsoft.com/office/drawing/2014/main" id="{50458714-0030-49CB-A7D1-610637F883B3}"/>
              </a:ext>
            </a:extLst>
          </p:cNvPr>
          <p:cNvSpPr>
            <a:spLocks xmlns:a="http://schemas.openxmlformats.org/drawingml/2006/main" noGrp="1"/>
          </p:cNvSpPr>
          <p:nvPr/>
        </p:nvSpPr>
        <p:spPr>
          <a:xfrm xmlns:a="http://schemas.openxmlformats.org/drawingml/2006/main">
            <a:off x="2428875" y="3609975"/>
            <a:ext cx="1190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575" b="1">
                <a:solidFill>
                  <a:srgbClr val="C27A16"/>
                </a:solidFill>
              </a:defRPr>
            </a:pPr>
            <a:r>
              <a:rPr sz="1575" b="1">
                <a:solidFill>
                  <a:srgbClr val="C27A16"/>
                </a:solidFill>
              </a:rPr>
              <a:t>+ 3 days</a:t>
            </a:r>
          </a:p>
        </p:txBody>
      </p:sp>
      <p:sp>
        <p:nvSpPr>
          <p:cNvPr id="11" name="">
            <a:extLst xmlns:a="http://schemas.openxmlformats.org/drawingml/2006/main">
              <a:ext uri="{FF2B5EF4-FFF2-40B4-BE49-F238E27FC236}">
                <a16:creationId xmlns:a16="http://schemas.microsoft.com/office/drawing/2014/main" id="{782FE79E-F31E-40C1-ABE9-BD8BBA38719C}"/>
              </a:ext>
            </a:extLst>
          </p:cNvPr>
          <p:cNvSpPr>
            <a:spLocks xmlns:a="http://schemas.openxmlformats.org/drawingml/2006/main" noGrp="1"/>
          </p:cNvSpPr>
          <p:nvPr/>
        </p:nvSpPr>
        <p:spPr>
          <a:xfrm xmlns:a="http://schemas.openxmlformats.org/drawingml/2006/main">
            <a:off x="933450" y="4000500"/>
            <a:ext cx="2705100" cy="19050"/>
          </a:xfrm>
          <a:prstGeom xmlns:a="http://schemas.openxmlformats.org/drawingml/2006/main" prst="rect">
            <a:avLst/>
          </a:prstGeom>
          <a:solidFill xmlns:a="http://schemas.openxmlformats.org/drawingml/2006/main">
            <a:srgbClr val="D7D8CE"/>
          </a:solidFill>
          <a:ln xmlns:a="http://schemas.openxmlformats.org/drawingml/2006/main" w="0">
            <a:solidFill>
              <a:srgbClr val="D7D8CE"/>
            </a:solidFill>
            <a:prstDash val="solid"/>
          </a:ln>
        </p:spPr>
      </p:sp>
      <p:sp>
        <p:nvSpPr>
          <p:cNvPr id="12" name="">
            <a:extLst xmlns:a="http://schemas.openxmlformats.org/drawingml/2006/main">
              <a:ext uri="{FF2B5EF4-FFF2-40B4-BE49-F238E27FC236}">
                <a16:creationId xmlns:a16="http://schemas.microsoft.com/office/drawing/2014/main" id="{3B311021-E18E-45BB-B6A9-1CEDAA7983E6}"/>
              </a:ext>
            </a:extLst>
          </p:cNvPr>
          <p:cNvSpPr>
            <a:spLocks xmlns:a="http://schemas.openxmlformats.org/drawingml/2006/main" noGrp="1"/>
          </p:cNvSpPr>
          <p:nvPr/>
        </p:nvSpPr>
        <p:spPr>
          <a:xfrm xmlns:a="http://schemas.openxmlformats.org/drawingml/2006/main">
            <a:off x="933450" y="42576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17064"/>
                </a:solidFill>
              </a:defRPr>
            </a:pPr>
            <a:r>
              <a:rPr sz="1200" b="0">
                <a:solidFill>
                  <a:srgbClr val="617064"/>
                </a:solidFill>
              </a:rPr>
              <a:t>Evidence</a:t>
            </a:r>
          </a:p>
        </p:txBody>
      </p:sp>
      <p:sp>
        <p:nvSpPr>
          <p:cNvPr id="13" name="">
            <a:extLst xmlns:a="http://schemas.openxmlformats.org/drawingml/2006/main">
              <a:ext uri="{FF2B5EF4-FFF2-40B4-BE49-F238E27FC236}">
                <a16:creationId xmlns:a16="http://schemas.microsoft.com/office/drawing/2014/main" id="{374E4D27-CEDD-4317-83B3-9BCD78DC738C}"/>
              </a:ext>
            </a:extLst>
          </p:cNvPr>
          <p:cNvSpPr>
            <a:spLocks xmlns:a="http://schemas.openxmlformats.org/drawingml/2006/main" noGrp="1"/>
          </p:cNvSpPr>
          <p:nvPr/>
        </p:nvSpPr>
        <p:spPr>
          <a:xfrm xmlns:a="http://schemas.openxmlformats.org/drawingml/2006/main">
            <a:off x="933450" y="4543425"/>
            <a:ext cx="2705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F6F8F"/>
                </a:solidFill>
              </a:defRPr>
            </a:pPr>
            <a:r>
              <a:rPr sz="1200" b="1">
                <a:solidFill>
                  <a:srgbClr val="2F6F8F"/>
                </a:solidFill>
              </a:rPr>
              <a:t>TASK-42 · APPROVAL-7</a:t>
            </a:r>
          </a:p>
        </p:txBody>
      </p:sp>
      <p:sp>
        <p:nvSpPr>
          <p:cNvPr id="14" name="">
            <a:extLst xmlns:a="http://schemas.openxmlformats.org/drawingml/2006/main">
              <a:ext uri="{FF2B5EF4-FFF2-40B4-BE49-F238E27FC236}">
                <a16:creationId xmlns:a16="http://schemas.microsoft.com/office/drawing/2014/main" id="{3B99B23F-1383-4DF2-82FA-F95D3D14EE42}"/>
              </a:ext>
            </a:extLst>
          </p:cNvPr>
          <p:cNvSpPr>
            <a:spLocks xmlns:a="http://schemas.openxmlformats.org/drawingml/2006/main" noGrp="1"/>
          </p:cNvSpPr>
          <p:nvPr/>
        </p:nvSpPr>
        <p:spPr>
          <a:xfrm xmlns:a="http://schemas.openxmlformats.org/drawingml/2006/main">
            <a:off x="4324350" y="2143125"/>
            <a:ext cx="3238500" cy="2857500"/>
          </a:xfrm>
          <a:prstGeom xmlns:a="http://schemas.openxmlformats.org/drawingml/2006/main" prst="roundRect">
            <a:avLst>
              <a:gd name="adj" fmla="val 4000"/>
            </a:avLst>
          </a:prstGeom>
          <a:solidFill xmlns:a="http://schemas.openxmlformats.org/drawingml/2006/main">
            <a:srgbClr val="0A400C"/>
          </a:solidFill>
          <a:ln xmlns:a="http://schemas.openxmlformats.org/drawingml/2006/main" w="9525">
            <a:solidFill>
              <a:srgbClr val="0A400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835BE905-C506-4C15-893B-C174BB0C217D}"/>
              </a:ext>
            </a:extLst>
          </p:cNvPr>
          <p:cNvSpPr>
            <a:spLocks xmlns:a="http://schemas.openxmlformats.org/drawingml/2006/main" noGrp="1"/>
          </p:cNvSpPr>
          <p:nvPr/>
        </p:nvSpPr>
        <p:spPr>
          <a:xfrm xmlns:a="http://schemas.openxmlformats.org/drawingml/2006/main">
            <a:off x="4572000" y="2419350"/>
            <a:ext cx="271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FFFF"/>
                </a:solidFill>
              </a:defRPr>
            </a:pPr>
            <a:r>
              <a:rPr sz="1875" b="1">
                <a:solidFill>
                  <a:srgbClr val="FFFFFF"/>
                </a:solidFill>
              </a:rPr>
              <a:t>Human decision</a:t>
            </a:r>
          </a:p>
        </p:txBody>
      </p:sp>
      <p:sp>
        <p:nvSpPr>
          <p:cNvPr id="16" name="">
            <a:extLst xmlns:a="http://schemas.openxmlformats.org/drawingml/2006/main">
              <a:ext uri="{FF2B5EF4-FFF2-40B4-BE49-F238E27FC236}">
                <a16:creationId xmlns:a16="http://schemas.microsoft.com/office/drawing/2014/main" id="{75896A03-3038-44D4-A1DC-8A3121CBE9F2}"/>
              </a:ext>
            </a:extLst>
          </p:cNvPr>
          <p:cNvSpPr>
            <a:spLocks xmlns:a="http://schemas.openxmlformats.org/drawingml/2006/main" noGrp="1"/>
          </p:cNvSpPr>
          <p:nvPr/>
        </p:nvSpPr>
        <p:spPr>
          <a:xfrm xmlns:a="http://schemas.openxmlformats.org/drawingml/2006/main">
            <a:off x="4572000" y="3009900"/>
            <a:ext cx="266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D5E1D0"/>
                </a:solidFill>
              </a:defRPr>
            </a:pPr>
            <a:r>
              <a:rPr sz="1425" b="0">
                <a:solidFill>
                  <a:srgbClr val="D5E1D0"/>
                </a:solidFill>
              </a:rPr>
              <a:t>Reviewer sees the reason, evidence and before/after state.</a:t>
            </a:r>
          </a:p>
        </p:txBody>
      </p:sp>
      <p:sp>
        <p:nvSpPr>
          <p:cNvPr id="17" name="">
            <a:extLst xmlns:a="http://schemas.openxmlformats.org/drawingml/2006/main">
              <a:ext uri="{FF2B5EF4-FFF2-40B4-BE49-F238E27FC236}">
                <a16:creationId xmlns:a16="http://schemas.microsoft.com/office/drawing/2014/main" id="{D35177A3-A925-4FAC-B7D2-2C90E28B4B29}"/>
              </a:ext>
            </a:extLst>
          </p:cNvPr>
          <p:cNvSpPr>
            <a:spLocks xmlns:a="http://schemas.openxmlformats.org/drawingml/2006/main" noGrp="1"/>
          </p:cNvSpPr>
          <p:nvPr/>
        </p:nvSpPr>
        <p:spPr>
          <a:xfrm xmlns:a="http://schemas.openxmlformats.org/drawingml/2006/main">
            <a:off x="4572000" y="3971925"/>
            <a:ext cx="1181100" cy="457200"/>
          </a:xfrm>
          <a:prstGeom xmlns:a="http://schemas.openxmlformats.org/drawingml/2006/main" prst="roundRect">
            <a:avLst>
              <a:gd name="adj" fmla="val 25000"/>
            </a:avLst>
          </a:prstGeom>
          <a:solidFill xmlns:a="http://schemas.openxmlformats.org/drawingml/2006/main">
            <a:srgbClr val="819067"/>
          </a:solidFill>
          <a:ln xmlns:a="http://schemas.openxmlformats.org/drawingml/2006/main" w="0">
            <a:solidFill>
              <a:srgbClr val="819067"/>
            </a:solidFill>
            <a:prstDash val="solid"/>
          </a:ln>
        </p:spPr>
      </p:sp>
      <p:sp>
        <p:nvSpPr>
          <p:cNvPr id="18" name="">
            <a:extLst xmlns:a="http://schemas.openxmlformats.org/drawingml/2006/main">
              <a:ext uri="{FF2B5EF4-FFF2-40B4-BE49-F238E27FC236}">
                <a16:creationId xmlns:a16="http://schemas.microsoft.com/office/drawing/2014/main" id="{6E682732-3F0E-4AE1-AF50-E7BE89E0179A}"/>
              </a:ext>
            </a:extLst>
          </p:cNvPr>
          <p:cNvSpPr>
            <a:spLocks xmlns:a="http://schemas.openxmlformats.org/drawingml/2006/main" noGrp="1"/>
          </p:cNvSpPr>
          <p:nvPr/>
        </p:nvSpPr>
        <p:spPr>
          <a:xfrm xmlns:a="http://schemas.openxmlformats.org/drawingml/2006/main">
            <a:off x="4572000" y="4105275"/>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Approve</a:t>
            </a:r>
          </a:p>
        </p:txBody>
      </p:sp>
      <p:sp>
        <p:nvSpPr>
          <p:cNvPr id="19" name="">
            <a:extLst xmlns:a="http://schemas.openxmlformats.org/drawingml/2006/main">
              <a:ext uri="{FF2B5EF4-FFF2-40B4-BE49-F238E27FC236}">
                <a16:creationId xmlns:a16="http://schemas.microsoft.com/office/drawing/2014/main" id="{B461BB75-525C-44A3-9C30-C354BD314B4E}"/>
              </a:ext>
            </a:extLst>
          </p:cNvPr>
          <p:cNvSpPr>
            <a:spLocks xmlns:a="http://schemas.openxmlformats.org/drawingml/2006/main" noGrp="1"/>
          </p:cNvSpPr>
          <p:nvPr/>
        </p:nvSpPr>
        <p:spPr>
          <a:xfrm xmlns:a="http://schemas.openxmlformats.org/drawingml/2006/main">
            <a:off x="5924550" y="3971925"/>
            <a:ext cx="1181100" cy="457200"/>
          </a:xfrm>
          <a:prstGeom xmlns:a="http://schemas.openxmlformats.org/drawingml/2006/main" prst="roundRect">
            <a:avLst>
              <a:gd name="adj" fmla="val 25000"/>
            </a:avLst>
          </a:prstGeom>
          <a:solidFill xmlns:a="http://schemas.openxmlformats.org/drawingml/2006/main">
            <a:srgbClr val="74403D"/>
          </a:solidFill>
          <a:ln xmlns:a="http://schemas.openxmlformats.org/drawingml/2006/main" w="0">
            <a:solidFill>
              <a:srgbClr val="74403D"/>
            </a:solidFill>
            <a:prstDash val="solid"/>
          </a:ln>
        </p:spPr>
      </p:sp>
      <p:sp>
        <p:nvSpPr>
          <p:cNvPr id="20" name="">
            <a:extLst xmlns:a="http://schemas.openxmlformats.org/drawingml/2006/main">
              <a:ext uri="{FF2B5EF4-FFF2-40B4-BE49-F238E27FC236}">
                <a16:creationId xmlns:a16="http://schemas.microsoft.com/office/drawing/2014/main" id="{298C9A81-6FDE-4326-B0B4-3E75A7E71822}"/>
              </a:ext>
            </a:extLst>
          </p:cNvPr>
          <p:cNvSpPr>
            <a:spLocks xmlns:a="http://schemas.openxmlformats.org/drawingml/2006/main" noGrp="1"/>
          </p:cNvSpPr>
          <p:nvPr/>
        </p:nvSpPr>
        <p:spPr>
          <a:xfrm xmlns:a="http://schemas.openxmlformats.org/drawingml/2006/main">
            <a:off x="5924550" y="4105275"/>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Reject</a:t>
            </a:r>
          </a:p>
        </p:txBody>
      </p:sp>
      <p:sp>
        <p:nvSpPr>
          <p:cNvPr id="21" name="">
            <a:extLst xmlns:a="http://schemas.openxmlformats.org/drawingml/2006/main">
              <a:ext uri="{FF2B5EF4-FFF2-40B4-BE49-F238E27FC236}">
                <a16:creationId xmlns:a16="http://schemas.microsoft.com/office/drawing/2014/main" id="{A31BEE7E-592D-4CA1-BD5E-AF55FBEB4980}"/>
              </a:ext>
            </a:extLst>
          </p:cNvPr>
          <p:cNvSpPr>
            <a:spLocks xmlns:a="http://schemas.openxmlformats.org/drawingml/2006/main" noGrp="1"/>
          </p:cNvSpPr>
          <p:nvPr/>
        </p:nvSpPr>
        <p:spPr>
          <a:xfrm xmlns:a="http://schemas.openxmlformats.org/drawingml/2006/main">
            <a:off x="7962900" y="2143125"/>
            <a:ext cx="354330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13586DA8-6198-421B-87CE-7483FD97939E}"/>
              </a:ext>
            </a:extLst>
          </p:cNvPr>
          <p:cNvSpPr>
            <a:spLocks xmlns:a="http://schemas.openxmlformats.org/drawingml/2006/main" noGrp="1"/>
          </p:cNvSpPr>
          <p:nvPr/>
        </p:nvSpPr>
        <p:spPr>
          <a:xfrm xmlns:a="http://schemas.openxmlformats.org/drawingml/2006/main">
            <a:off x="8210550" y="24193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819067"/>
                </a:solidFill>
              </a:defRPr>
            </a:pPr>
            <a:r>
              <a:rPr sz="1875" b="1">
                <a:solidFill>
                  <a:srgbClr val="819067"/>
                </a:solidFill>
              </a:rPr>
              <a:t>Execution checks</a:t>
            </a:r>
          </a:p>
        </p:txBody>
      </p:sp>
      <p:sp>
        <p:nvSpPr>
          <p:cNvPr id="23" name="">
            <a:extLst xmlns:a="http://schemas.openxmlformats.org/drawingml/2006/main">
              <a:ext uri="{FF2B5EF4-FFF2-40B4-BE49-F238E27FC236}">
                <a16:creationId xmlns:a16="http://schemas.microsoft.com/office/drawing/2014/main" id="{31203528-E9B8-4373-85AB-D30C966E9157}"/>
              </a:ext>
            </a:extLst>
          </p:cNvPr>
          <p:cNvSpPr>
            <a:spLocks xmlns:a="http://schemas.openxmlformats.org/drawingml/2006/main" noGrp="1"/>
          </p:cNvSpPr>
          <p:nvPr/>
        </p:nvSpPr>
        <p:spPr>
          <a:xfrm xmlns:a="http://schemas.openxmlformats.org/drawingml/2006/main">
            <a:off x="8248650" y="3009900"/>
            <a:ext cx="171450" cy="17145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24" name="">
            <a:extLst xmlns:a="http://schemas.openxmlformats.org/drawingml/2006/main">
              <a:ext uri="{FF2B5EF4-FFF2-40B4-BE49-F238E27FC236}">
                <a16:creationId xmlns:a16="http://schemas.microsoft.com/office/drawing/2014/main" id="{8F242A33-9B4F-4B47-8AD1-8BFA09D51C5E}"/>
              </a:ext>
            </a:extLst>
          </p:cNvPr>
          <p:cNvSpPr>
            <a:spLocks xmlns:a="http://schemas.openxmlformats.org/drawingml/2006/main" noGrp="1"/>
          </p:cNvSpPr>
          <p:nvPr/>
        </p:nvSpPr>
        <p:spPr>
          <a:xfrm xmlns:a="http://schemas.openxmlformats.org/drawingml/2006/main">
            <a:off x="8248650" y="30003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a:t>
            </a:r>
          </a:p>
        </p:txBody>
      </p:sp>
      <p:sp>
        <p:nvSpPr>
          <p:cNvPr id="25" name="">
            <a:extLst xmlns:a="http://schemas.openxmlformats.org/drawingml/2006/main">
              <a:ext uri="{FF2B5EF4-FFF2-40B4-BE49-F238E27FC236}">
                <a16:creationId xmlns:a16="http://schemas.microsoft.com/office/drawing/2014/main" id="{BE1DE129-DAB6-4748-B8EE-A4CE069D8126}"/>
              </a:ext>
            </a:extLst>
          </p:cNvPr>
          <p:cNvSpPr>
            <a:spLocks xmlns:a="http://schemas.openxmlformats.org/drawingml/2006/main" noGrp="1"/>
          </p:cNvSpPr>
          <p:nvPr/>
        </p:nvSpPr>
        <p:spPr>
          <a:xfrm xmlns:a="http://schemas.openxmlformats.org/drawingml/2006/main">
            <a:off x="8534400" y="29622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Permission still valid</a:t>
            </a:r>
          </a:p>
        </p:txBody>
      </p:sp>
      <p:sp>
        <p:nvSpPr>
          <p:cNvPr id="26" name="">
            <a:extLst xmlns:a="http://schemas.openxmlformats.org/drawingml/2006/main">
              <a:ext uri="{FF2B5EF4-FFF2-40B4-BE49-F238E27FC236}">
                <a16:creationId xmlns:a16="http://schemas.microsoft.com/office/drawing/2014/main" id="{0CC86146-79C5-4082-AC60-5034A99AE670}"/>
              </a:ext>
            </a:extLst>
          </p:cNvPr>
          <p:cNvSpPr>
            <a:spLocks xmlns:a="http://schemas.openxmlformats.org/drawingml/2006/main" noGrp="1"/>
          </p:cNvSpPr>
          <p:nvPr/>
        </p:nvSpPr>
        <p:spPr>
          <a:xfrm xmlns:a="http://schemas.openxmlformats.org/drawingml/2006/main">
            <a:off x="8248650" y="3352800"/>
            <a:ext cx="171450" cy="17145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27" name="">
            <a:extLst xmlns:a="http://schemas.openxmlformats.org/drawingml/2006/main">
              <a:ext uri="{FF2B5EF4-FFF2-40B4-BE49-F238E27FC236}">
                <a16:creationId xmlns:a16="http://schemas.microsoft.com/office/drawing/2014/main" id="{6B1DA5EC-33F3-4EF8-B537-50EA58FC7640}"/>
              </a:ext>
            </a:extLst>
          </p:cNvPr>
          <p:cNvSpPr>
            <a:spLocks xmlns:a="http://schemas.openxmlformats.org/drawingml/2006/main" noGrp="1"/>
          </p:cNvSpPr>
          <p:nvPr/>
        </p:nvSpPr>
        <p:spPr>
          <a:xfrm xmlns:a="http://schemas.openxmlformats.org/drawingml/2006/main">
            <a:off x="8248650" y="33432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a:t>
            </a:r>
          </a:p>
        </p:txBody>
      </p:sp>
      <p:sp>
        <p:nvSpPr>
          <p:cNvPr id="28" name="">
            <a:extLst xmlns:a="http://schemas.openxmlformats.org/drawingml/2006/main">
              <a:ext uri="{FF2B5EF4-FFF2-40B4-BE49-F238E27FC236}">
                <a16:creationId xmlns:a16="http://schemas.microsoft.com/office/drawing/2014/main" id="{8831E44E-BBC9-4F2E-B8FB-246CC7090217}"/>
              </a:ext>
            </a:extLst>
          </p:cNvPr>
          <p:cNvSpPr>
            <a:spLocks xmlns:a="http://schemas.openxmlformats.org/drawingml/2006/main" noGrp="1"/>
          </p:cNvSpPr>
          <p:nvPr/>
        </p:nvSpPr>
        <p:spPr>
          <a:xfrm xmlns:a="http://schemas.openxmlformats.org/drawingml/2006/main">
            <a:off x="8534400" y="33051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Object still in scope</a:t>
            </a:r>
          </a:p>
        </p:txBody>
      </p:sp>
      <p:sp>
        <p:nvSpPr>
          <p:cNvPr id="29" name="">
            <a:extLst xmlns:a="http://schemas.openxmlformats.org/drawingml/2006/main">
              <a:ext uri="{FF2B5EF4-FFF2-40B4-BE49-F238E27FC236}">
                <a16:creationId xmlns:a16="http://schemas.microsoft.com/office/drawing/2014/main" id="{3E6B6773-500B-4108-9722-47DD1EB9B396}"/>
              </a:ext>
            </a:extLst>
          </p:cNvPr>
          <p:cNvSpPr>
            <a:spLocks xmlns:a="http://schemas.openxmlformats.org/drawingml/2006/main" noGrp="1"/>
          </p:cNvSpPr>
          <p:nvPr/>
        </p:nvSpPr>
        <p:spPr>
          <a:xfrm xmlns:a="http://schemas.openxmlformats.org/drawingml/2006/main">
            <a:off x="8248650" y="3695700"/>
            <a:ext cx="171450" cy="17145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30" name="">
            <a:extLst xmlns:a="http://schemas.openxmlformats.org/drawingml/2006/main">
              <a:ext uri="{FF2B5EF4-FFF2-40B4-BE49-F238E27FC236}">
                <a16:creationId xmlns:a16="http://schemas.microsoft.com/office/drawing/2014/main" id="{83BE09CB-9A0C-4146-B5B9-F885555166C5}"/>
              </a:ext>
            </a:extLst>
          </p:cNvPr>
          <p:cNvSpPr>
            <a:spLocks xmlns:a="http://schemas.openxmlformats.org/drawingml/2006/main" noGrp="1"/>
          </p:cNvSpPr>
          <p:nvPr/>
        </p:nvSpPr>
        <p:spPr>
          <a:xfrm xmlns:a="http://schemas.openxmlformats.org/drawingml/2006/main">
            <a:off x="8248650" y="36861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a:t>
            </a:r>
          </a:p>
        </p:txBody>
      </p:sp>
      <p:sp>
        <p:nvSpPr>
          <p:cNvPr id="31" name="">
            <a:extLst xmlns:a="http://schemas.openxmlformats.org/drawingml/2006/main">
              <a:ext uri="{FF2B5EF4-FFF2-40B4-BE49-F238E27FC236}">
                <a16:creationId xmlns:a16="http://schemas.microsoft.com/office/drawing/2014/main" id="{A7DF6AFF-12A1-469A-8EE3-31B7C18754A6}"/>
              </a:ext>
            </a:extLst>
          </p:cNvPr>
          <p:cNvSpPr>
            <a:spLocks xmlns:a="http://schemas.openxmlformats.org/drawingml/2006/main" noGrp="1"/>
          </p:cNvSpPr>
          <p:nvPr/>
        </p:nvSpPr>
        <p:spPr>
          <a:xfrm xmlns:a="http://schemas.openxmlformats.org/drawingml/2006/main">
            <a:off x="8534400" y="3648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Before-state unchanged</a:t>
            </a:r>
          </a:p>
        </p:txBody>
      </p:sp>
      <p:sp>
        <p:nvSpPr>
          <p:cNvPr id="32" name="">
            <a:extLst xmlns:a="http://schemas.openxmlformats.org/drawingml/2006/main">
              <a:ext uri="{FF2B5EF4-FFF2-40B4-BE49-F238E27FC236}">
                <a16:creationId xmlns:a16="http://schemas.microsoft.com/office/drawing/2014/main" id="{310184AD-1B0D-476B-A77F-9F17F9078140}"/>
              </a:ext>
            </a:extLst>
          </p:cNvPr>
          <p:cNvSpPr>
            <a:spLocks xmlns:a="http://schemas.openxmlformats.org/drawingml/2006/main" noGrp="1"/>
          </p:cNvSpPr>
          <p:nvPr/>
        </p:nvSpPr>
        <p:spPr>
          <a:xfrm xmlns:a="http://schemas.openxmlformats.org/drawingml/2006/main">
            <a:off x="8248650" y="4038600"/>
            <a:ext cx="171450" cy="17145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33" name="">
            <a:extLst xmlns:a="http://schemas.openxmlformats.org/drawingml/2006/main">
              <a:ext uri="{FF2B5EF4-FFF2-40B4-BE49-F238E27FC236}">
                <a16:creationId xmlns:a16="http://schemas.microsoft.com/office/drawing/2014/main" id="{98B18F70-28DB-44E0-901C-DD71D2D07344}"/>
              </a:ext>
            </a:extLst>
          </p:cNvPr>
          <p:cNvSpPr>
            <a:spLocks xmlns:a="http://schemas.openxmlformats.org/drawingml/2006/main" noGrp="1"/>
          </p:cNvSpPr>
          <p:nvPr/>
        </p:nvSpPr>
        <p:spPr>
          <a:xfrm xmlns:a="http://schemas.openxmlformats.org/drawingml/2006/main">
            <a:off x="8248650" y="40290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a:t>
            </a:r>
          </a:p>
        </p:txBody>
      </p:sp>
      <p:sp>
        <p:nvSpPr>
          <p:cNvPr id="34" name="">
            <a:extLst xmlns:a="http://schemas.openxmlformats.org/drawingml/2006/main">
              <a:ext uri="{FF2B5EF4-FFF2-40B4-BE49-F238E27FC236}">
                <a16:creationId xmlns:a16="http://schemas.microsoft.com/office/drawing/2014/main" id="{2F77F75C-CEF6-4751-8187-FDFA42EE7524}"/>
              </a:ext>
            </a:extLst>
          </p:cNvPr>
          <p:cNvSpPr>
            <a:spLocks xmlns:a="http://schemas.openxmlformats.org/drawingml/2006/main" noGrp="1"/>
          </p:cNvSpPr>
          <p:nvPr/>
        </p:nvSpPr>
        <p:spPr>
          <a:xfrm xmlns:a="http://schemas.openxmlformats.org/drawingml/2006/main">
            <a:off x="8534400" y="39909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Idempotency key unused</a:t>
            </a:r>
          </a:p>
        </p:txBody>
      </p:sp>
      <p:sp>
        <p:nvSpPr>
          <p:cNvPr id="35" name="">
            <a:extLst xmlns:a="http://schemas.openxmlformats.org/drawingml/2006/main">
              <a:ext uri="{FF2B5EF4-FFF2-40B4-BE49-F238E27FC236}">
                <a16:creationId xmlns:a16="http://schemas.microsoft.com/office/drawing/2014/main" id="{97AA126B-ADB9-4651-AF4B-492BA8907D52}"/>
              </a:ext>
            </a:extLst>
          </p:cNvPr>
          <p:cNvSpPr>
            <a:spLocks xmlns:a="http://schemas.openxmlformats.org/drawingml/2006/main" noGrp="1"/>
          </p:cNvSpPr>
          <p:nvPr/>
        </p:nvSpPr>
        <p:spPr>
          <a:xfrm xmlns:a="http://schemas.openxmlformats.org/drawingml/2006/main">
            <a:off x="8248650" y="4381500"/>
            <a:ext cx="171450" cy="17145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36" name="">
            <a:extLst xmlns:a="http://schemas.openxmlformats.org/drawingml/2006/main">
              <a:ext uri="{FF2B5EF4-FFF2-40B4-BE49-F238E27FC236}">
                <a16:creationId xmlns:a16="http://schemas.microsoft.com/office/drawing/2014/main" id="{E6EC61D0-DB23-449D-A152-3D03EEBA3CE0}"/>
              </a:ext>
            </a:extLst>
          </p:cNvPr>
          <p:cNvSpPr>
            <a:spLocks xmlns:a="http://schemas.openxmlformats.org/drawingml/2006/main" noGrp="1"/>
          </p:cNvSpPr>
          <p:nvPr/>
        </p:nvSpPr>
        <p:spPr>
          <a:xfrm xmlns:a="http://schemas.openxmlformats.org/drawingml/2006/main">
            <a:off x="8248650" y="43719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a:t>
            </a:r>
          </a:p>
        </p:txBody>
      </p:sp>
      <p:sp>
        <p:nvSpPr>
          <p:cNvPr id="37" name="">
            <a:extLst xmlns:a="http://schemas.openxmlformats.org/drawingml/2006/main">
              <a:ext uri="{FF2B5EF4-FFF2-40B4-BE49-F238E27FC236}">
                <a16:creationId xmlns:a16="http://schemas.microsoft.com/office/drawing/2014/main" id="{42AA1B24-DA48-4440-BB17-5A7156D76A44}"/>
              </a:ext>
            </a:extLst>
          </p:cNvPr>
          <p:cNvSpPr>
            <a:spLocks xmlns:a="http://schemas.openxmlformats.org/drawingml/2006/main" noGrp="1"/>
          </p:cNvSpPr>
          <p:nvPr/>
        </p:nvSpPr>
        <p:spPr>
          <a:xfrm xmlns:a="http://schemas.openxmlformats.org/drawingml/2006/main">
            <a:off x="8534400" y="43338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Business service accepts change</a:t>
            </a:r>
          </a:p>
        </p:txBody>
      </p:sp>
      <p:sp>
        <p:nvSpPr>
          <p:cNvPr id="38" name="">
            <a:extLst xmlns:a="http://schemas.openxmlformats.org/drawingml/2006/main">
              <a:ext uri="{FF2B5EF4-FFF2-40B4-BE49-F238E27FC236}">
                <a16:creationId xmlns:a16="http://schemas.microsoft.com/office/drawing/2014/main" id="{DD3AC612-12E0-4093-B8B0-8CEB78FCF29B}"/>
              </a:ext>
            </a:extLst>
          </p:cNvPr>
          <p:cNvSpPr>
            <a:spLocks xmlns:a="http://schemas.openxmlformats.org/drawingml/2006/main" noGrp="1"/>
          </p:cNvSpPr>
          <p:nvPr/>
        </p:nvSpPr>
        <p:spPr>
          <a:xfrm xmlns:a="http://schemas.openxmlformats.org/drawingml/2006/main">
            <a:off x="8248650" y="4724400"/>
            <a:ext cx="171450" cy="17145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39" name="">
            <a:extLst xmlns:a="http://schemas.openxmlformats.org/drawingml/2006/main">
              <a:ext uri="{FF2B5EF4-FFF2-40B4-BE49-F238E27FC236}">
                <a16:creationId xmlns:a16="http://schemas.microsoft.com/office/drawing/2014/main" id="{D12F7E8A-7A82-4FC2-834F-105DF6E868B7}"/>
              </a:ext>
            </a:extLst>
          </p:cNvPr>
          <p:cNvSpPr>
            <a:spLocks xmlns:a="http://schemas.openxmlformats.org/drawingml/2006/main" noGrp="1"/>
          </p:cNvSpPr>
          <p:nvPr/>
        </p:nvSpPr>
        <p:spPr>
          <a:xfrm xmlns:a="http://schemas.openxmlformats.org/drawingml/2006/main">
            <a:off x="8248650" y="47148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a:t>
            </a:r>
          </a:p>
        </p:txBody>
      </p:sp>
      <p:sp>
        <p:nvSpPr>
          <p:cNvPr id="40" name="">
            <a:extLst xmlns:a="http://schemas.openxmlformats.org/drawingml/2006/main">
              <a:ext uri="{FF2B5EF4-FFF2-40B4-BE49-F238E27FC236}">
                <a16:creationId xmlns:a16="http://schemas.microsoft.com/office/drawing/2014/main" id="{E1539404-CF35-4429-B0BF-AE2E8E0EB016}"/>
              </a:ext>
            </a:extLst>
          </p:cNvPr>
          <p:cNvSpPr>
            <a:spLocks xmlns:a="http://schemas.openxmlformats.org/drawingml/2006/main" noGrp="1"/>
          </p:cNvSpPr>
          <p:nvPr/>
        </p:nvSpPr>
        <p:spPr>
          <a:xfrm xmlns:a="http://schemas.openxmlformats.org/drawingml/2006/main">
            <a:off x="8534400" y="46767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After-state verified</a:t>
            </a:r>
          </a:p>
        </p:txBody>
      </p:sp>
      <p:sp>
        <p:nvSpPr>
          <p:cNvPr id="41" name="">
            <a:extLst xmlns:a="http://schemas.openxmlformats.org/drawingml/2006/main">
              <a:ext uri="{FF2B5EF4-FFF2-40B4-BE49-F238E27FC236}">
                <a16:creationId xmlns:a16="http://schemas.microsoft.com/office/drawing/2014/main" id="{CF5F5647-402F-4F54-8CF3-09AAD957479B}"/>
              </a:ext>
            </a:extLst>
          </p:cNvPr>
          <p:cNvSpPr>
            <a:spLocks xmlns:a="http://schemas.openxmlformats.org/drawingml/2006/main" noGrp="1"/>
          </p:cNvSpPr>
          <p:nvPr/>
        </p:nvSpPr>
        <p:spPr>
          <a:xfrm xmlns:a="http://schemas.openxmlformats.org/drawingml/2006/main">
            <a:off x="685800" y="542925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B5423A"/>
                </a:solidFill>
              </a:defRPr>
            </a:pPr>
            <a:r>
              <a:rPr sz="1800" b="1">
                <a:solidFill>
                  <a:srgbClr val="B5423A"/>
                </a:solidFill>
              </a:rPr>
              <a:t>Stale state = no write</a:t>
            </a:r>
          </a:p>
        </p:txBody>
      </p:sp>
      <p:sp>
        <p:nvSpPr>
          <p:cNvPr id="42" name="">
            <a:extLst xmlns:a="http://schemas.openxmlformats.org/drawingml/2006/main">
              <a:ext uri="{FF2B5EF4-FFF2-40B4-BE49-F238E27FC236}">
                <a16:creationId xmlns:a16="http://schemas.microsoft.com/office/drawing/2014/main" id="{D98A9001-90AA-4800-B0BB-8424FB086296}"/>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8CE"/>
          </a:solidFill>
          <a:ln xmlns:a="http://schemas.openxmlformats.org/drawingml/2006/main" w="0">
            <a:solidFill>
              <a:srgbClr val="D7D8CE"/>
            </a:solidFill>
            <a:prstDash val="solid"/>
          </a:ln>
        </p:spPr>
      </p:sp>
      <p:sp>
        <p:nvSpPr>
          <p:cNvPr id="43" name="">
            <a:extLst xmlns:a="http://schemas.openxmlformats.org/drawingml/2006/main">
              <a:ext uri="{FF2B5EF4-FFF2-40B4-BE49-F238E27FC236}">
                <a16:creationId xmlns:a16="http://schemas.microsoft.com/office/drawing/2014/main" id="{0BA19BF2-76E5-4B8F-9EDF-2927B5A1FC67}"/>
              </a:ext>
            </a:extLst>
          </p:cNvPr>
          <p:cNvSpPr>
            <a:spLocks xmlns:a="http://schemas.openxmlformats.org/drawingml/2006/main" noGrp="1"/>
          </p:cNvSpPr>
          <p:nvPr/>
        </p:nvSpPr>
        <p:spPr>
          <a:xfrm xmlns:a="http://schemas.openxmlformats.org/drawingml/2006/main">
            <a:off x="685800" y="65246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17064"/>
                </a:solidFill>
              </a:defRPr>
            </a:pPr>
            <a:r>
              <a:rPr sz="825" b="1">
                <a:solidFill>
                  <a:srgbClr val="617064"/>
                </a:solidFill>
              </a:rPr>
              <a:t>INSIGHT TRACKER</a:t>
            </a:r>
          </a:p>
        </p:txBody>
      </p:sp>
      <p:sp>
        <p:nvSpPr>
          <p:cNvPr id="44" name="">
            <a:extLst xmlns:a="http://schemas.openxmlformats.org/drawingml/2006/main">
              <a:ext uri="{FF2B5EF4-FFF2-40B4-BE49-F238E27FC236}">
                <a16:creationId xmlns:a16="http://schemas.microsoft.com/office/drawing/2014/main" id="{694AD480-F208-48E3-8D76-7C67322BA793}"/>
              </a:ext>
            </a:extLst>
          </p:cNvPr>
          <p:cNvSpPr>
            <a:spLocks xmlns:a="http://schemas.openxmlformats.org/drawingml/2006/main" noGrp="1"/>
          </p:cNvSpPr>
          <p:nvPr/>
        </p:nvSpPr>
        <p:spPr>
          <a:xfrm xmlns:a="http://schemas.openxmlformats.org/drawingml/2006/main">
            <a:off x="11049000" y="65055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17064"/>
                </a:solidFill>
              </a:defRPr>
            </a:pPr>
            <a:r>
              <a:rPr sz="900" b="1">
                <a:solidFill>
                  <a:srgbClr val="617064"/>
                </a:solidFill>
              </a:rPr>
              <a:t>08</a:t>
            </a:r>
          </a:p>
        </p:txBody>
      </p:sp>
    </p:spTree>
    <p:extLst>
      <p:ext uri="{BB962C8B-B14F-4D97-AF65-F5344CB8AC3E}">
        <p14:creationId xmlns:p14="http://schemas.microsoft.com/office/powerpoint/2010/main" val="76457750"/>
      </p:ext>
    </p:extLst>
  </p:cSld>
</p:sld>
</file>

<file path=ppt/slides/slide9.xml><?xml version="1.0" encoding="utf-8"?>
<p:sld xmlns:p="http://schemas.openxmlformats.org/presentationml/2006/main">
  <p:cSld>
    <p:bg>
      <p:bgPr>
        <a:solidFill xmlns:a="http://schemas.openxmlformats.org/drawingml/2006/main">
          <a:srgbClr val="F3F1E8"/>
        </a:solidFill>
      </p:bgPr>
    </p:bg>
    <p:spTree>
      <p:nvGrpSpPr>
        <p:cNvPr id="1" name=""/>
        <p:cNvGrpSpPr/>
        <p:nvPr/>
      </p:nvGrpSpPr>
      <p:grpSpPr>
        <a:xfrm xmlns:a="http://schemas.openxmlformats.org/drawingml/2006/main"/>
      </p:grpSpPr>
      <p:sp>
        <p:nvSpPr>
          <p:cNvPr id="25" name="kicker-9">
            <a:extLst xmlns:a="http://schemas.openxmlformats.org/drawingml/2006/main">
              <a:ext uri="{FF2B5EF4-FFF2-40B4-BE49-F238E27FC236}">
                <a16:creationId xmlns:a16="http://schemas.microsoft.com/office/drawing/2014/main" id="{795F0B8A-D230-4B6C-9EAA-B816B286CAD1}"/>
              </a:ext>
            </a:extLst>
          </p:cNvPr>
          <p:cNvSpPr>
            <a:spLocks xmlns:a="http://schemas.openxmlformats.org/drawingml/2006/main" noGrp="1"/>
          </p:cNvSpPr>
          <p:nvPr/>
        </p:nvSpPr>
        <p:spPr>
          <a:xfrm xmlns:a="http://schemas.openxmlformats.org/drawingml/2006/main">
            <a:off x="685800" y="400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7531B"/>
                </a:solidFill>
              </a:defRPr>
            </a:pPr>
            <a:r>
              <a:rPr sz="1050" b="1">
                <a:solidFill>
                  <a:srgbClr val="17531B"/>
                </a:solidFill>
              </a:rPr>
              <a:t>AI LAYER 3 + AUTOMATION</a:t>
            </a:r>
          </a:p>
        </p:txBody>
      </p:sp>
      <p:sp>
        <p:nvSpPr>
          <p:cNvPr id="2" name="title-9">
            <a:extLst xmlns:a="http://schemas.openxmlformats.org/drawingml/2006/main">
              <a:ext uri="{FF2B5EF4-FFF2-40B4-BE49-F238E27FC236}">
                <a16:creationId xmlns:a16="http://schemas.microsoft.com/office/drawing/2014/main" id="{CE10D145-F876-4FF1-9E95-BCBC72834FAB}"/>
              </a:ext>
            </a:extLst>
          </p:cNvPr>
          <p:cNvSpPr>
            <a:spLocks xmlns:a="http://schemas.openxmlformats.org/drawingml/2006/main" noGrp="1"/>
          </p:cNvSpPr>
          <p:nvPr/>
        </p:nvSpPr>
        <p:spPr>
          <a:xfrm xmlns:a="http://schemas.openxmlformats.org/drawingml/2006/main">
            <a:off x="685800" y="742950"/>
            <a:ext cx="10744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43127"/>
                </a:solidFill>
              </a:defRPr>
            </a:pPr>
            <a:r>
              <a:rPr sz="2850" b="1">
                <a:solidFill>
                  <a:srgbClr val="243127"/>
                </a:solidFill>
              </a:rPr>
              <a:t>Telegram makes the AI available where leaders already work</a:t>
            </a:r>
          </a:p>
        </p:txBody>
      </p:sp>
      <p:sp>
        <p:nvSpPr>
          <p:cNvPr id="3" name="">
            <a:extLst xmlns:a="http://schemas.openxmlformats.org/drawingml/2006/main">
              <a:ext uri="{FF2B5EF4-FFF2-40B4-BE49-F238E27FC236}">
                <a16:creationId xmlns:a16="http://schemas.microsoft.com/office/drawing/2014/main" id="{0C7331E4-A051-4611-87D9-C835A3A09C4E}"/>
              </a:ext>
            </a:extLst>
          </p:cNvPr>
          <p:cNvSpPr>
            <a:spLocks xmlns:a="http://schemas.openxmlformats.org/drawingml/2006/main" noGrp="1"/>
          </p:cNvSpPr>
          <p:nvPr/>
        </p:nvSpPr>
        <p:spPr>
          <a:xfrm xmlns:a="http://schemas.openxmlformats.org/drawingml/2006/main">
            <a:off x="609600" y="1543050"/>
            <a:ext cx="6724650" cy="384810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e43c14c144614cb4"/>
          <a:srcRect xmlns:a="http://schemas.openxmlformats.org/drawingml/2006/main" l="0" t="55" r="0" b="55"/>
          <a:stretch xmlns:a="http://schemas.openxmlformats.org/drawingml/2006/main">
            <a:fillRect l="0" t="0" r="0" b="0"/>
          </a:stretch>
        </p:blipFill>
        <p:spPr>
          <a:xfrm xmlns:a="http://schemas.openxmlformats.org/drawingml/2006/main">
            <a:off x="685800" y="1619250"/>
            <a:ext cx="6572250" cy="3695700"/>
          </a:xfrm>
          <a:prstGeom xmlns:a="http://schemas.openxmlformats.org/drawingml/2006/main" prst="roundRect">
            <a:avLst>
              <a:gd name="adj" fmla="val 3093"/>
            </a:avLst>
          </a:prstGeom>
        </p:spPr>
      </p:pic>
      <p:sp>
        <p:nvSpPr>
          <p:cNvPr id="5" name="">
            <a:extLst xmlns:a="http://schemas.openxmlformats.org/drawingml/2006/main">
              <a:ext uri="{FF2B5EF4-FFF2-40B4-BE49-F238E27FC236}">
                <a16:creationId xmlns:a16="http://schemas.microsoft.com/office/drawing/2014/main" id="{44EBA54E-6BB2-45BA-990E-DE7A2CD68DBF}"/>
              </a:ext>
            </a:extLst>
          </p:cNvPr>
          <p:cNvSpPr>
            <a:spLocks xmlns:a="http://schemas.openxmlformats.org/drawingml/2006/main" noGrp="1"/>
          </p:cNvSpPr>
          <p:nvPr/>
        </p:nvSpPr>
        <p:spPr>
          <a:xfrm xmlns:a="http://schemas.openxmlformats.org/drawingml/2006/main">
            <a:off x="7715250" y="163830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7531B"/>
                </a:solidFill>
              </a:defRPr>
            </a:pPr>
            <a:r>
              <a:rPr sz="2025" b="1">
                <a:solidFill>
                  <a:srgbClr val="17531B"/>
                </a:solidFill>
              </a:rPr>
              <a:t>One private CEO chat</a:t>
            </a:r>
          </a:p>
        </p:txBody>
      </p:sp>
      <p:sp>
        <p:nvSpPr>
          <p:cNvPr id="6" name="">
            <a:extLst xmlns:a="http://schemas.openxmlformats.org/drawingml/2006/main">
              <a:ext uri="{FF2B5EF4-FFF2-40B4-BE49-F238E27FC236}">
                <a16:creationId xmlns:a16="http://schemas.microsoft.com/office/drawing/2014/main" id="{67524676-F7EE-45CA-AB4C-44F4D58E7F2D}"/>
              </a:ext>
            </a:extLst>
          </p:cNvPr>
          <p:cNvSpPr>
            <a:spLocks xmlns:a="http://schemas.openxmlformats.org/drawingml/2006/main" noGrp="1"/>
          </p:cNvSpPr>
          <p:nvPr/>
        </p:nvSpPr>
        <p:spPr>
          <a:xfrm xmlns:a="http://schemas.openxmlformats.org/drawingml/2006/main">
            <a:off x="7715250" y="2209800"/>
            <a:ext cx="1466850" cy="361950"/>
          </a:xfrm>
          <a:prstGeom xmlns:a="http://schemas.openxmlformats.org/drawingml/2006/main" prst="roundRect">
            <a:avLst>
              <a:gd name="adj" fmla="val 31579"/>
            </a:avLst>
          </a:prstGeom>
          <a:solidFill xmlns:a="http://schemas.openxmlformats.org/drawingml/2006/main">
            <a:srgbClr val="FFFFFF"/>
          </a:solidFill>
          <a:ln xmlns:a="http://schemas.openxmlformats.org/drawingml/2006/main" w="9525">
            <a:solidFill>
              <a:srgbClr val="D7D8CE"/>
            </a:solidFill>
            <a:prstDash val="solid"/>
          </a:ln>
        </p:spPr>
      </p:sp>
      <p:sp>
        <p:nvSpPr>
          <p:cNvPr id="7" name="">
            <a:extLst xmlns:a="http://schemas.openxmlformats.org/drawingml/2006/main">
              <a:ext uri="{FF2B5EF4-FFF2-40B4-BE49-F238E27FC236}">
                <a16:creationId xmlns:a16="http://schemas.microsoft.com/office/drawing/2014/main" id="{4606E7DC-2050-40AB-B691-822330B54245}"/>
              </a:ext>
            </a:extLst>
          </p:cNvPr>
          <p:cNvSpPr>
            <a:spLocks xmlns:a="http://schemas.openxmlformats.org/drawingml/2006/main" noGrp="1"/>
          </p:cNvSpPr>
          <p:nvPr/>
        </p:nvSpPr>
        <p:spPr>
          <a:xfrm xmlns:a="http://schemas.openxmlformats.org/drawingml/2006/main">
            <a:off x="7829550" y="229552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243127"/>
                </a:solidFill>
              </a:defRPr>
            </a:pPr>
            <a:r>
              <a:rPr sz="1050" b="1">
                <a:solidFill>
                  <a:srgbClr val="243127"/>
                </a:solidFill>
              </a:rPr>
              <a:t>/tasks</a:t>
            </a:r>
          </a:p>
        </p:txBody>
      </p:sp>
      <p:sp>
        <p:nvSpPr>
          <p:cNvPr id="8" name="">
            <a:extLst xmlns:a="http://schemas.openxmlformats.org/drawingml/2006/main">
              <a:ext uri="{FF2B5EF4-FFF2-40B4-BE49-F238E27FC236}">
                <a16:creationId xmlns:a16="http://schemas.microsoft.com/office/drawing/2014/main" id="{D833B05E-DC82-4E9B-974E-B696E6F0D0C3}"/>
              </a:ext>
            </a:extLst>
          </p:cNvPr>
          <p:cNvSpPr>
            <a:spLocks xmlns:a="http://schemas.openxmlformats.org/drawingml/2006/main" noGrp="1"/>
          </p:cNvSpPr>
          <p:nvPr/>
        </p:nvSpPr>
        <p:spPr>
          <a:xfrm xmlns:a="http://schemas.openxmlformats.org/drawingml/2006/main">
            <a:off x="9372600" y="2276475"/>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17064"/>
                </a:solidFill>
              </a:defRPr>
            </a:pPr>
            <a:r>
              <a:rPr sz="1275" b="0">
                <a:solidFill>
                  <a:srgbClr val="617064"/>
                </a:solidFill>
              </a:rPr>
              <a:t>Current tasks PDF</a:t>
            </a:r>
          </a:p>
        </p:txBody>
      </p:sp>
      <p:sp>
        <p:nvSpPr>
          <p:cNvPr id="9" name="">
            <a:extLst xmlns:a="http://schemas.openxmlformats.org/drawingml/2006/main">
              <a:ext uri="{FF2B5EF4-FFF2-40B4-BE49-F238E27FC236}">
                <a16:creationId xmlns:a16="http://schemas.microsoft.com/office/drawing/2014/main" id="{227BEF4A-80D0-4C39-9612-B688967094FC}"/>
              </a:ext>
            </a:extLst>
          </p:cNvPr>
          <p:cNvSpPr>
            <a:spLocks xmlns:a="http://schemas.openxmlformats.org/drawingml/2006/main" noGrp="1"/>
          </p:cNvSpPr>
          <p:nvPr/>
        </p:nvSpPr>
        <p:spPr>
          <a:xfrm xmlns:a="http://schemas.openxmlformats.org/drawingml/2006/main">
            <a:off x="7715250" y="2762250"/>
            <a:ext cx="1466850" cy="361950"/>
          </a:xfrm>
          <a:prstGeom xmlns:a="http://schemas.openxmlformats.org/drawingml/2006/main" prst="roundRect">
            <a:avLst>
              <a:gd name="adj" fmla="val 31579"/>
            </a:avLst>
          </a:prstGeom>
          <a:solidFill xmlns:a="http://schemas.openxmlformats.org/drawingml/2006/main">
            <a:srgbClr val="FFFFFF"/>
          </a:solidFill>
          <a:ln xmlns:a="http://schemas.openxmlformats.org/drawingml/2006/main" w="9525">
            <a:solidFill>
              <a:srgbClr val="D7D8CE"/>
            </a:solidFill>
            <a:prstDash val="solid"/>
          </a:ln>
        </p:spPr>
      </p:sp>
      <p:sp>
        <p:nvSpPr>
          <p:cNvPr id="10" name="">
            <a:extLst xmlns:a="http://schemas.openxmlformats.org/drawingml/2006/main">
              <a:ext uri="{FF2B5EF4-FFF2-40B4-BE49-F238E27FC236}">
                <a16:creationId xmlns:a16="http://schemas.microsoft.com/office/drawing/2014/main" id="{A719BF3B-7BBE-4802-9E54-662980D57DCA}"/>
              </a:ext>
            </a:extLst>
          </p:cNvPr>
          <p:cNvSpPr>
            <a:spLocks xmlns:a="http://schemas.openxmlformats.org/drawingml/2006/main" noGrp="1"/>
          </p:cNvSpPr>
          <p:nvPr/>
        </p:nvSpPr>
        <p:spPr>
          <a:xfrm xmlns:a="http://schemas.openxmlformats.org/drawingml/2006/main">
            <a:off x="7829550" y="284797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243127"/>
                </a:solidFill>
              </a:defRPr>
            </a:pPr>
            <a:r>
              <a:rPr sz="1050" b="1">
                <a:solidFill>
                  <a:srgbClr val="243127"/>
                </a:solidFill>
              </a:rPr>
              <a:t>/overdue</a:t>
            </a:r>
          </a:p>
        </p:txBody>
      </p:sp>
      <p:sp>
        <p:nvSpPr>
          <p:cNvPr id="11" name="">
            <a:extLst xmlns:a="http://schemas.openxmlformats.org/drawingml/2006/main">
              <a:ext uri="{FF2B5EF4-FFF2-40B4-BE49-F238E27FC236}">
                <a16:creationId xmlns:a16="http://schemas.microsoft.com/office/drawing/2014/main" id="{83CAFA00-35FF-4869-991C-5F5AD93678B6}"/>
              </a:ext>
            </a:extLst>
          </p:cNvPr>
          <p:cNvSpPr>
            <a:spLocks xmlns:a="http://schemas.openxmlformats.org/drawingml/2006/main" noGrp="1"/>
          </p:cNvSpPr>
          <p:nvPr/>
        </p:nvSpPr>
        <p:spPr>
          <a:xfrm xmlns:a="http://schemas.openxmlformats.org/drawingml/2006/main">
            <a:off x="9372600" y="2828925"/>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17064"/>
                </a:solidFill>
              </a:defRPr>
            </a:pPr>
            <a:r>
              <a:rPr sz="1275" b="0">
                <a:solidFill>
                  <a:srgbClr val="617064"/>
                </a:solidFill>
              </a:rPr>
              <a:t>Overdue tasks PDF</a:t>
            </a:r>
          </a:p>
        </p:txBody>
      </p:sp>
      <p:sp>
        <p:nvSpPr>
          <p:cNvPr id="12" name="">
            <a:extLst xmlns:a="http://schemas.openxmlformats.org/drawingml/2006/main">
              <a:ext uri="{FF2B5EF4-FFF2-40B4-BE49-F238E27FC236}">
                <a16:creationId xmlns:a16="http://schemas.microsoft.com/office/drawing/2014/main" id="{E0AD0748-E94B-4826-9040-D9D61211A648}"/>
              </a:ext>
            </a:extLst>
          </p:cNvPr>
          <p:cNvSpPr>
            <a:spLocks xmlns:a="http://schemas.openxmlformats.org/drawingml/2006/main" noGrp="1"/>
          </p:cNvSpPr>
          <p:nvPr/>
        </p:nvSpPr>
        <p:spPr>
          <a:xfrm xmlns:a="http://schemas.openxmlformats.org/drawingml/2006/main">
            <a:off x="7715250" y="3314700"/>
            <a:ext cx="1466850" cy="361950"/>
          </a:xfrm>
          <a:prstGeom xmlns:a="http://schemas.openxmlformats.org/drawingml/2006/main" prst="roundRect">
            <a:avLst>
              <a:gd name="adj" fmla="val 31579"/>
            </a:avLst>
          </a:prstGeom>
          <a:solidFill xmlns:a="http://schemas.openxmlformats.org/drawingml/2006/main">
            <a:srgbClr val="FFFFFF"/>
          </a:solidFill>
          <a:ln xmlns:a="http://schemas.openxmlformats.org/drawingml/2006/main" w="9525">
            <a:solidFill>
              <a:srgbClr val="D7D8CE"/>
            </a:solidFill>
            <a:prstDash val="solid"/>
          </a:ln>
        </p:spPr>
      </p:sp>
      <p:sp>
        <p:nvSpPr>
          <p:cNvPr id="13" name="">
            <a:extLst xmlns:a="http://schemas.openxmlformats.org/drawingml/2006/main">
              <a:ext uri="{FF2B5EF4-FFF2-40B4-BE49-F238E27FC236}">
                <a16:creationId xmlns:a16="http://schemas.microsoft.com/office/drawing/2014/main" id="{08A27CE5-92C3-47A7-A383-B7F396251B22}"/>
              </a:ext>
            </a:extLst>
          </p:cNvPr>
          <p:cNvSpPr>
            <a:spLocks xmlns:a="http://schemas.openxmlformats.org/drawingml/2006/main" noGrp="1"/>
          </p:cNvSpPr>
          <p:nvPr/>
        </p:nvSpPr>
        <p:spPr>
          <a:xfrm xmlns:a="http://schemas.openxmlformats.org/drawingml/2006/main">
            <a:off x="7829550" y="340042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243127"/>
                </a:solidFill>
              </a:defRPr>
            </a:pPr>
            <a:r>
              <a:rPr sz="1050" b="1">
                <a:solidFill>
                  <a:srgbClr val="243127"/>
                </a:solidFill>
              </a:rPr>
              <a:t>/attendance</a:t>
            </a:r>
          </a:p>
        </p:txBody>
      </p:sp>
      <p:sp>
        <p:nvSpPr>
          <p:cNvPr id="14" name="">
            <a:extLst xmlns:a="http://schemas.openxmlformats.org/drawingml/2006/main">
              <a:ext uri="{FF2B5EF4-FFF2-40B4-BE49-F238E27FC236}">
                <a16:creationId xmlns:a16="http://schemas.microsoft.com/office/drawing/2014/main" id="{14BA7132-3668-4029-A3BC-E75156378A09}"/>
              </a:ext>
            </a:extLst>
          </p:cNvPr>
          <p:cNvSpPr>
            <a:spLocks xmlns:a="http://schemas.openxmlformats.org/drawingml/2006/main" noGrp="1"/>
          </p:cNvSpPr>
          <p:nvPr/>
        </p:nvSpPr>
        <p:spPr>
          <a:xfrm xmlns:a="http://schemas.openxmlformats.org/drawingml/2006/main">
            <a:off x="9372600" y="3381375"/>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17064"/>
                </a:solidFill>
              </a:defRPr>
            </a:pPr>
            <a:r>
              <a:rPr sz="1275" b="0">
                <a:solidFill>
                  <a:srgbClr val="617064"/>
                </a:solidFill>
              </a:rPr>
              <a:t>Attendance PDF</a:t>
            </a:r>
          </a:p>
        </p:txBody>
      </p:sp>
      <p:sp>
        <p:nvSpPr>
          <p:cNvPr id="15" name="">
            <a:extLst xmlns:a="http://schemas.openxmlformats.org/drawingml/2006/main">
              <a:ext uri="{FF2B5EF4-FFF2-40B4-BE49-F238E27FC236}">
                <a16:creationId xmlns:a16="http://schemas.microsoft.com/office/drawing/2014/main" id="{3079D02C-0771-4E1D-AF96-6C1FCED93DA2}"/>
              </a:ext>
            </a:extLst>
          </p:cNvPr>
          <p:cNvSpPr>
            <a:spLocks xmlns:a="http://schemas.openxmlformats.org/drawingml/2006/main" noGrp="1"/>
          </p:cNvSpPr>
          <p:nvPr/>
        </p:nvSpPr>
        <p:spPr>
          <a:xfrm xmlns:a="http://schemas.openxmlformats.org/drawingml/2006/main">
            <a:off x="7715250" y="3867150"/>
            <a:ext cx="1466850" cy="361950"/>
          </a:xfrm>
          <a:prstGeom xmlns:a="http://schemas.openxmlformats.org/drawingml/2006/main" prst="roundRect">
            <a:avLst>
              <a:gd name="adj" fmla="val 31579"/>
            </a:avLst>
          </a:prstGeom>
          <a:solidFill xmlns:a="http://schemas.openxmlformats.org/drawingml/2006/main">
            <a:srgbClr val="17531B"/>
          </a:solidFill>
          <a:ln xmlns:a="http://schemas.openxmlformats.org/drawingml/2006/main" w="9525">
            <a:solidFill>
              <a:srgbClr val="17531B"/>
            </a:solidFill>
            <a:prstDash val="solid"/>
          </a:ln>
        </p:spPr>
      </p:sp>
      <p:sp>
        <p:nvSpPr>
          <p:cNvPr id="16" name="">
            <a:extLst xmlns:a="http://schemas.openxmlformats.org/drawingml/2006/main">
              <a:ext uri="{FF2B5EF4-FFF2-40B4-BE49-F238E27FC236}">
                <a16:creationId xmlns:a16="http://schemas.microsoft.com/office/drawing/2014/main" id="{BA7537E1-F70A-4BF2-B27B-BEFD015E28A0}"/>
              </a:ext>
            </a:extLst>
          </p:cNvPr>
          <p:cNvSpPr>
            <a:spLocks xmlns:a="http://schemas.openxmlformats.org/drawingml/2006/main" noGrp="1"/>
          </p:cNvSpPr>
          <p:nvPr/>
        </p:nvSpPr>
        <p:spPr>
          <a:xfrm xmlns:a="http://schemas.openxmlformats.org/drawingml/2006/main">
            <a:off x="7829550" y="395287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Natural question</a:t>
            </a:r>
          </a:p>
        </p:txBody>
      </p:sp>
      <p:sp>
        <p:nvSpPr>
          <p:cNvPr id="17" name="">
            <a:extLst xmlns:a="http://schemas.openxmlformats.org/drawingml/2006/main">
              <a:ext uri="{FF2B5EF4-FFF2-40B4-BE49-F238E27FC236}">
                <a16:creationId xmlns:a16="http://schemas.microsoft.com/office/drawing/2014/main" id="{3DB8C3E1-9767-4632-A4DC-3E03993DE861}"/>
              </a:ext>
            </a:extLst>
          </p:cNvPr>
          <p:cNvSpPr>
            <a:spLocks xmlns:a="http://schemas.openxmlformats.org/drawingml/2006/main" noGrp="1"/>
          </p:cNvSpPr>
          <p:nvPr/>
        </p:nvSpPr>
        <p:spPr>
          <a:xfrm xmlns:a="http://schemas.openxmlformats.org/drawingml/2006/main">
            <a:off x="9372600" y="3933825"/>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17064"/>
                </a:solidFill>
              </a:defRPr>
            </a:pPr>
            <a:r>
              <a:rPr sz="1275" b="0">
                <a:solidFill>
                  <a:srgbClr val="617064"/>
                </a:solidFill>
              </a:rPr>
              <a:t>Cited AI answer</a:t>
            </a:r>
          </a:p>
        </p:txBody>
      </p:sp>
      <p:sp>
        <p:nvSpPr>
          <p:cNvPr id="18" name="">
            <a:extLst xmlns:a="http://schemas.openxmlformats.org/drawingml/2006/main">
              <a:ext uri="{FF2B5EF4-FFF2-40B4-BE49-F238E27FC236}">
                <a16:creationId xmlns:a16="http://schemas.microsoft.com/office/drawing/2014/main" id="{30A0247E-1EA3-434D-850E-82CC0ACEC165}"/>
              </a:ext>
            </a:extLst>
          </p:cNvPr>
          <p:cNvSpPr>
            <a:spLocks xmlns:a="http://schemas.openxmlformats.org/drawingml/2006/main" noGrp="1"/>
          </p:cNvSpPr>
          <p:nvPr/>
        </p:nvSpPr>
        <p:spPr>
          <a:xfrm xmlns:a="http://schemas.openxmlformats.org/drawingml/2006/main">
            <a:off x="7715250" y="4419600"/>
            <a:ext cx="1466850" cy="361950"/>
          </a:xfrm>
          <a:prstGeom xmlns:a="http://schemas.openxmlformats.org/drawingml/2006/main" prst="roundRect">
            <a:avLst>
              <a:gd name="adj" fmla="val 31579"/>
            </a:avLst>
          </a:prstGeom>
          <a:solidFill xmlns:a="http://schemas.openxmlformats.org/drawingml/2006/main">
            <a:srgbClr val="FFFFFF"/>
          </a:solidFill>
          <a:ln xmlns:a="http://schemas.openxmlformats.org/drawingml/2006/main" w="9525">
            <a:solidFill>
              <a:srgbClr val="D7D8CE"/>
            </a:solidFill>
            <a:prstDash val="solid"/>
          </a:ln>
        </p:spPr>
      </p:sp>
      <p:sp>
        <p:nvSpPr>
          <p:cNvPr id="19" name="">
            <a:extLst xmlns:a="http://schemas.openxmlformats.org/drawingml/2006/main">
              <a:ext uri="{FF2B5EF4-FFF2-40B4-BE49-F238E27FC236}">
                <a16:creationId xmlns:a16="http://schemas.microsoft.com/office/drawing/2014/main" id="{6B68B4B1-5BB2-4D6B-9643-1508C82D8FAF}"/>
              </a:ext>
            </a:extLst>
          </p:cNvPr>
          <p:cNvSpPr>
            <a:spLocks xmlns:a="http://schemas.openxmlformats.org/drawingml/2006/main" noGrp="1"/>
          </p:cNvSpPr>
          <p:nvPr/>
        </p:nvSpPr>
        <p:spPr>
          <a:xfrm xmlns:a="http://schemas.openxmlformats.org/drawingml/2006/main">
            <a:off x="7829550" y="450532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243127"/>
                </a:solidFill>
              </a:defRPr>
            </a:pPr>
            <a:r>
              <a:rPr sz="1050" b="1">
                <a:solidFill>
                  <a:srgbClr val="243127"/>
                </a:solidFill>
              </a:rPr>
              <a:t>Critical trigger</a:t>
            </a:r>
          </a:p>
        </p:txBody>
      </p:sp>
      <p:sp>
        <p:nvSpPr>
          <p:cNvPr id="20" name="">
            <a:extLst xmlns:a="http://schemas.openxmlformats.org/drawingml/2006/main">
              <a:ext uri="{FF2B5EF4-FFF2-40B4-BE49-F238E27FC236}">
                <a16:creationId xmlns:a16="http://schemas.microsoft.com/office/drawing/2014/main" id="{D219F9C3-F939-43B0-BCAA-94D41EDBB327}"/>
              </a:ext>
            </a:extLst>
          </p:cNvPr>
          <p:cNvSpPr>
            <a:spLocks xmlns:a="http://schemas.openxmlformats.org/drawingml/2006/main" noGrp="1"/>
          </p:cNvSpPr>
          <p:nvPr/>
        </p:nvSpPr>
        <p:spPr>
          <a:xfrm xmlns:a="http://schemas.openxmlformats.org/drawingml/2006/main">
            <a:off x="9372600" y="4486275"/>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17064"/>
                </a:solidFill>
              </a:defRPr>
            </a:pPr>
            <a:r>
              <a:rPr sz="1275" b="0">
                <a:solidFill>
                  <a:srgbClr val="617064"/>
                </a:solidFill>
              </a:rPr>
              <a:t>Automatic alert</a:t>
            </a:r>
          </a:p>
        </p:txBody>
      </p:sp>
      <p:sp>
        <p:nvSpPr>
          <p:cNvPr id="21" name="">
            <a:extLst xmlns:a="http://schemas.openxmlformats.org/drawingml/2006/main">
              <a:ext uri="{FF2B5EF4-FFF2-40B4-BE49-F238E27FC236}">
                <a16:creationId xmlns:a16="http://schemas.microsoft.com/office/drawing/2014/main" id="{0E761060-0B06-405E-A5A9-EC35D727E5D7}"/>
              </a:ext>
            </a:extLst>
          </p:cNvPr>
          <p:cNvSpPr>
            <a:spLocks xmlns:a="http://schemas.openxmlformats.org/drawingml/2006/main" noGrp="1"/>
          </p:cNvSpPr>
          <p:nvPr/>
        </p:nvSpPr>
        <p:spPr>
          <a:xfrm xmlns:a="http://schemas.openxmlformats.org/drawingml/2006/main">
            <a:off x="7715250" y="5143500"/>
            <a:ext cx="3619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127"/>
                </a:solidFill>
              </a:defRPr>
            </a:pPr>
            <a:r>
              <a:rPr sz="1350" b="0">
                <a:solidFill>
                  <a:srgbClr val="243127"/>
                </a:solidFill>
              </a:rPr>
              <a:t>n8n handles routing, polling, PDF delivery and alert schedules. Django remains the source of permission and data decisions.</a:t>
            </a:r>
          </a:p>
        </p:txBody>
      </p:sp>
      <p:sp>
        <p:nvSpPr>
          <p:cNvPr id="22" name="">
            <a:extLst xmlns:a="http://schemas.openxmlformats.org/drawingml/2006/main">
              <a:ext uri="{FF2B5EF4-FFF2-40B4-BE49-F238E27FC236}">
                <a16:creationId xmlns:a16="http://schemas.microsoft.com/office/drawing/2014/main" id="{55EC72EE-1366-43F4-951C-6E13F370703B}"/>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8CE"/>
          </a:solidFill>
          <a:ln xmlns:a="http://schemas.openxmlformats.org/drawingml/2006/main" w="0">
            <a:solidFill>
              <a:srgbClr val="D7D8CE"/>
            </a:solidFill>
            <a:prstDash val="solid"/>
          </a:ln>
        </p:spPr>
      </p:sp>
      <p:sp>
        <p:nvSpPr>
          <p:cNvPr id="23" name="">
            <a:extLst xmlns:a="http://schemas.openxmlformats.org/drawingml/2006/main">
              <a:ext uri="{FF2B5EF4-FFF2-40B4-BE49-F238E27FC236}">
                <a16:creationId xmlns:a16="http://schemas.microsoft.com/office/drawing/2014/main" id="{A1B3E42F-9586-4D17-9E31-A9301A174A68}"/>
              </a:ext>
            </a:extLst>
          </p:cNvPr>
          <p:cNvSpPr>
            <a:spLocks xmlns:a="http://schemas.openxmlformats.org/drawingml/2006/main" noGrp="1"/>
          </p:cNvSpPr>
          <p:nvPr/>
        </p:nvSpPr>
        <p:spPr>
          <a:xfrm xmlns:a="http://schemas.openxmlformats.org/drawingml/2006/main">
            <a:off x="685800" y="65246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17064"/>
                </a:solidFill>
              </a:defRPr>
            </a:pPr>
            <a:r>
              <a:rPr sz="825" b="1">
                <a:solidFill>
                  <a:srgbClr val="617064"/>
                </a:solidFill>
              </a:rPr>
              <a:t>INSIGHT TRACKER</a:t>
            </a:r>
          </a:p>
        </p:txBody>
      </p:sp>
      <p:sp>
        <p:nvSpPr>
          <p:cNvPr id="24" name="">
            <a:extLst xmlns:a="http://schemas.openxmlformats.org/drawingml/2006/main">
              <a:ext uri="{FF2B5EF4-FFF2-40B4-BE49-F238E27FC236}">
                <a16:creationId xmlns:a16="http://schemas.microsoft.com/office/drawing/2014/main" id="{02525710-EA73-4C01-8837-7BF34D3351B4}"/>
              </a:ext>
            </a:extLst>
          </p:cNvPr>
          <p:cNvSpPr>
            <a:spLocks xmlns:a="http://schemas.openxmlformats.org/drawingml/2006/main" noGrp="1"/>
          </p:cNvSpPr>
          <p:nvPr/>
        </p:nvSpPr>
        <p:spPr>
          <a:xfrm xmlns:a="http://schemas.openxmlformats.org/drawingml/2006/main">
            <a:off x="11049000" y="65055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17064"/>
                </a:solidFill>
              </a:defRPr>
            </a:pPr>
            <a:r>
              <a:rPr sz="900" b="1">
                <a:solidFill>
                  <a:srgbClr val="617064"/>
                </a:solidFill>
              </a:rPr>
              <a:t>09</a:t>
            </a:r>
          </a:p>
        </p:txBody>
      </p:sp>
    </p:spTree>
    <p:extLst>
      <p:ext uri="{BB962C8B-B14F-4D97-AF65-F5344CB8AC3E}">
        <p14:creationId xmlns:p14="http://schemas.microsoft.com/office/powerpoint/2010/main" val="2097251557"/>
      </p:ext>
    </p:extLst>
  </p:cSld>
</p:sld>
</file>

<file path=ppt/slides/slide10.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47" name="kicker-10">
            <a:extLst xmlns:a="http://schemas.openxmlformats.org/drawingml/2006/main">
              <a:ext uri="{FF2B5EF4-FFF2-40B4-BE49-F238E27FC236}">
                <a16:creationId xmlns:a16="http://schemas.microsoft.com/office/drawing/2014/main" id="{17C66E74-7440-4D57-8406-6CF97CEF36B9}"/>
              </a:ext>
            </a:extLst>
          </p:cNvPr>
          <p:cNvSpPr>
            <a:spLocks xmlns:a="http://schemas.openxmlformats.org/drawingml/2006/main" noGrp="1"/>
          </p:cNvSpPr>
          <p:nvPr/>
        </p:nvSpPr>
        <p:spPr>
          <a:xfrm xmlns:a="http://schemas.openxmlformats.org/drawingml/2006/main">
            <a:off x="685800" y="400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7531B"/>
                </a:solidFill>
              </a:defRPr>
            </a:pPr>
            <a:r>
              <a:rPr sz="1050" b="1">
                <a:solidFill>
                  <a:srgbClr val="17531B"/>
                </a:solidFill>
              </a:rPr>
              <a:t>INTEGRATION SAFETY</a:t>
            </a:r>
          </a:p>
        </p:txBody>
      </p:sp>
      <p:sp>
        <p:nvSpPr>
          <p:cNvPr id="2" name="title-10">
            <a:extLst xmlns:a="http://schemas.openxmlformats.org/drawingml/2006/main">
              <a:ext uri="{FF2B5EF4-FFF2-40B4-BE49-F238E27FC236}">
                <a16:creationId xmlns:a16="http://schemas.microsoft.com/office/drawing/2014/main" id="{5CFA6FFA-D77D-43A2-8002-5C3A40EEC030}"/>
              </a:ext>
            </a:extLst>
          </p:cNvPr>
          <p:cNvSpPr>
            <a:spLocks xmlns:a="http://schemas.openxmlformats.org/drawingml/2006/main" noGrp="1"/>
          </p:cNvSpPr>
          <p:nvPr/>
        </p:nvSpPr>
        <p:spPr>
          <a:xfrm xmlns:a="http://schemas.openxmlformats.org/drawingml/2006/main">
            <a:off x="685800" y="742950"/>
            <a:ext cx="10744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43127"/>
                </a:solidFill>
              </a:defRPr>
            </a:pPr>
            <a:r>
              <a:rPr sz="2850" b="1">
                <a:solidFill>
                  <a:srgbClr val="243127"/>
                </a:solidFill>
              </a:rPr>
              <a:t>Automation is useful only when its boundary is secure</a:t>
            </a:r>
          </a:p>
        </p:txBody>
      </p:sp>
      <p:sp>
        <p:nvSpPr>
          <p:cNvPr id="3" name="">
            <a:extLst xmlns:a="http://schemas.openxmlformats.org/drawingml/2006/main">
              <a:ext uri="{FF2B5EF4-FFF2-40B4-BE49-F238E27FC236}">
                <a16:creationId xmlns:a16="http://schemas.microsoft.com/office/drawing/2014/main" id="{F45D3D47-F0F1-44E1-974A-CE22622E6E92}"/>
              </a:ext>
            </a:extLst>
          </p:cNvPr>
          <p:cNvSpPr>
            <a:spLocks xmlns:a="http://schemas.openxmlformats.org/drawingml/2006/main" noGrp="1"/>
          </p:cNvSpPr>
          <p:nvPr/>
        </p:nvSpPr>
        <p:spPr>
          <a:xfrm xmlns:a="http://schemas.openxmlformats.org/drawingml/2006/main">
            <a:off x="685800" y="1695450"/>
            <a:ext cx="476250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E6D680C8-E624-4C3C-88FE-1FAECFA0D1FA}"/>
              </a:ext>
            </a:extLst>
          </p:cNvPr>
          <p:cNvSpPr>
            <a:spLocks xmlns:a="http://schemas.openxmlformats.org/drawingml/2006/main" noGrp="1"/>
          </p:cNvSpPr>
          <p:nvPr/>
        </p:nvSpPr>
        <p:spPr>
          <a:xfrm xmlns:a="http://schemas.openxmlformats.org/drawingml/2006/main">
            <a:off x="857250" y="1876425"/>
            <a:ext cx="419100" cy="419100"/>
          </a:xfrm>
          <a:prstGeom xmlns:a="http://schemas.openxmlformats.org/drawingml/2006/main" prst="ellipse">
            <a:avLst/>
          </a:prstGeom>
          <a:solidFill xmlns:a="http://schemas.openxmlformats.org/drawingml/2006/main">
            <a:srgbClr val="0A400C"/>
          </a:solidFill>
          <a:ln xmlns:a="http://schemas.openxmlformats.org/drawingml/2006/main" w="0">
            <a:solidFill>
              <a:srgbClr val="0A400C"/>
            </a:solidFill>
            <a:prstDash val="solid"/>
          </a:ln>
        </p:spPr>
      </p:sp>
      <p:sp>
        <p:nvSpPr>
          <p:cNvPr id="5" name="">
            <a:extLst xmlns:a="http://schemas.openxmlformats.org/drawingml/2006/main">
              <a:ext uri="{FF2B5EF4-FFF2-40B4-BE49-F238E27FC236}">
                <a16:creationId xmlns:a16="http://schemas.microsoft.com/office/drawing/2014/main" id="{A72B130B-2428-4996-97E4-752F4E8ED7B0}"/>
              </a:ext>
            </a:extLst>
          </p:cNvPr>
          <p:cNvSpPr>
            <a:spLocks xmlns:a="http://schemas.openxmlformats.org/drawingml/2006/main" noGrp="1"/>
          </p:cNvSpPr>
          <p:nvPr/>
        </p:nvSpPr>
        <p:spPr>
          <a:xfrm xmlns:a="http://schemas.openxmlformats.org/drawingml/2006/main">
            <a:off x="857250" y="19907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E1F6B1C7-FF95-4A4F-93FA-4B3F4701AD74}"/>
              </a:ext>
            </a:extLst>
          </p:cNvPr>
          <p:cNvSpPr>
            <a:spLocks xmlns:a="http://schemas.openxmlformats.org/drawingml/2006/main" noGrp="1"/>
          </p:cNvSpPr>
          <p:nvPr/>
        </p:nvSpPr>
        <p:spPr>
          <a:xfrm xmlns:a="http://schemas.openxmlformats.org/drawingml/2006/main">
            <a:off x="1466850" y="1819275"/>
            <a:ext cx="3667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243127"/>
                </a:solidFill>
              </a:defRPr>
            </a:pPr>
            <a:r>
              <a:rPr sz="1575" b="1">
                <a:solidFill>
                  <a:srgbClr val="243127"/>
                </a:solidFill>
              </a:rPr>
              <a:t>Exact chat binding</a:t>
            </a:r>
          </a:p>
        </p:txBody>
      </p:sp>
      <p:sp>
        <p:nvSpPr>
          <p:cNvPr id="7" name="">
            <a:extLst xmlns:a="http://schemas.openxmlformats.org/drawingml/2006/main">
              <a:ext uri="{FF2B5EF4-FFF2-40B4-BE49-F238E27FC236}">
                <a16:creationId xmlns:a16="http://schemas.microsoft.com/office/drawing/2014/main" id="{577659C8-28C9-47D1-BF0B-9AD99ADB687E}"/>
              </a:ext>
            </a:extLst>
          </p:cNvPr>
          <p:cNvSpPr>
            <a:spLocks xmlns:a="http://schemas.openxmlformats.org/drawingml/2006/main" noGrp="1"/>
          </p:cNvSpPr>
          <p:nvPr/>
        </p:nvSpPr>
        <p:spPr>
          <a:xfrm xmlns:a="http://schemas.openxmlformats.org/drawingml/2006/main">
            <a:off x="1466850" y="2105025"/>
            <a:ext cx="36671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17064"/>
                </a:solidFill>
              </a:defRPr>
            </a:pPr>
            <a:r>
              <a:rPr sz="1125" b="0">
                <a:solidFill>
                  <a:srgbClr val="617064"/>
                </a:solidFill>
              </a:rPr>
              <a:t>Only the configured CEO and private chat are accepted.</a:t>
            </a:r>
          </a:p>
        </p:txBody>
      </p:sp>
      <p:sp>
        <p:nvSpPr>
          <p:cNvPr id="8" name="">
            <a:extLst xmlns:a="http://schemas.openxmlformats.org/drawingml/2006/main">
              <a:ext uri="{FF2B5EF4-FFF2-40B4-BE49-F238E27FC236}">
                <a16:creationId xmlns:a16="http://schemas.microsoft.com/office/drawing/2014/main" id="{5CC36892-AC32-4C35-AE87-0D3629CB1D1B}"/>
              </a:ext>
            </a:extLst>
          </p:cNvPr>
          <p:cNvSpPr>
            <a:spLocks xmlns:a="http://schemas.openxmlformats.org/drawingml/2006/main" noGrp="1"/>
          </p:cNvSpPr>
          <p:nvPr/>
        </p:nvSpPr>
        <p:spPr>
          <a:xfrm xmlns:a="http://schemas.openxmlformats.org/drawingml/2006/main">
            <a:off x="685800" y="2676525"/>
            <a:ext cx="476250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8D3079BE-6E49-4360-A9C7-0FC2873D0195}"/>
              </a:ext>
            </a:extLst>
          </p:cNvPr>
          <p:cNvSpPr>
            <a:spLocks xmlns:a="http://schemas.openxmlformats.org/drawingml/2006/main" noGrp="1"/>
          </p:cNvSpPr>
          <p:nvPr/>
        </p:nvSpPr>
        <p:spPr>
          <a:xfrm xmlns:a="http://schemas.openxmlformats.org/drawingml/2006/main">
            <a:off x="857250" y="2857500"/>
            <a:ext cx="419100" cy="41910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10" name="">
            <a:extLst xmlns:a="http://schemas.openxmlformats.org/drawingml/2006/main">
              <a:ext uri="{FF2B5EF4-FFF2-40B4-BE49-F238E27FC236}">
                <a16:creationId xmlns:a16="http://schemas.microsoft.com/office/drawing/2014/main" id="{D8C5CFBF-0B9B-4B53-B330-7F35B7942E99}"/>
              </a:ext>
            </a:extLst>
          </p:cNvPr>
          <p:cNvSpPr>
            <a:spLocks xmlns:a="http://schemas.openxmlformats.org/drawingml/2006/main" noGrp="1"/>
          </p:cNvSpPr>
          <p:nvPr/>
        </p:nvSpPr>
        <p:spPr>
          <a:xfrm xmlns:a="http://schemas.openxmlformats.org/drawingml/2006/main">
            <a:off x="857250" y="29718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2</a:t>
            </a:r>
          </a:p>
        </p:txBody>
      </p:sp>
      <p:sp>
        <p:nvSpPr>
          <p:cNvPr id="11" name="">
            <a:extLst xmlns:a="http://schemas.openxmlformats.org/drawingml/2006/main">
              <a:ext uri="{FF2B5EF4-FFF2-40B4-BE49-F238E27FC236}">
                <a16:creationId xmlns:a16="http://schemas.microsoft.com/office/drawing/2014/main" id="{5EAD283F-A28A-4AE8-A55D-1C85A25E6972}"/>
              </a:ext>
            </a:extLst>
          </p:cNvPr>
          <p:cNvSpPr>
            <a:spLocks xmlns:a="http://schemas.openxmlformats.org/drawingml/2006/main" noGrp="1"/>
          </p:cNvSpPr>
          <p:nvPr/>
        </p:nvSpPr>
        <p:spPr>
          <a:xfrm xmlns:a="http://schemas.openxmlformats.org/drawingml/2006/main">
            <a:off x="1466850" y="2800350"/>
            <a:ext cx="3667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243127"/>
                </a:solidFill>
              </a:defRPr>
            </a:pPr>
            <a:r>
              <a:rPr sz="1575" b="1">
                <a:solidFill>
                  <a:srgbClr val="243127"/>
                </a:solidFill>
              </a:rPr>
              <a:t>HMAC signatures</a:t>
            </a:r>
          </a:p>
        </p:txBody>
      </p:sp>
      <p:sp>
        <p:nvSpPr>
          <p:cNvPr id="12" name="">
            <a:extLst xmlns:a="http://schemas.openxmlformats.org/drawingml/2006/main">
              <a:ext uri="{FF2B5EF4-FFF2-40B4-BE49-F238E27FC236}">
                <a16:creationId xmlns:a16="http://schemas.microsoft.com/office/drawing/2014/main" id="{0325BA1B-E0D4-4B3C-816D-CAD261AD6D84}"/>
              </a:ext>
            </a:extLst>
          </p:cNvPr>
          <p:cNvSpPr>
            <a:spLocks xmlns:a="http://schemas.openxmlformats.org/drawingml/2006/main" noGrp="1"/>
          </p:cNvSpPr>
          <p:nvPr/>
        </p:nvSpPr>
        <p:spPr>
          <a:xfrm xmlns:a="http://schemas.openxmlformats.org/drawingml/2006/main">
            <a:off x="1466850" y="3086100"/>
            <a:ext cx="36671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17064"/>
                </a:solidFill>
              </a:defRPr>
            </a:pPr>
            <a:r>
              <a:rPr sz="1125" b="0">
                <a:solidFill>
                  <a:srgbClr val="617064"/>
                </a:solidFill>
              </a:rPr>
              <a:t>Every n8n request includes a body hash, timestamp and nonce.</a:t>
            </a:r>
          </a:p>
        </p:txBody>
      </p:sp>
      <p:sp>
        <p:nvSpPr>
          <p:cNvPr id="13" name="">
            <a:extLst xmlns:a="http://schemas.openxmlformats.org/drawingml/2006/main">
              <a:ext uri="{FF2B5EF4-FFF2-40B4-BE49-F238E27FC236}">
                <a16:creationId xmlns:a16="http://schemas.microsoft.com/office/drawing/2014/main" id="{E53D0051-A7C3-4094-8ACC-ACBB1009A46F}"/>
              </a:ext>
            </a:extLst>
          </p:cNvPr>
          <p:cNvSpPr>
            <a:spLocks xmlns:a="http://schemas.openxmlformats.org/drawingml/2006/main" noGrp="1"/>
          </p:cNvSpPr>
          <p:nvPr/>
        </p:nvSpPr>
        <p:spPr>
          <a:xfrm xmlns:a="http://schemas.openxmlformats.org/drawingml/2006/main">
            <a:off x="685800" y="3657600"/>
            <a:ext cx="476250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F7011BD4-4578-4420-95AC-1798F6DDE26E}"/>
              </a:ext>
            </a:extLst>
          </p:cNvPr>
          <p:cNvSpPr>
            <a:spLocks xmlns:a="http://schemas.openxmlformats.org/drawingml/2006/main" noGrp="1"/>
          </p:cNvSpPr>
          <p:nvPr/>
        </p:nvSpPr>
        <p:spPr>
          <a:xfrm xmlns:a="http://schemas.openxmlformats.org/drawingml/2006/main">
            <a:off x="857250" y="3838575"/>
            <a:ext cx="419100" cy="41910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15" name="">
            <a:extLst xmlns:a="http://schemas.openxmlformats.org/drawingml/2006/main">
              <a:ext uri="{FF2B5EF4-FFF2-40B4-BE49-F238E27FC236}">
                <a16:creationId xmlns:a16="http://schemas.microsoft.com/office/drawing/2014/main" id="{0D77DDAB-4EBC-4A15-8045-AA7D1DCE350A}"/>
              </a:ext>
            </a:extLst>
          </p:cNvPr>
          <p:cNvSpPr>
            <a:spLocks xmlns:a="http://schemas.openxmlformats.org/drawingml/2006/main" noGrp="1"/>
          </p:cNvSpPr>
          <p:nvPr/>
        </p:nvSpPr>
        <p:spPr>
          <a:xfrm xmlns:a="http://schemas.openxmlformats.org/drawingml/2006/main">
            <a:off x="857250" y="395287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3</a:t>
            </a:r>
          </a:p>
        </p:txBody>
      </p:sp>
      <p:sp>
        <p:nvSpPr>
          <p:cNvPr id="16" name="">
            <a:extLst xmlns:a="http://schemas.openxmlformats.org/drawingml/2006/main">
              <a:ext uri="{FF2B5EF4-FFF2-40B4-BE49-F238E27FC236}">
                <a16:creationId xmlns:a16="http://schemas.microsoft.com/office/drawing/2014/main" id="{CCDAD8CD-E395-4100-BA64-C0D7038B90FE}"/>
              </a:ext>
            </a:extLst>
          </p:cNvPr>
          <p:cNvSpPr>
            <a:spLocks xmlns:a="http://schemas.openxmlformats.org/drawingml/2006/main" noGrp="1"/>
          </p:cNvSpPr>
          <p:nvPr/>
        </p:nvSpPr>
        <p:spPr>
          <a:xfrm xmlns:a="http://schemas.openxmlformats.org/drawingml/2006/main">
            <a:off x="1466850" y="3781425"/>
            <a:ext cx="3667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243127"/>
                </a:solidFill>
              </a:defRPr>
            </a:pPr>
            <a:r>
              <a:rPr sz="1575" b="1">
                <a:solidFill>
                  <a:srgbClr val="243127"/>
                </a:solidFill>
              </a:rPr>
              <a:t>Replay protection</a:t>
            </a:r>
          </a:p>
        </p:txBody>
      </p:sp>
      <p:sp>
        <p:nvSpPr>
          <p:cNvPr id="17" name="">
            <a:extLst xmlns:a="http://schemas.openxmlformats.org/drawingml/2006/main">
              <a:ext uri="{FF2B5EF4-FFF2-40B4-BE49-F238E27FC236}">
                <a16:creationId xmlns:a16="http://schemas.microsoft.com/office/drawing/2014/main" id="{A537F176-D9F4-4F80-9595-7014D0B39C40}"/>
              </a:ext>
            </a:extLst>
          </p:cNvPr>
          <p:cNvSpPr>
            <a:spLocks xmlns:a="http://schemas.openxmlformats.org/drawingml/2006/main" noGrp="1"/>
          </p:cNvSpPr>
          <p:nvPr/>
        </p:nvSpPr>
        <p:spPr>
          <a:xfrm xmlns:a="http://schemas.openxmlformats.org/drawingml/2006/main">
            <a:off x="1466850" y="4067175"/>
            <a:ext cx="36671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17064"/>
                </a:solidFill>
              </a:defRPr>
            </a:pPr>
            <a:r>
              <a:rPr sz="1125" b="0">
                <a:solidFill>
                  <a:srgbClr val="617064"/>
                </a:solidFill>
              </a:rPr>
              <a:t>A signed request cannot be reused.</a:t>
            </a:r>
          </a:p>
        </p:txBody>
      </p:sp>
      <p:sp>
        <p:nvSpPr>
          <p:cNvPr id="18" name="">
            <a:extLst xmlns:a="http://schemas.openxmlformats.org/drawingml/2006/main">
              <a:ext uri="{FF2B5EF4-FFF2-40B4-BE49-F238E27FC236}">
                <a16:creationId xmlns:a16="http://schemas.microsoft.com/office/drawing/2014/main" id="{AF99AA6E-7869-4F1A-9815-69FB71139459}"/>
              </a:ext>
            </a:extLst>
          </p:cNvPr>
          <p:cNvSpPr>
            <a:spLocks xmlns:a="http://schemas.openxmlformats.org/drawingml/2006/main" noGrp="1"/>
          </p:cNvSpPr>
          <p:nvPr/>
        </p:nvSpPr>
        <p:spPr>
          <a:xfrm xmlns:a="http://schemas.openxmlformats.org/drawingml/2006/main">
            <a:off x="685800" y="4638675"/>
            <a:ext cx="476250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EDAF54F7-9EDF-4FC8-8405-2DE1A4F154B4}"/>
              </a:ext>
            </a:extLst>
          </p:cNvPr>
          <p:cNvSpPr>
            <a:spLocks xmlns:a="http://schemas.openxmlformats.org/drawingml/2006/main" noGrp="1"/>
          </p:cNvSpPr>
          <p:nvPr/>
        </p:nvSpPr>
        <p:spPr>
          <a:xfrm xmlns:a="http://schemas.openxmlformats.org/drawingml/2006/main">
            <a:off x="857250" y="4819650"/>
            <a:ext cx="419100" cy="41910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20" name="">
            <a:extLst xmlns:a="http://schemas.openxmlformats.org/drawingml/2006/main">
              <a:ext uri="{FF2B5EF4-FFF2-40B4-BE49-F238E27FC236}">
                <a16:creationId xmlns:a16="http://schemas.microsoft.com/office/drawing/2014/main" id="{EB4ABE10-3AFA-40A5-B764-3B3783AA7B34}"/>
              </a:ext>
            </a:extLst>
          </p:cNvPr>
          <p:cNvSpPr>
            <a:spLocks xmlns:a="http://schemas.openxmlformats.org/drawingml/2006/main" noGrp="1"/>
          </p:cNvSpPr>
          <p:nvPr/>
        </p:nvSpPr>
        <p:spPr>
          <a:xfrm xmlns:a="http://schemas.openxmlformats.org/drawingml/2006/main">
            <a:off x="857250" y="49339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4CCE00C2-6940-4B65-8F02-CE74152A6948}"/>
              </a:ext>
            </a:extLst>
          </p:cNvPr>
          <p:cNvSpPr>
            <a:spLocks xmlns:a="http://schemas.openxmlformats.org/drawingml/2006/main" noGrp="1"/>
          </p:cNvSpPr>
          <p:nvPr/>
        </p:nvSpPr>
        <p:spPr>
          <a:xfrm xmlns:a="http://schemas.openxmlformats.org/drawingml/2006/main">
            <a:off x="1466850" y="4762500"/>
            <a:ext cx="3667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243127"/>
                </a:solidFill>
              </a:defRPr>
            </a:pPr>
            <a:r>
              <a:rPr sz="1575" b="1">
                <a:solidFill>
                  <a:srgbClr val="243127"/>
                </a:solidFill>
              </a:rPr>
              <a:t>Idempotency</a:t>
            </a:r>
          </a:p>
        </p:txBody>
      </p:sp>
      <p:sp>
        <p:nvSpPr>
          <p:cNvPr id="22" name="">
            <a:extLst xmlns:a="http://schemas.openxmlformats.org/drawingml/2006/main">
              <a:ext uri="{FF2B5EF4-FFF2-40B4-BE49-F238E27FC236}">
                <a16:creationId xmlns:a16="http://schemas.microsoft.com/office/drawing/2014/main" id="{BF1934BC-C591-490F-BB64-FB71EB74D023}"/>
              </a:ext>
            </a:extLst>
          </p:cNvPr>
          <p:cNvSpPr>
            <a:spLocks xmlns:a="http://schemas.openxmlformats.org/drawingml/2006/main" noGrp="1"/>
          </p:cNvSpPr>
          <p:nvPr/>
        </p:nvSpPr>
        <p:spPr>
          <a:xfrm xmlns:a="http://schemas.openxmlformats.org/drawingml/2006/main">
            <a:off x="1466850" y="5048250"/>
            <a:ext cx="36671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17064"/>
                </a:solidFill>
              </a:defRPr>
            </a:pPr>
            <a:r>
              <a:rPr sz="1125" b="0">
                <a:solidFill>
                  <a:srgbClr val="617064"/>
                </a:solidFill>
              </a:rPr>
              <a:t>Repeated Telegram updates do not create duplicate work.</a:t>
            </a:r>
          </a:p>
        </p:txBody>
      </p:sp>
      <p:sp>
        <p:nvSpPr>
          <p:cNvPr id="23" name="">
            <a:extLst xmlns:a="http://schemas.openxmlformats.org/drawingml/2006/main">
              <a:ext uri="{FF2B5EF4-FFF2-40B4-BE49-F238E27FC236}">
                <a16:creationId xmlns:a16="http://schemas.microsoft.com/office/drawing/2014/main" id="{9F1494F7-0A39-4807-BFF3-10DF2A79CD64}"/>
              </a:ext>
            </a:extLst>
          </p:cNvPr>
          <p:cNvSpPr>
            <a:spLocks xmlns:a="http://schemas.openxmlformats.org/drawingml/2006/main" noGrp="1"/>
          </p:cNvSpPr>
          <p:nvPr/>
        </p:nvSpPr>
        <p:spPr>
          <a:xfrm xmlns:a="http://schemas.openxmlformats.org/drawingml/2006/main">
            <a:off x="6000750" y="1695450"/>
            <a:ext cx="5505450" cy="3733800"/>
          </a:xfrm>
          <a:prstGeom xmlns:a="http://schemas.openxmlformats.org/drawingml/2006/main" prst="roundRect">
            <a:avLst>
              <a:gd name="adj" fmla="val 3061"/>
            </a:avLst>
          </a:prstGeom>
          <a:solidFill xmlns:a="http://schemas.openxmlformats.org/drawingml/2006/main">
            <a:srgbClr val="0A400C"/>
          </a:solidFill>
          <a:ln xmlns:a="http://schemas.openxmlformats.org/drawingml/2006/main" w="9525">
            <a:solidFill>
              <a:srgbClr val="0A400C"/>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DB0B6CCA-92CC-4EC5-AA8F-B0FB314E0D03}"/>
              </a:ext>
            </a:extLst>
          </p:cNvPr>
          <p:cNvSpPr>
            <a:spLocks xmlns:a="http://schemas.openxmlformats.org/drawingml/2006/main" noGrp="1"/>
          </p:cNvSpPr>
          <p:nvPr/>
        </p:nvSpPr>
        <p:spPr>
          <a:xfrm xmlns:a="http://schemas.openxmlformats.org/drawingml/2006/main">
            <a:off x="6324600" y="20764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FFFFFF"/>
                </a:solidFill>
              </a:defRPr>
            </a:pPr>
            <a:r>
              <a:rPr sz="2175" b="1">
                <a:solidFill>
                  <a:srgbClr val="FFFFFF"/>
                </a:solidFill>
              </a:rPr>
              <a:t>What n8n cannot do</a:t>
            </a:r>
          </a:p>
        </p:txBody>
      </p:sp>
      <p:sp>
        <p:nvSpPr>
          <p:cNvPr id="25" name="">
            <a:extLst xmlns:a="http://schemas.openxmlformats.org/drawingml/2006/main">
              <a:ext uri="{FF2B5EF4-FFF2-40B4-BE49-F238E27FC236}">
                <a16:creationId xmlns:a16="http://schemas.microsoft.com/office/drawing/2014/main" id="{F75F2D19-8913-4E6A-8111-8AE14221987B}"/>
              </a:ext>
            </a:extLst>
          </p:cNvPr>
          <p:cNvSpPr>
            <a:spLocks xmlns:a="http://schemas.openxmlformats.org/drawingml/2006/main" noGrp="1"/>
          </p:cNvSpPr>
          <p:nvPr/>
        </p:nvSpPr>
        <p:spPr>
          <a:xfrm xmlns:a="http://schemas.openxmlformats.org/drawingml/2006/main">
            <a:off x="6362700" y="2819400"/>
            <a:ext cx="171450" cy="171450"/>
          </a:xfrm>
          <a:prstGeom xmlns:a="http://schemas.openxmlformats.org/drawingml/2006/main" prst="ellipse">
            <a:avLst/>
          </a:prstGeom>
          <a:solidFill xmlns:a="http://schemas.openxmlformats.org/drawingml/2006/main">
            <a:srgbClr val="C9D8C3"/>
          </a:solidFill>
          <a:ln xmlns:a="http://schemas.openxmlformats.org/drawingml/2006/main" w="0">
            <a:solidFill>
              <a:srgbClr val="C9D8C3"/>
            </a:solidFill>
            <a:prstDash val="solid"/>
          </a:ln>
        </p:spPr>
      </p:sp>
      <p:sp>
        <p:nvSpPr>
          <p:cNvPr id="26" name="">
            <a:extLst xmlns:a="http://schemas.openxmlformats.org/drawingml/2006/main">
              <a:ext uri="{FF2B5EF4-FFF2-40B4-BE49-F238E27FC236}">
                <a16:creationId xmlns:a16="http://schemas.microsoft.com/office/drawing/2014/main" id="{A818B9DB-8B17-4F54-ADB6-C3FDC652B69F}"/>
              </a:ext>
            </a:extLst>
          </p:cNvPr>
          <p:cNvSpPr>
            <a:spLocks xmlns:a="http://schemas.openxmlformats.org/drawingml/2006/main" noGrp="1"/>
          </p:cNvSpPr>
          <p:nvPr/>
        </p:nvSpPr>
        <p:spPr>
          <a:xfrm xmlns:a="http://schemas.openxmlformats.org/drawingml/2006/main">
            <a:off x="6362700" y="28003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0A400C"/>
                </a:solidFill>
              </a:defRPr>
            </a:pPr>
            <a:r>
              <a:rPr sz="1050" b="1">
                <a:solidFill>
                  <a:srgbClr val="0A400C"/>
                </a:solidFill>
              </a:rPr>
              <a:t>×</a:t>
            </a:r>
          </a:p>
        </p:txBody>
      </p:sp>
      <p:sp>
        <p:nvSpPr>
          <p:cNvPr id="27" name="">
            <a:extLst xmlns:a="http://schemas.openxmlformats.org/drawingml/2006/main">
              <a:ext uri="{FF2B5EF4-FFF2-40B4-BE49-F238E27FC236}">
                <a16:creationId xmlns:a16="http://schemas.microsoft.com/office/drawing/2014/main" id="{E804EEFC-0D25-4C16-874E-0F1D869ADE0F}"/>
              </a:ext>
            </a:extLst>
          </p:cNvPr>
          <p:cNvSpPr>
            <a:spLocks xmlns:a="http://schemas.openxmlformats.org/drawingml/2006/main" noGrp="1"/>
          </p:cNvSpPr>
          <p:nvPr/>
        </p:nvSpPr>
        <p:spPr>
          <a:xfrm xmlns:a="http://schemas.openxmlformats.org/drawingml/2006/main">
            <a:off x="6686550" y="27432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DBE6D7"/>
                </a:solidFill>
              </a:defRPr>
            </a:pPr>
            <a:r>
              <a:rPr sz="1350" b="0">
                <a:solidFill>
                  <a:srgbClr val="DBE6D7"/>
                </a:solidFill>
              </a:rPr>
              <a:t>No PostgreSQL access</a:t>
            </a:r>
          </a:p>
        </p:txBody>
      </p:sp>
      <p:sp>
        <p:nvSpPr>
          <p:cNvPr id="28" name="">
            <a:extLst xmlns:a="http://schemas.openxmlformats.org/drawingml/2006/main">
              <a:ext uri="{FF2B5EF4-FFF2-40B4-BE49-F238E27FC236}">
                <a16:creationId xmlns:a16="http://schemas.microsoft.com/office/drawing/2014/main" id="{A8EAD4E5-A198-4BEA-9F1A-6A0C85EB0A3B}"/>
              </a:ext>
            </a:extLst>
          </p:cNvPr>
          <p:cNvSpPr>
            <a:spLocks xmlns:a="http://schemas.openxmlformats.org/drawingml/2006/main" noGrp="1"/>
          </p:cNvSpPr>
          <p:nvPr/>
        </p:nvSpPr>
        <p:spPr>
          <a:xfrm xmlns:a="http://schemas.openxmlformats.org/drawingml/2006/main">
            <a:off x="6362700" y="3209925"/>
            <a:ext cx="171450" cy="171450"/>
          </a:xfrm>
          <a:prstGeom xmlns:a="http://schemas.openxmlformats.org/drawingml/2006/main" prst="ellipse">
            <a:avLst/>
          </a:prstGeom>
          <a:solidFill xmlns:a="http://schemas.openxmlformats.org/drawingml/2006/main">
            <a:srgbClr val="C9D8C3"/>
          </a:solidFill>
          <a:ln xmlns:a="http://schemas.openxmlformats.org/drawingml/2006/main" w="0">
            <a:solidFill>
              <a:srgbClr val="C9D8C3"/>
            </a:solidFill>
            <a:prstDash val="solid"/>
          </a:ln>
        </p:spPr>
      </p:sp>
      <p:sp>
        <p:nvSpPr>
          <p:cNvPr id="29" name="">
            <a:extLst xmlns:a="http://schemas.openxmlformats.org/drawingml/2006/main">
              <a:ext uri="{FF2B5EF4-FFF2-40B4-BE49-F238E27FC236}">
                <a16:creationId xmlns:a16="http://schemas.microsoft.com/office/drawing/2014/main" id="{39A25665-8BB6-439A-87BD-4BF3F60805A6}"/>
              </a:ext>
            </a:extLst>
          </p:cNvPr>
          <p:cNvSpPr>
            <a:spLocks xmlns:a="http://schemas.openxmlformats.org/drawingml/2006/main" noGrp="1"/>
          </p:cNvSpPr>
          <p:nvPr/>
        </p:nvSpPr>
        <p:spPr>
          <a:xfrm xmlns:a="http://schemas.openxmlformats.org/drawingml/2006/main">
            <a:off x="6362700" y="31908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0A400C"/>
                </a:solidFill>
              </a:defRPr>
            </a:pPr>
            <a:r>
              <a:rPr sz="1050" b="1">
                <a:solidFill>
                  <a:srgbClr val="0A400C"/>
                </a:solidFill>
              </a:rPr>
              <a:t>×</a:t>
            </a:r>
          </a:p>
        </p:txBody>
      </p:sp>
      <p:sp>
        <p:nvSpPr>
          <p:cNvPr id="30" name="">
            <a:extLst xmlns:a="http://schemas.openxmlformats.org/drawingml/2006/main">
              <a:ext uri="{FF2B5EF4-FFF2-40B4-BE49-F238E27FC236}">
                <a16:creationId xmlns:a16="http://schemas.microsoft.com/office/drawing/2014/main" id="{5D412B19-ABE7-4A52-945D-1B56932DE7EE}"/>
              </a:ext>
            </a:extLst>
          </p:cNvPr>
          <p:cNvSpPr>
            <a:spLocks xmlns:a="http://schemas.openxmlformats.org/drawingml/2006/main" noGrp="1"/>
          </p:cNvSpPr>
          <p:nvPr/>
        </p:nvSpPr>
        <p:spPr>
          <a:xfrm xmlns:a="http://schemas.openxmlformats.org/drawingml/2006/main">
            <a:off x="6686550" y="31337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DBE6D7"/>
                </a:solidFill>
              </a:defRPr>
            </a:pPr>
            <a:r>
              <a:rPr sz="1350" b="0">
                <a:solidFill>
                  <a:srgbClr val="DBE6D7"/>
                </a:solidFill>
              </a:rPr>
              <a:t>No Redis exposure</a:t>
            </a:r>
          </a:p>
        </p:txBody>
      </p:sp>
      <p:sp>
        <p:nvSpPr>
          <p:cNvPr id="31" name="">
            <a:extLst xmlns:a="http://schemas.openxmlformats.org/drawingml/2006/main">
              <a:ext uri="{FF2B5EF4-FFF2-40B4-BE49-F238E27FC236}">
                <a16:creationId xmlns:a16="http://schemas.microsoft.com/office/drawing/2014/main" id="{417021FD-BB4F-483A-A71C-5A2685698802}"/>
              </a:ext>
            </a:extLst>
          </p:cNvPr>
          <p:cNvSpPr>
            <a:spLocks xmlns:a="http://schemas.openxmlformats.org/drawingml/2006/main" noGrp="1"/>
          </p:cNvSpPr>
          <p:nvPr/>
        </p:nvSpPr>
        <p:spPr>
          <a:xfrm xmlns:a="http://schemas.openxmlformats.org/drawingml/2006/main">
            <a:off x="6362700" y="3600450"/>
            <a:ext cx="171450" cy="171450"/>
          </a:xfrm>
          <a:prstGeom xmlns:a="http://schemas.openxmlformats.org/drawingml/2006/main" prst="ellipse">
            <a:avLst/>
          </a:prstGeom>
          <a:solidFill xmlns:a="http://schemas.openxmlformats.org/drawingml/2006/main">
            <a:srgbClr val="C9D8C3"/>
          </a:solidFill>
          <a:ln xmlns:a="http://schemas.openxmlformats.org/drawingml/2006/main" w="0">
            <a:solidFill>
              <a:srgbClr val="C9D8C3"/>
            </a:solidFill>
            <a:prstDash val="solid"/>
          </a:ln>
        </p:spPr>
      </p:sp>
      <p:sp>
        <p:nvSpPr>
          <p:cNvPr id="32" name="">
            <a:extLst xmlns:a="http://schemas.openxmlformats.org/drawingml/2006/main">
              <a:ext uri="{FF2B5EF4-FFF2-40B4-BE49-F238E27FC236}">
                <a16:creationId xmlns:a16="http://schemas.microsoft.com/office/drawing/2014/main" id="{D006D14E-DD5E-48EE-8183-5A2F0DB6EB56}"/>
              </a:ext>
            </a:extLst>
          </p:cNvPr>
          <p:cNvSpPr>
            <a:spLocks xmlns:a="http://schemas.openxmlformats.org/drawingml/2006/main" noGrp="1"/>
          </p:cNvSpPr>
          <p:nvPr/>
        </p:nvSpPr>
        <p:spPr>
          <a:xfrm xmlns:a="http://schemas.openxmlformats.org/drawingml/2006/main">
            <a:off x="6362700" y="35814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0A400C"/>
                </a:solidFill>
              </a:defRPr>
            </a:pPr>
            <a:r>
              <a:rPr sz="1050" b="1">
                <a:solidFill>
                  <a:srgbClr val="0A400C"/>
                </a:solidFill>
              </a:rPr>
              <a:t>×</a:t>
            </a:r>
          </a:p>
        </p:txBody>
      </p:sp>
      <p:sp>
        <p:nvSpPr>
          <p:cNvPr id="33" name="">
            <a:extLst xmlns:a="http://schemas.openxmlformats.org/drawingml/2006/main">
              <a:ext uri="{FF2B5EF4-FFF2-40B4-BE49-F238E27FC236}">
                <a16:creationId xmlns:a16="http://schemas.microsoft.com/office/drawing/2014/main" id="{9DA1AF70-F861-4564-9BF7-C7351BF4D0AA}"/>
              </a:ext>
            </a:extLst>
          </p:cNvPr>
          <p:cNvSpPr>
            <a:spLocks xmlns:a="http://schemas.openxmlformats.org/drawingml/2006/main" noGrp="1"/>
          </p:cNvSpPr>
          <p:nvPr/>
        </p:nvSpPr>
        <p:spPr>
          <a:xfrm xmlns:a="http://schemas.openxmlformats.org/drawingml/2006/main">
            <a:off x="6686550" y="35242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DBE6D7"/>
                </a:solidFill>
              </a:defRPr>
            </a:pPr>
            <a:r>
              <a:rPr sz="1350" b="0">
                <a:solidFill>
                  <a:srgbClr val="DBE6D7"/>
                </a:solidFill>
              </a:rPr>
              <a:t>No API key in workflow JSON</a:t>
            </a:r>
          </a:p>
        </p:txBody>
      </p:sp>
      <p:sp>
        <p:nvSpPr>
          <p:cNvPr id="34" name="">
            <a:extLst xmlns:a="http://schemas.openxmlformats.org/drawingml/2006/main">
              <a:ext uri="{FF2B5EF4-FFF2-40B4-BE49-F238E27FC236}">
                <a16:creationId xmlns:a16="http://schemas.microsoft.com/office/drawing/2014/main" id="{91707357-4E1F-4C2C-BFB8-2FC4D031210E}"/>
              </a:ext>
            </a:extLst>
          </p:cNvPr>
          <p:cNvSpPr>
            <a:spLocks xmlns:a="http://schemas.openxmlformats.org/drawingml/2006/main" noGrp="1"/>
          </p:cNvSpPr>
          <p:nvPr/>
        </p:nvSpPr>
        <p:spPr>
          <a:xfrm xmlns:a="http://schemas.openxmlformats.org/drawingml/2006/main">
            <a:off x="6362700" y="3990975"/>
            <a:ext cx="171450" cy="171450"/>
          </a:xfrm>
          <a:prstGeom xmlns:a="http://schemas.openxmlformats.org/drawingml/2006/main" prst="ellipse">
            <a:avLst/>
          </a:prstGeom>
          <a:solidFill xmlns:a="http://schemas.openxmlformats.org/drawingml/2006/main">
            <a:srgbClr val="C9D8C3"/>
          </a:solidFill>
          <a:ln xmlns:a="http://schemas.openxmlformats.org/drawingml/2006/main" w="0">
            <a:solidFill>
              <a:srgbClr val="C9D8C3"/>
            </a:solidFill>
            <a:prstDash val="solid"/>
          </a:ln>
        </p:spPr>
      </p:sp>
      <p:sp>
        <p:nvSpPr>
          <p:cNvPr id="35" name="">
            <a:extLst xmlns:a="http://schemas.openxmlformats.org/drawingml/2006/main">
              <a:ext uri="{FF2B5EF4-FFF2-40B4-BE49-F238E27FC236}">
                <a16:creationId xmlns:a16="http://schemas.microsoft.com/office/drawing/2014/main" id="{6A31A357-D369-402A-9C7B-21615DECF2EE}"/>
              </a:ext>
            </a:extLst>
          </p:cNvPr>
          <p:cNvSpPr>
            <a:spLocks xmlns:a="http://schemas.openxmlformats.org/drawingml/2006/main" noGrp="1"/>
          </p:cNvSpPr>
          <p:nvPr/>
        </p:nvSpPr>
        <p:spPr>
          <a:xfrm xmlns:a="http://schemas.openxmlformats.org/drawingml/2006/main">
            <a:off x="6362700" y="397192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0A400C"/>
                </a:solidFill>
              </a:defRPr>
            </a:pPr>
            <a:r>
              <a:rPr sz="1050" b="1">
                <a:solidFill>
                  <a:srgbClr val="0A400C"/>
                </a:solidFill>
              </a:rPr>
              <a:t>×</a:t>
            </a:r>
          </a:p>
        </p:txBody>
      </p:sp>
      <p:sp>
        <p:nvSpPr>
          <p:cNvPr id="36" name="">
            <a:extLst xmlns:a="http://schemas.openxmlformats.org/drawingml/2006/main">
              <a:ext uri="{FF2B5EF4-FFF2-40B4-BE49-F238E27FC236}">
                <a16:creationId xmlns:a16="http://schemas.microsoft.com/office/drawing/2014/main" id="{422B7563-AEB1-4792-A287-A3E994A99A90}"/>
              </a:ext>
            </a:extLst>
          </p:cNvPr>
          <p:cNvSpPr>
            <a:spLocks xmlns:a="http://schemas.openxmlformats.org/drawingml/2006/main" noGrp="1"/>
          </p:cNvSpPr>
          <p:nvPr/>
        </p:nvSpPr>
        <p:spPr>
          <a:xfrm xmlns:a="http://schemas.openxmlformats.org/drawingml/2006/main">
            <a:off x="6686550" y="39147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DBE6D7"/>
                </a:solidFill>
              </a:defRPr>
            </a:pPr>
            <a:r>
              <a:rPr sz="1350" b="0">
                <a:solidFill>
                  <a:srgbClr val="DBE6D7"/>
                </a:solidFill>
              </a:rPr>
              <a:t>No arbitrary URLs or web search</a:t>
            </a:r>
          </a:p>
        </p:txBody>
      </p:sp>
      <p:sp>
        <p:nvSpPr>
          <p:cNvPr id="37" name="">
            <a:extLst xmlns:a="http://schemas.openxmlformats.org/drawingml/2006/main">
              <a:ext uri="{FF2B5EF4-FFF2-40B4-BE49-F238E27FC236}">
                <a16:creationId xmlns:a16="http://schemas.microsoft.com/office/drawing/2014/main" id="{BB851A2A-4E0A-4EC7-A99D-9CA54941D885}"/>
              </a:ext>
            </a:extLst>
          </p:cNvPr>
          <p:cNvSpPr>
            <a:spLocks xmlns:a="http://schemas.openxmlformats.org/drawingml/2006/main" noGrp="1"/>
          </p:cNvSpPr>
          <p:nvPr/>
        </p:nvSpPr>
        <p:spPr>
          <a:xfrm xmlns:a="http://schemas.openxmlformats.org/drawingml/2006/main">
            <a:off x="6362700" y="4381500"/>
            <a:ext cx="171450" cy="171450"/>
          </a:xfrm>
          <a:prstGeom xmlns:a="http://schemas.openxmlformats.org/drawingml/2006/main" prst="ellipse">
            <a:avLst/>
          </a:prstGeom>
          <a:solidFill xmlns:a="http://schemas.openxmlformats.org/drawingml/2006/main">
            <a:srgbClr val="C9D8C3"/>
          </a:solidFill>
          <a:ln xmlns:a="http://schemas.openxmlformats.org/drawingml/2006/main" w="0">
            <a:solidFill>
              <a:srgbClr val="C9D8C3"/>
            </a:solidFill>
            <a:prstDash val="solid"/>
          </a:ln>
        </p:spPr>
      </p:sp>
      <p:sp>
        <p:nvSpPr>
          <p:cNvPr id="38" name="">
            <a:extLst xmlns:a="http://schemas.openxmlformats.org/drawingml/2006/main">
              <a:ext uri="{FF2B5EF4-FFF2-40B4-BE49-F238E27FC236}">
                <a16:creationId xmlns:a16="http://schemas.microsoft.com/office/drawing/2014/main" id="{C75E148A-B4D9-4A5E-B8DD-D0A2D3E4EE32}"/>
              </a:ext>
            </a:extLst>
          </p:cNvPr>
          <p:cNvSpPr>
            <a:spLocks xmlns:a="http://schemas.openxmlformats.org/drawingml/2006/main" noGrp="1"/>
          </p:cNvSpPr>
          <p:nvPr/>
        </p:nvSpPr>
        <p:spPr>
          <a:xfrm xmlns:a="http://schemas.openxmlformats.org/drawingml/2006/main">
            <a:off x="6362700" y="43624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0A400C"/>
                </a:solidFill>
              </a:defRPr>
            </a:pPr>
            <a:r>
              <a:rPr sz="1050" b="1">
                <a:solidFill>
                  <a:srgbClr val="0A400C"/>
                </a:solidFill>
              </a:rPr>
              <a:t>×</a:t>
            </a:r>
          </a:p>
        </p:txBody>
      </p:sp>
      <p:sp>
        <p:nvSpPr>
          <p:cNvPr id="39" name="">
            <a:extLst xmlns:a="http://schemas.openxmlformats.org/drawingml/2006/main">
              <a:ext uri="{FF2B5EF4-FFF2-40B4-BE49-F238E27FC236}">
                <a16:creationId xmlns:a16="http://schemas.microsoft.com/office/drawing/2014/main" id="{C6A05677-CFE3-4D62-A446-0FD70000A1B1}"/>
              </a:ext>
            </a:extLst>
          </p:cNvPr>
          <p:cNvSpPr>
            <a:spLocks xmlns:a="http://schemas.openxmlformats.org/drawingml/2006/main" noGrp="1"/>
          </p:cNvSpPr>
          <p:nvPr/>
        </p:nvSpPr>
        <p:spPr>
          <a:xfrm xmlns:a="http://schemas.openxmlformats.org/drawingml/2006/main">
            <a:off x="6686550" y="43053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DBE6D7"/>
                </a:solidFill>
              </a:defRPr>
            </a:pPr>
            <a:r>
              <a:rPr sz="1350" b="0">
                <a:solidFill>
                  <a:srgbClr val="DBE6D7"/>
                </a:solidFill>
              </a:rPr>
              <a:t>No write authority from model text</a:t>
            </a:r>
          </a:p>
        </p:txBody>
      </p:sp>
      <p:sp>
        <p:nvSpPr>
          <p:cNvPr id="40" name="">
            <a:extLst xmlns:a="http://schemas.openxmlformats.org/drawingml/2006/main">
              <a:ext uri="{FF2B5EF4-FFF2-40B4-BE49-F238E27FC236}">
                <a16:creationId xmlns:a16="http://schemas.microsoft.com/office/drawing/2014/main" id="{C8897915-4BE7-4BF4-B62B-53143DA491D8}"/>
              </a:ext>
            </a:extLst>
          </p:cNvPr>
          <p:cNvSpPr>
            <a:spLocks xmlns:a="http://schemas.openxmlformats.org/drawingml/2006/main" noGrp="1"/>
          </p:cNvSpPr>
          <p:nvPr/>
        </p:nvSpPr>
        <p:spPr>
          <a:xfrm xmlns:a="http://schemas.openxmlformats.org/drawingml/2006/main">
            <a:off x="6362700" y="4772025"/>
            <a:ext cx="171450" cy="171450"/>
          </a:xfrm>
          <a:prstGeom xmlns:a="http://schemas.openxmlformats.org/drawingml/2006/main" prst="ellipse">
            <a:avLst/>
          </a:prstGeom>
          <a:solidFill xmlns:a="http://schemas.openxmlformats.org/drawingml/2006/main">
            <a:srgbClr val="C9D8C3"/>
          </a:solidFill>
          <a:ln xmlns:a="http://schemas.openxmlformats.org/drawingml/2006/main" w="0">
            <a:solidFill>
              <a:srgbClr val="C9D8C3"/>
            </a:solidFill>
            <a:prstDash val="solid"/>
          </a:ln>
        </p:spPr>
      </p:sp>
      <p:sp>
        <p:nvSpPr>
          <p:cNvPr id="41" name="">
            <a:extLst xmlns:a="http://schemas.openxmlformats.org/drawingml/2006/main">
              <a:ext uri="{FF2B5EF4-FFF2-40B4-BE49-F238E27FC236}">
                <a16:creationId xmlns:a16="http://schemas.microsoft.com/office/drawing/2014/main" id="{843A3B23-6C17-42E5-9F16-5290A5C4D638}"/>
              </a:ext>
            </a:extLst>
          </p:cNvPr>
          <p:cNvSpPr>
            <a:spLocks xmlns:a="http://schemas.openxmlformats.org/drawingml/2006/main" noGrp="1"/>
          </p:cNvSpPr>
          <p:nvPr/>
        </p:nvSpPr>
        <p:spPr>
          <a:xfrm xmlns:a="http://schemas.openxmlformats.org/drawingml/2006/main">
            <a:off x="6362700" y="47529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0A400C"/>
                </a:solidFill>
              </a:defRPr>
            </a:pPr>
            <a:r>
              <a:rPr sz="1050" b="1">
                <a:solidFill>
                  <a:srgbClr val="0A400C"/>
                </a:solidFill>
              </a:rPr>
              <a:t>×</a:t>
            </a:r>
          </a:p>
        </p:txBody>
      </p:sp>
      <p:sp>
        <p:nvSpPr>
          <p:cNvPr id="42" name="">
            <a:extLst xmlns:a="http://schemas.openxmlformats.org/drawingml/2006/main">
              <a:ext uri="{FF2B5EF4-FFF2-40B4-BE49-F238E27FC236}">
                <a16:creationId xmlns:a16="http://schemas.microsoft.com/office/drawing/2014/main" id="{8624C505-15B0-4A97-A754-8A02116BA0E0}"/>
              </a:ext>
            </a:extLst>
          </p:cNvPr>
          <p:cNvSpPr>
            <a:spLocks xmlns:a="http://schemas.openxmlformats.org/drawingml/2006/main" noGrp="1"/>
          </p:cNvSpPr>
          <p:nvPr/>
        </p:nvSpPr>
        <p:spPr>
          <a:xfrm xmlns:a="http://schemas.openxmlformats.org/drawingml/2006/main">
            <a:off x="6686550" y="46958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DBE6D7"/>
                </a:solidFill>
              </a:defRPr>
            </a:pPr>
            <a:r>
              <a:rPr sz="1350" b="0">
                <a:solidFill>
                  <a:srgbClr val="DBE6D7"/>
                </a:solidFill>
              </a:rPr>
              <a:t>No raw execution-data retention</a:t>
            </a:r>
          </a:p>
        </p:txBody>
      </p:sp>
      <p:sp>
        <p:nvSpPr>
          <p:cNvPr id="43" name="">
            <a:extLst xmlns:a="http://schemas.openxmlformats.org/drawingml/2006/main">
              <a:ext uri="{FF2B5EF4-FFF2-40B4-BE49-F238E27FC236}">
                <a16:creationId xmlns:a16="http://schemas.microsoft.com/office/drawing/2014/main" id="{3DA2F538-3BE5-4C9C-879F-153CF709DD41}"/>
              </a:ext>
            </a:extLst>
          </p:cNvPr>
          <p:cNvSpPr>
            <a:spLocks xmlns:a="http://schemas.openxmlformats.org/drawingml/2006/main" noGrp="1"/>
          </p:cNvSpPr>
          <p:nvPr/>
        </p:nvSpPr>
        <p:spPr>
          <a:xfrm xmlns:a="http://schemas.openxmlformats.org/drawingml/2006/main">
            <a:off x="6000750" y="5753100"/>
            <a:ext cx="550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7531B"/>
                </a:solidFill>
              </a:defRPr>
            </a:pPr>
            <a:r>
              <a:rPr sz="1425" b="1">
                <a:solidFill>
                  <a:srgbClr val="17531B"/>
                </a:solidFill>
              </a:rPr>
              <a:t>Secrets stay in environment variables and native credentials.</a:t>
            </a:r>
          </a:p>
        </p:txBody>
      </p:sp>
      <p:sp>
        <p:nvSpPr>
          <p:cNvPr id="44" name="">
            <a:extLst xmlns:a="http://schemas.openxmlformats.org/drawingml/2006/main">
              <a:ext uri="{FF2B5EF4-FFF2-40B4-BE49-F238E27FC236}">
                <a16:creationId xmlns:a16="http://schemas.microsoft.com/office/drawing/2014/main" id="{BF0B4633-087D-49EA-889F-7E483CAB7A13}"/>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8CE"/>
          </a:solidFill>
          <a:ln xmlns:a="http://schemas.openxmlformats.org/drawingml/2006/main" w="0">
            <a:solidFill>
              <a:srgbClr val="D7D8CE"/>
            </a:solidFill>
            <a:prstDash val="solid"/>
          </a:ln>
        </p:spPr>
      </p:sp>
      <p:sp>
        <p:nvSpPr>
          <p:cNvPr id="45" name="">
            <a:extLst xmlns:a="http://schemas.openxmlformats.org/drawingml/2006/main">
              <a:ext uri="{FF2B5EF4-FFF2-40B4-BE49-F238E27FC236}">
                <a16:creationId xmlns:a16="http://schemas.microsoft.com/office/drawing/2014/main" id="{866CD6BD-D97B-4298-B358-EBF76C346EDF}"/>
              </a:ext>
            </a:extLst>
          </p:cNvPr>
          <p:cNvSpPr>
            <a:spLocks xmlns:a="http://schemas.openxmlformats.org/drawingml/2006/main" noGrp="1"/>
          </p:cNvSpPr>
          <p:nvPr/>
        </p:nvSpPr>
        <p:spPr>
          <a:xfrm xmlns:a="http://schemas.openxmlformats.org/drawingml/2006/main">
            <a:off x="685800" y="65246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17064"/>
                </a:solidFill>
              </a:defRPr>
            </a:pPr>
            <a:r>
              <a:rPr sz="825" b="1">
                <a:solidFill>
                  <a:srgbClr val="617064"/>
                </a:solidFill>
              </a:rPr>
              <a:t>INSIGHT TRACKER</a:t>
            </a:r>
          </a:p>
        </p:txBody>
      </p:sp>
      <p:sp>
        <p:nvSpPr>
          <p:cNvPr id="46" name="">
            <a:extLst xmlns:a="http://schemas.openxmlformats.org/drawingml/2006/main">
              <a:ext uri="{FF2B5EF4-FFF2-40B4-BE49-F238E27FC236}">
                <a16:creationId xmlns:a16="http://schemas.microsoft.com/office/drawing/2014/main" id="{2846A660-4441-4C0D-BEE2-6BBD542769F4}"/>
              </a:ext>
            </a:extLst>
          </p:cNvPr>
          <p:cNvSpPr>
            <a:spLocks xmlns:a="http://schemas.openxmlformats.org/drawingml/2006/main" noGrp="1"/>
          </p:cNvSpPr>
          <p:nvPr/>
        </p:nvSpPr>
        <p:spPr>
          <a:xfrm xmlns:a="http://schemas.openxmlformats.org/drawingml/2006/main">
            <a:off x="11049000" y="65055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17064"/>
                </a:solidFill>
              </a:defRPr>
            </a:pPr>
            <a:r>
              <a:rPr sz="900" b="1">
                <a:solidFill>
                  <a:srgbClr val="617064"/>
                </a:solidFill>
              </a:rPr>
              <a:t>10</a:t>
            </a:r>
          </a:p>
        </p:txBody>
      </p:sp>
    </p:spTree>
    <p:extLst>
      <p:ext uri="{BB962C8B-B14F-4D97-AF65-F5344CB8AC3E}">
        <p14:creationId xmlns:p14="http://schemas.microsoft.com/office/powerpoint/2010/main" val="469358788"/>
      </p:ext>
    </p:extLst>
  </p:cSld>
</p:sld>
</file>

<file path=ppt/slides/slide11.xml><?xml version="1.0" encoding="utf-8"?>
<p:sld xmlns:p="http://schemas.openxmlformats.org/presentationml/2006/main">
  <p:cSld>
    <p:bg>
      <p:bgPr>
        <a:solidFill xmlns:a="http://schemas.openxmlformats.org/drawingml/2006/main">
          <a:srgbClr val="F3F1E8"/>
        </a:solidFill>
      </p:bgPr>
    </p:bg>
    <p:spTree>
      <p:nvGrpSpPr>
        <p:cNvPr id="1" name=""/>
        <p:cNvGrpSpPr/>
        <p:nvPr/>
      </p:nvGrpSpPr>
      <p:grpSpPr>
        <a:xfrm xmlns:a="http://schemas.openxmlformats.org/drawingml/2006/main"/>
      </p:grpSpPr>
      <p:sp>
        <p:nvSpPr>
          <p:cNvPr id="32" name="kicker-11">
            <a:extLst xmlns:a="http://schemas.openxmlformats.org/drawingml/2006/main">
              <a:ext uri="{FF2B5EF4-FFF2-40B4-BE49-F238E27FC236}">
                <a16:creationId xmlns:a16="http://schemas.microsoft.com/office/drawing/2014/main" id="{967E307C-C46D-49DE-98F1-C83FC4170165}"/>
              </a:ext>
            </a:extLst>
          </p:cNvPr>
          <p:cNvSpPr>
            <a:spLocks xmlns:a="http://schemas.openxmlformats.org/drawingml/2006/main" noGrp="1"/>
          </p:cNvSpPr>
          <p:nvPr/>
        </p:nvSpPr>
        <p:spPr>
          <a:xfrm xmlns:a="http://schemas.openxmlformats.org/drawingml/2006/main">
            <a:off x="685800" y="400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7531B"/>
                </a:solidFill>
              </a:defRPr>
            </a:pPr>
            <a:r>
              <a:rPr sz="1050" b="1">
                <a:solidFill>
                  <a:srgbClr val="17531B"/>
                </a:solidFill>
              </a:rPr>
              <a:t>ENGINEERING ARCHITECTURE</a:t>
            </a:r>
          </a:p>
        </p:txBody>
      </p:sp>
      <p:sp>
        <p:nvSpPr>
          <p:cNvPr id="2" name="title-11">
            <a:extLst xmlns:a="http://schemas.openxmlformats.org/drawingml/2006/main">
              <a:ext uri="{FF2B5EF4-FFF2-40B4-BE49-F238E27FC236}">
                <a16:creationId xmlns:a16="http://schemas.microsoft.com/office/drawing/2014/main" id="{796FC049-8D59-4CEE-96E4-F414346EAEC2}"/>
              </a:ext>
            </a:extLst>
          </p:cNvPr>
          <p:cNvSpPr>
            <a:spLocks xmlns:a="http://schemas.openxmlformats.org/drawingml/2006/main" noGrp="1"/>
          </p:cNvSpPr>
          <p:nvPr/>
        </p:nvSpPr>
        <p:spPr>
          <a:xfrm xmlns:a="http://schemas.openxmlformats.org/drawingml/2006/main">
            <a:off x="685800" y="742950"/>
            <a:ext cx="10744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43127"/>
                </a:solidFill>
              </a:defRPr>
            </a:pPr>
            <a:r>
              <a:rPr sz="2850" b="1">
                <a:solidFill>
                  <a:srgbClr val="243127"/>
                </a:solidFill>
              </a:rPr>
              <a:t>The stack is simple, modular and replaceable</a:t>
            </a:r>
          </a:p>
        </p:txBody>
      </p:sp>
      <p:sp>
        <p:nvSpPr>
          <p:cNvPr id="3" name="">
            <a:extLst xmlns:a="http://schemas.openxmlformats.org/drawingml/2006/main">
              <a:ext uri="{FF2B5EF4-FFF2-40B4-BE49-F238E27FC236}">
                <a16:creationId xmlns:a16="http://schemas.microsoft.com/office/drawing/2014/main" id="{92E17D5A-1508-45E3-8C96-FC1708606232}"/>
              </a:ext>
            </a:extLst>
          </p:cNvPr>
          <p:cNvSpPr>
            <a:spLocks xmlns:a="http://schemas.openxmlformats.org/drawingml/2006/main" noGrp="1"/>
          </p:cNvSpPr>
          <p:nvPr/>
        </p:nvSpPr>
        <p:spPr>
          <a:xfrm xmlns:a="http://schemas.openxmlformats.org/drawingml/2006/main">
            <a:off x="723900" y="1581150"/>
            <a:ext cx="1074420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7D8CE"/>
            </a:solidFill>
            <a:prstDash val="solid"/>
          </a:ln>
        </p:spPr>
      </p:sp>
      <p:sp>
        <p:nvSpPr>
          <p:cNvPr id="4" name="">
            <a:extLst xmlns:a="http://schemas.openxmlformats.org/drawingml/2006/main">
              <a:ext uri="{FF2B5EF4-FFF2-40B4-BE49-F238E27FC236}">
                <a16:creationId xmlns:a16="http://schemas.microsoft.com/office/drawing/2014/main" id="{C89588D9-4E4E-4296-A391-C419975B4A06}"/>
              </a:ext>
            </a:extLst>
          </p:cNvPr>
          <p:cNvSpPr>
            <a:spLocks xmlns:a="http://schemas.openxmlformats.org/drawingml/2006/main" noGrp="1"/>
          </p:cNvSpPr>
          <p:nvPr/>
        </p:nvSpPr>
        <p:spPr>
          <a:xfrm xmlns:a="http://schemas.openxmlformats.org/drawingml/2006/main">
            <a:off x="723900" y="1581150"/>
            <a:ext cx="114300" cy="533400"/>
          </a:xfrm>
          <a:prstGeom xmlns:a="http://schemas.openxmlformats.org/drawingml/2006/main" prst="rect">
            <a:avLst/>
          </a:prstGeom>
          <a:solidFill xmlns:a="http://schemas.openxmlformats.org/drawingml/2006/main">
            <a:srgbClr val="17531B"/>
          </a:solidFill>
          <a:ln xmlns:a="http://schemas.openxmlformats.org/drawingml/2006/main" w="0">
            <a:solidFill>
              <a:srgbClr val="17531B"/>
            </a:solidFill>
            <a:prstDash val="solid"/>
          </a:ln>
        </p:spPr>
      </p:sp>
      <p:sp>
        <p:nvSpPr>
          <p:cNvPr id="5" name="">
            <a:extLst xmlns:a="http://schemas.openxmlformats.org/drawingml/2006/main">
              <a:ext uri="{FF2B5EF4-FFF2-40B4-BE49-F238E27FC236}">
                <a16:creationId xmlns:a16="http://schemas.microsoft.com/office/drawing/2014/main" id="{646FB9BF-D386-4402-8A39-71018BC566BA}"/>
              </a:ext>
            </a:extLst>
          </p:cNvPr>
          <p:cNvSpPr>
            <a:spLocks xmlns:a="http://schemas.openxmlformats.org/drawingml/2006/main" noGrp="1"/>
          </p:cNvSpPr>
          <p:nvPr/>
        </p:nvSpPr>
        <p:spPr>
          <a:xfrm xmlns:a="http://schemas.openxmlformats.org/drawingml/2006/main">
            <a:off x="1047750" y="1704975"/>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531B"/>
                </a:solidFill>
              </a:defRPr>
            </a:pPr>
            <a:r>
              <a:rPr sz="1500" b="1">
                <a:solidFill>
                  <a:srgbClr val="17531B"/>
                </a:solidFill>
              </a:rPr>
              <a:t>Web layer</a:t>
            </a:r>
          </a:p>
        </p:txBody>
      </p:sp>
      <p:sp>
        <p:nvSpPr>
          <p:cNvPr id="6" name="">
            <a:extLst xmlns:a="http://schemas.openxmlformats.org/drawingml/2006/main">
              <a:ext uri="{FF2B5EF4-FFF2-40B4-BE49-F238E27FC236}">
                <a16:creationId xmlns:a16="http://schemas.microsoft.com/office/drawing/2014/main" id="{373C91AA-4A43-400B-B67C-4EA6C5BA19A8}"/>
              </a:ext>
            </a:extLst>
          </p:cNvPr>
          <p:cNvSpPr>
            <a:spLocks xmlns:a="http://schemas.openxmlformats.org/drawingml/2006/main" noGrp="1"/>
          </p:cNvSpPr>
          <p:nvPr/>
        </p:nvSpPr>
        <p:spPr>
          <a:xfrm xmlns:a="http://schemas.openxmlformats.org/drawingml/2006/main">
            <a:off x="3143250" y="1704975"/>
            <a:ext cx="790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127"/>
                </a:solidFill>
              </a:defRPr>
            </a:pPr>
            <a:r>
              <a:rPr sz="1350" b="0">
                <a:solidFill>
                  <a:srgbClr val="243127"/>
                </a:solidFill>
              </a:rPr>
              <a:t>Django 5.2 · Templates · Bootstrap 5 · HTMX</a:t>
            </a:r>
          </a:p>
        </p:txBody>
      </p:sp>
      <p:sp>
        <p:nvSpPr>
          <p:cNvPr id="7" name="">
            <a:extLst xmlns:a="http://schemas.openxmlformats.org/drawingml/2006/main">
              <a:ext uri="{FF2B5EF4-FFF2-40B4-BE49-F238E27FC236}">
                <a16:creationId xmlns:a16="http://schemas.microsoft.com/office/drawing/2014/main" id="{BB6F4876-3137-4B62-9315-89CC12E97885}"/>
              </a:ext>
            </a:extLst>
          </p:cNvPr>
          <p:cNvSpPr>
            <a:spLocks xmlns:a="http://schemas.openxmlformats.org/drawingml/2006/main" noGrp="1"/>
          </p:cNvSpPr>
          <p:nvPr/>
        </p:nvSpPr>
        <p:spPr>
          <a:xfrm xmlns:a="http://schemas.openxmlformats.org/drawingml/2006/main">
            <a:off x="723900" y="2266950"/>
            <a:ext cx="10744200" cy="533400"/>
          </a:xfrm>
          <a:prstGeom xmlns:a="http://schemas.openxmlformats.org/drawingml/2006/main" prst="roundRect">
            <a:avLst>
              <a:gd name="adj" fmla="val 14286"/>
            </a:avLst>
          </a:prstGeom>
          <a:solidFill xmlns:a="http://schemas.openxmlformats.org/drawingml/2006/main">
            <a:srgbClr val="F5F3EB"/>
          </a:solidFill>
          <a:ln xmlns:a="http://schemas.openxmlformats.org/drawingml/2006/main" w="9525">
            <a:solidFill>
              <a:srgbClr val="D7D8CE"/>
            </a:solidFill>
            <a:prstDash val="solid"/>
          </a:ln>
        </p:spPr>
      </p:sp>
      <p:sp>
        <p:nvSpPr>
          <p:cNvPr id="8" name="">
            <a:extLst xmlns:a="http://schemas.openxmlformats.org/drawingml/2006/main">
              <a:ext uri="{FF2B5EF4-FFF2-40B4-BE49-F238E27FC236}">
                <a16:creationId xmlns:a16="http://schemas.microsoft.com/office/drawing/2014/main" id="{74E40EBD-5C70-435B-9756-76B85B24255A}"/>
              </a:ext>
            </a:extLst>
          </p:cNvPr>
          <p:cNvSpPr>
            <a:spLocks xmlns:a="http://schemas.openxmlformats.org/drawingml/2006/main" noGrp="1"/>
          </p:cNvSpPr>
          <p:nvPr/>
        </p:nvSpPr>
        <p:spPr>
          <a:xfrm xmlns:a="http://schemas.openxmlformats.org/drawingml/2006/main">
            <a:off x="723900" y="2266950"/>
            <a:ext cx="114300" cy="533400"/>
          </a:xfrm>
          <a:prstGeom xmlns:a="http://schemas.openxmlformats.org/drawingml/2006/main" prst="rect">
            <a:avLst/>
          </a:prstGeom>
          <a:solidFill xmlns:a="http://schemas.openxmlformats.org/drawingml/2006/main">
            <a:srgbClr val="819067"/>
          </a:solidFill>
          <a:ln xmlns:a="http://schemas.openxmlformats.org/drawingml/2006/main" w="0">
            <a:solidFill>
              <a:srgbClr val="819067"/>
            </a:solidFill>
            <a:prstDash val="solid"/>
          </a:ln>
        </p:spPr>
      </p:sp>
      <p:sp>
        <p:nvSpPr>
          <p:cNvPr id="9" name="">
            <a:extLst xmlns:a="http://schemas.openxmlformats.org/drawingml/2006/main">
              <a:ext uri="{FF2B5EF4-FFF2-40B4-BE49-F238E27FC236}">
                <a16:creationId xmlns:a16="http://schemas.microsoft.com/office/drawing/2014/main" id="{012D10FF-7155-4BD7-A13D-448D06C18ADB}"/>
              </a:ext>
            </a:extLst>
          </p:cNvPr>
          <p:cNvSpPr>
            <a:spLocks xmlns:a="http://schemas.openxmlformats.org/drawingml/2006/main" noGrp="1"/>
          </p:cNvSpPr>
          <p:nvPr/>
        </p:nvSpPr>
        <p:spPr>
          <a:xfrm xmlns:a="http://schemas.openxmlformats.org/drawingml/2006/main">
            <a:off x="1047750" y="2390775"/>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819067"/>
                </a:solidFill>
              </a:defRPr>
            </a:pPr>
            <a:r>
              <a:rPr sz="1500" b="1">
                <a:solidFill>
                  <a:srgbClr val="819067"/>
                </a:solidFill>
              </a:rPr>
              <a:t>Data layer</a:t>
            </a:r>
          </a:p>
        </p:txBody>
      </p:sp>
      <p:sp>
        <p:nvSpPr>
          <p:cNvPr id="10" name="">
            <a:extLst xmlns:a="http://schemas.openxmlformats.org/drawingml/2006/main">
              <a:ext uri="{FF2B5EF4-FFF2-40B4-BE49-F238E27FC236}">
                <a16:creationId xmlns:a16="http://schemas.microsoft.com/office/drawing/2014/main" id="{F2AD6DC5-096E-46D5-B1C3-8F1F1142615E}"/>
              </a:ext>
            </a:extLst>
          </p:cNvPr>
          <p:cNvSpPr>
            <a:spLocks xmlns:a="http://schemas.openxmlformats.org/drawingml/2006/main" noGrp="1"/>
          </p:cNvSpPr>
          <p:nvPr/>
        </p:nvSpPr>
        <p:spPr>
          <a:xfrm xmlns:a="http://schemas.openxmlformats.org/drawingml/2006/main">
            <a:off x="3143250" y="2390775"/>
            <a:ext cx="790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127"/>
                </a:solidFill>
              </a:defRPr>
            </a:pPr>
            <a:r>
              <a:rPr sz="1350" b="0">
                <a:solidFill>
                  <a:srgbClr val="243127"/>
                </a:solidFill>
              </a:rPr>
              <a:t>PostgreSQL · constraints · indexes · transactions</a:t>
            </a:r>
          </a:p>
        </p:txBody>
      </p:sp>
      <p:sp>
        <p:nvSpPr>
          <p:cNvPr id="11" name="">
            <a:extLst xmlns:a="http://schemas.openxmlformats.org/drawingml/2006/main">
              <a:ext uri="{FF2B5EF4-FFF2-40B4-BE49-F238E27FC236}">
                <a16:creationId xmlns:a16="http://schemas.microsoft.com/office/drawing/2014/main" id="{3287DF57-AD87-48D7-B679-9B550F93A7C0}"/>
              </a:ext>
            </a:extLst>
          </p:cNvPr>
          <p:cNvSpPr>
            <a:spLocks xmlns:a="http://schemas.openxmlformats.org/drawingml/2006/main" noGrp="1"/>
          </p:cNvSpPr>
          <p:nvPr/>
        </p:nvSpPr>
        <p:spPr>
          <a:xfrm xmlns:a="http://schemas.openxmlformats.org/drawingml/2006/main">
            <a:off x="723900" y="2952750"/>
            <a:ext cx="1074420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7D8CE"/>
            </a:solidFill>
            <a:prstDash val="solid"/>
          </a:ln>
        </p:spPr>
      </p:sp>
      <p:sp>
        <p:nvSpPr>
          <p:cNvPr id="12" name="">
            <a:extLst xmlns:a="http://schemas.openxmlformats.org/drawingml/2006/main">
              <a:ext uri="{FF2B5EF4-FFF2-40B4-BE49-F238E27FC236}">
                <a16:creationId xmlns:a16="http://schemas.microsoft.com/office/drawing/2014/main" id="{4BCF70AE-50EE-43F9-B378-9D98C8DEED14}"/>
              </a:ext>
            </a:extLst>
          </p:cNvPr>
          <p:cNvSpPr>
            <a:spLocks xmlns:a="http://schemas.openxmlformats.org/drawingml/2006/main" noGrp="1"/>
          </p:cNvSpPr>
          <p:nvPr/>
        </p:nvSpPr>
        <p:spPr>
          <a:xfrm xmlns:a="http://schemas.openxmlformats.org/drawingml/2006/main">
            <a:off x="723900" y="2952750"/>
            <a:ext cx="114300" cy="533400"/>
          </a:xfrm>
          <a:prstGeom xmlns:a="http://schemas.openxmlformats.org/drawingml/2006/main" prst="rect">
            <a:avLst/>
          </a:prstGeom>
          <a:solidFill xmlns:a="http://schemas.openxmlformats.org/drawingml/2006/main">
            <a:srgbClr val="B1AB86"/>
          </a:solidFill>
          <a:ln xmlns:a="http://schemas.openxmlformats.org/drawingml/2006/main" w="0">
            <a:solidFill>
              <a:srgbClr val="B1AB86"/>
            </a:solidFill>
            <a:prstDash val="solid"/>
          </a:ln>
        </p:spPr>
      </p:sp>
      <p:sp>
        <p:nvSpPr>
          <p:cNvPr id="13" name="">
            <a:extLst xmlns:a="http://schemas.openxmlformats.org/drawingml/2006/main">
              <a:ext uri="{FF2B5EF4-FFF2-40B4-BE49-F238E27FC236}">
                <a16:creationId xmlns:a16="http://schemas.microsoft.com/office/drawing/2014/main" id="{A3890423-8CF9-49BE-98EB-C4ED1BBFD3CC}"/>
              </a:ext>
            </a:extLst>
          </p:cNvPr>
          <p:cNvSpPr>
            <a:spLocks xmlns:a="http://schemas.openxmlformats.org/drawingml/2006/main" noGrp="1"/>
          </p:cNvSpPr>
          <p:nvPr/>
        </p:nvSpPr>
        <p:spPr>
          <a:xfrm xmlns:a="http://schemas.openxmlformats.org/drawingml/2006/main">
            <a:off x="1047750" y="3076575"/>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B1AB86"/>
                </a:solidFill>
              </a:defRPr>
            </a:pPr>
            <a:r>
              <a:rPr sz="1500" b="1">
                <a:solidFill>
                  <a:srgbClr val="B1AB86"/>
                </a:solidFill>
              </a:rPr>
              <a:t>Async layer</a:t>
            </a:r>
          </a:p>
        </p:txBody>
      </p:sp>
      <p:sp>
        <p:nvSpPr>
          <p:cNvPr id="14" name="">
            <a:extLst xmlns:a="http://schemas.openxmlformats.org/drawingml/2006/main">
              <a:ext uri="{FF2B5EF4-FFF2-40B4-BE49-F238E27FC236}">
                <a16:creationId xmlns:a16="http://schemas.microsoft.com/office/drawing/2014/main" id="{01F773E8-1DFD-46F2-B733-7640D5C9EF11}"/>
              </a:ext>
            </a:extLst>
          </p:cNvPr>
          <p:cNvSpPr>
            <a:spLocks xmlns:a="http://schemas.openxmlformats.org/drawingml/2006/main" noGrp="1"/>
          </p:cNvSpPr>
          <p:nvPr/>
        </p:nvSpPr>
        <p:spPr>
          <a:xfrm xmlns:a="http://schemas.openxmlformats.org/drawingml/2006/main">
            <a:off x="3143250" y="3076575"/>
            <a:ext cx="790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127"/>
                </a:solidFill>
              </a:defRPr>
            </a:pPr>
            <a:r>
              <a:rPr sz="1350" b="0">
                <a:solidFill>
                  <a:srgbClr val="243127"/>
                </a:solidFill>
              </a:rPr>
              <a:t>Celery · Redis · retries · scheduled maintenance</a:t>
            </a:r>
          </a:p>
        </p:txBody>
      </p:sp>
      <p:sp>
        <p:nvSpPr>
          <p:cNvPr id="15" name="">
            <a:extLst xmlns:a="http://schemas.openxmlformats.org/drawingml/2006/main">
              <a:ext uri="{FF2B5EF4-FFF2-40B4-BE49-F238E27FC236}">
                <a16:creationId xmlns:a16="http://schemas.microsoft.com/office/drawing/2014/main" id="{882DDEF8-7F0F-48A6-8F90-1A002E22D255}"/>
              </a:ext>
            </a:extLst>
          </p:cNvPr>
          <p:cNvSpPr>
            <a:spLocks xmlns:a="http://schemas.openxmlformats.org/drawingml/2006/main" noGrp="1"/>
          </p:cNvSpPr>
          <p:nvPr/>
        </p:nvSpPr>
        <p:spPr>
          <a:xfrm xmlns:a="http://schemas.openxmlformats.org/drawingml/2006/main">
            <a:off x="723900" y="3638550"/>
            <a:ext cx="10744200" cy="533400"/>
          </a:xfrm>
          <a:prstGeom xmlns:a="http://schemas.openxmlformats.org/drawingml/2006/main" prst="roundRect">
            <a:avLst>
              <a:gd name="adj" fmla="val 14286"/>
            </a:avLst>
          </a:prstGeom>
          <a:solidFill xmlns:a="http://schemas.openxmlformats.org/drawingml/2006/main">
            <a:srgbClr val="F5F3EB"/>
          </a:solidFill>
          <a:ln xmlns:a="http://schemas.openxmlformats.org/drawingml/2006/main" w="9525">
            <a:solidFill>
              <a:srgbClr val="D7D8CE"/>
            </a:solidFill>
            <a:prstDash val="solid"/>
          </a:ln>
        </p:spPr>
      </p:sp>
      <p:sp>
        <p:nvSpPr>
          <p:cNvPr id="16" name="">
            <a:extLst xmlns:a="http://schemas.openxmlformats.org/drawingml/2006/main">
              <a:ext uri="{FF2B5EF4-FFF2-40B4-BE49-F238E27FC236}">
                <a16:creationId xmlns:a16="http://schemas.microsoft.com/office/drawing/2014/main" id="{9988441E-2E88-4E43-B1F1-0F9D9F564B59}"/>
              </a:ext>
            </a:extLst>
          </p:cNvPr>
          <p:cNvSpPr>
            <a:spLocks xmlns:a="http://schemas.openxmlformats.org/drawingml/2006/main" noGrp="1"/>
          </p:cNvSpPr>
          <p:nvPr/>
        </p:nvSpPr>
        <p:spPr>
          <a:xfrm xmlns:a="http://schemas.openxmlformats.org/drawingml/2006/main">
            <a:off x="723900" y="3638550"/>
            <a:ext cx="114300" cy="533400"/>
          </a:xfrm>
          <a:prstGeom xmlns:a="http://schemas.openxmlformats.org/drawingml/2006/main" prst="rect">
            <a:avLst/>
          </a:prstGeom>
          <a:solidFill xmlns:a="http://schemas.openxmlformats.org/drawingml/2006/main">
            <a:srgbClr val="0A400C"/>
          </a:solidFill>
          <a:ln xmlns:a="http://schemas.openxmlformats.org/drawingml/2006/main" w="0">
            <a:solidFill>
              <a:srgbClr val="0A400C"/>
            </a:solidFill>
            <a:prstDash val="solid"/>
          </a:ln>
        </p:spPr>
      </p:sp>
      <p:sp>
        <p:nvSpPr>
          <p:cNvPr id="17" name="">
            <a:extLst xmlns:a="http://schemas.openxmlformats.org/drawingml/2006/main">
              <a:ext uri="{FF2B5EF4-FFF2-40B4-BE49-F238E27FC236}">
                <a16:creationId xmlns:a16="http://schemas.microsoft.com/office/drawing/2014/main" id="{67878E1B-CB6A-4C1A-B016-3B2B0616AE9D}"/>
              </a:ext>
            </a:extLst>
          </p:cNvPr>
          <p:cNvSpPr>
            <a:spLocks xmlns:a="http://schemas.openxmlformats.org/drawingml/2006/main" noGrp="1"/>
          </p:cNvSpPr>
          <p:nvPr/>
        </p:nvSpPr>
        <p:spPr>
          <a:xfrm xmlns:a="http://schemas.openxmlformats.org/drawingml/2006/main">
            <a:off x="1047750" y="3762375"/>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A400C"/>
                </a:solidFill>
              </a:defRPr>
            </a:pPr>
            <a:r>
              <a:rPr sz="1500" b="1">
                <a:solidFill>
                  <a:srgbClr val="0A400C"/>
                </a:solidFill>
              </a:rPr>
              <a:t>AI layer</a:t>
            </a:r>
          </a:p>
        </p:txBody>
      </p:sp>
      <p:sp>
        <p:nvSpPr>
          <p:cNvPr id="18" name="">
            <a:extLst xmlns:a="http://schemas.openxmlformats.org/drawingml/2006/main">
              <a:ext uri="{FF2B5EF4-FFF2-40B4-BE49-F238E27FC236}">
                <a16:creationId xmlns:a16="http://schemas.microsoft.com/office/drawing/2014/main" id="{E1FC9C3E-7743-4D29-BD2D-650137EF9C2C}"/>
              </a:ext>
            </a:extLst>
          </p:cNvPr>
          <p:cNvSpPr>
            <a:spLocks xmlns:a="http://schemas.openxmlformats.org/drawingml/2006/main" noGrp="1"/>
          </p:cNvSpPr>
          <p:nvPr/>
        </p:nvSpPr>
        <p:spPr>
          <a:xfrm xmlns:a="http://schemas.openxmlformats.org/drawingml/2006/main">
            <a:off x="3143250" y="3762375"/>
            <a:ext cx="790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127"/>
                </a:solidFill>
              </a:defRPr>
            </a:pPr>
            <a:r>
              <a:rPr sz="1350" b="0">
                <a:solidFill>
                  <a:srgbClr val="243127"/>
                </a:solidFill>
              </a:rPr>
              <a:t>Groq Chat Completions · openai/gpt-oss-120b · strict schemas</a:t>
            </a:r>
          </a:p>
        </p:txBody>
      </p:sp>
      <p:sp>
        <p:nvSpPr>
          <p:cNvPr id="19" name="">
            <a:extLst xmlns:a="http://schemas.openxmlformats.org/drawingml/2006/main">
              <a:ext uri="{FF2B5EF4-FFF2-40B4-BE49-F238E27FC236}">
                <a16:creationId xmlns:a16="http://schemas.microsoft.com/office/drawing/2014/main" id="{CD3FCDC9-2102-409D-9AC6-F6544167A151}"/>
              </a:ext>
            </a:extLst>
          </p:cNvPr>
          <p:cNvSpPr>
            <a:spLocks xmlns:a="http://schemas.openxmlformats.org/drawingml/2006/main" noGrp="1"/>
          </p:cNvSpPr>
          <p:nvPr/>
        </p:nvSpPr>
        <p:spPr>
          <a:xfrm xmlns:a="http://schemas.openxmlformats.org/drawingml/2006/main">
            <a:off x="723900" y="4324350"/>
            <a:ext cx="1074420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7D8CE"/>
            </a:solidFill>
            <a:prstDash val="solid"/>
          </a:ln>
        </p:spPr>
      </p:sp>
      <p:sp>
        <p:nvSpPr>
          <p:cNvPr id="20" name="">
            <a:extLst xmlns:a="http://schemas.openxmlformats.org/drawingml/2006/main">
              <a:ext uri="{FF2B5EF4-FFF2-40B4-BE49-F238E27FC236}">
                <a16:creationId xmlns:a16="http://schemas.microsoft.com/office/drawing/2014/main" id="{65372715-B185-42EE-A01A-F08764DF6E75}"/>
              </a:ext>
            </a:extLst>
          </p:cNvPr>
          <p:cNvSpPr>
            <a:spLocks xmlns:a="http://schemas.openxmlformats.org/drawingml/2006/main" noGrp="1"/>
          </p:cNvSpPr>
          <p:nvPr/>
        </p:nvSpPr>
        <p:spPr>
          <a:xfrm xmlns:a="http://schemas.openxmlformats.org/drawingml/2006/main">
            <a:off x="723900" y="4324350"/>
            <a:ext cx="114300" cy="533400"/>
          </a:xfrm>
          <a:prstGeom xmlns:a="http://schemas.openxmlformats.org/drawingml/2006/main" prst="rect">
            <a:avLst/>
          </a:prstGeom>
          <a:solidFill xmlns:a="http://schemas.openxmlformats.org/drawingml/2006/main">
            <a:srgbClr val="2F6F8F"/>
          </a:solidFill>
          <a:ln xmlns:a="http://schemas.openxmlformats.org/drawingml/2006/main" w="0">
            <a:solidFill>
              <a:srgbClr val="2F6F8F"/>
            </a:solidFill>
            <a:prstDash val="solid"/>
          </a:ln>
        </p:spPr>
      </p:sp>
      <p:sp>
        <p:nvSpPr>
          <p:cNvPr id="21" name="">
            <a:extLst xmlns:a="http://schemas.openxmlformats.org/drawingml/2006/main">
              <a:ext uri="{FF2B5EF4-FFF2-40B4-BE49-F238E27FC236}">
                <a16:creationId xmlns:a16="http://schemas.microsoft.com/office/drawing/2014/main" id="{30B38BED-2E0C-448A-A95F-B38ACF96FB50}"/>
              </a:ext>
            </a:extLst>
          </p:cNvPr>
          <p:cNvSpPr>
            <a:spLocks xmlns:a="http://schemas.openxmlformats.org/drawingml/2006/main" noGrp="1"/>
          </p:cNvSpPr>
          <p:nvPr/>
        </p:nvSpPr>
        <p:spPr>
          <a:xfrm xmlns:a="http://schemas.openxmlformats.org/drawingml/2006/main">
            <a:off x="1047750" y="4448175"/>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F6F8F"/>
                </a:solidFill>
              </a:defRPr>
            </a:pPr>
            <a:r>
              <a:rPr sz="1500" b="1">
                <a:solidFill>
                  <a:srgbClr val="2F6F8F"/>
                </a:solidFill>
              </a:rPr>
              <a:t>Automation</a:t>
            </a:r>
          </a:p>
        </p:txBody>
      </p:sp>
      <p:sp>
        <p:nvSpPr>
          <p:cNvPr id="22" name="">
            <a:extLst xmlns:a="http://schemas.openxmlformats.org/drawingml/2006/main">
              <a:ext uri="{FF2B5EF4-FFF2-40B4-BE49-F238E27FC236}">
                <a16:creationId xmlns:a16="http://schemas.microsoft.com/office/drawing/2014/main" id="{C5098AA1-D6AA-4A74-B271-FC4FC41F50F1}"/>
              </a:ext>
            </a:extLst>
          </p:cNvPr>
          <p:cNvSpPr>
            <a:spLocks xmlns:a="http://schemas.openxmlformats.org/drawingml/2006/main" noGrp="1"/>
          </p:cNvSpPr>
          <p:nvPr/>
        </p:nvSpPr>
        <p:spPr>
          <a:xfrm xmlns:a="http://schemas.openxmlformats.org/drawingml/2006/main">
            <a:off x="3143250" y="4448175"/>
            <a:ext cx="790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127"/>
                </a:solidFill>
              </a:defRPr>
            </a:pPr>
            <a:r>
              <a:rPr sz="1350" b="0">
                <a:solidFill>
                  <a:srgbClr val="243127"/>
                </a:solidFill>
              </a:rPr>
              <a:t>n8n · Telegram Trigger · signed HTTP · PDF delivery</a:t>
            </a:r>
          </a:p>
        </p:txBody>
      </p:sp>
      <p:sp>
        <p:nvSpPr>
          <p:cNvPr id="23" name="">
            <a:extLst xmlns:a="http://schemas.openxmlformats.org/drawingml/2006/main">
              <a:ext uri="{FF2B5EF4-FFF2-40B4-BE49-F238E27FC236}">
                <a16:creationId xmlns:a16="http://schemas.microsoft.com/office/drawing/2014/main" id="{0E0B33DE-A2CC-42DE-AE46-734C3513F67B}"/>
              </a:ext>
            </a:extLst>
          </p:cNvPr>
          <p:cNvSpPr>
            <a:spLocks xmlns:a="http://schemas.openxmlformats.org/drawingml/2006/main" noGrp="1"/>
          </p:cNvSpPr>
          <p:nvPr/>
        </p:nvSpPr>
        <p:spPr>
          <a:xfrm xmlns:a="http://schemas.openxmlformats.org/drawingml/2006/main">
            <a:off x="723900" y="5010150"/>
            <a:ext cx="10744200" cy="533400"/>
          </a:xfrm>
          <a:prstGeom xmlns:a="http://schemas.openxmlformats.org/drawingml/2006/main" prst="roundRect">
            <a:avLst>
              <a:gd name="adj" fmla="val 14286"/>
            </a:avLst>
          </a:prstGeom>
          <a:solidFill xmlns:a="http://schemas.openxmlformats.org/drawingml/2006/main">
            <a:srgbClr val="F5F3EB"/>
          </a:solidFill>
          <a:ln xmlns:a="http://schemas.openxmlformats.org/drawingml/2006/main" w="9525">
            <a:solidFill>
              <a:srgbClr val="D7D8CE"/>
            </a:solidFill>
            <a:prstDash val="solid"/>
          </a:ln>
        </p:spPr>
      </p:sp>
      <p:sp>
        <p:nvSpPr>
          <p:cNvPr id="24" name="">
            <a:extLst xmlns:a="http://schemas.openxmlformats.org/drawingml/2006/main">
              <a:ext uri="{FF2B5EF4-FFF2-40B4-BE49-F238E27FC236}">
                <a16:creationId xmlns:a16="http://schemas.microsoft.com/office/drawing/2014/main" id="{91E026B0-5380-4F8C-9E53-B8702D0766DC}"/>
              </a:ext>
            </a:extLst>
          </p:cNvPr>
          <p:cNvSpPr>
            <a:spLocks xmlns:a="http://schemas.openxmlformats.org/drawingml/2006/main" noGrp="1"/>
          </p:cNvSpPr>
          <p:nvPr/>
        </p:nvSpPr>
        <p:spPr>
          <a:xfrm xmlns:a="http://schemas.openxmlformats.org/drawingml/2006/main">
            <a:off x="723900" y="5010150"/>
            <a:ext cx="114300" cy="533400"/>
          </a:xfrm>
          <a:prstGeom xmlns:a="http://schemas.openxmlformats.org/drawingml/2006/main" prst="rect">
            <a:avLst/>
          </a:prstGeom>
          <a:solidFill xmlns:a="http://schemas.openxmlformats.org/drawingml/2006/main">
            <a:srgbClr val="C27A16"/>
          </a:solidFill>
          <a:ln xmlns:a="http://schemas.openxmlformats.org/drawingml/2006/main" w="0">
            <a:solidFill>
              <a:srgbClr val="C27A16"/>
            </a:solidFill>
            <a:prstDash val="solid"/>
          </a:ln>
        </p:spPr>
      </p:sp>
      <p:sp>
        <p:nvSpPr>
          <p:cNvPr id="25" name="">
            <a:extLst xmlns:a="http://schemas.openxmlformats.org/drawingml/2006/main">
              <a:ext uri="{FF2B5EF4-FFF2-40B4-BE49-F238E27FC236}">
                <a16:creationId xmlns:a16="http://schemas.microsoft.com/office/drawing/2014/main" id="{D93E33BF-83D2-42D7-9570-33FCAA3F48A0}"/>
              </a:ext>
            </a:extLst>
          </p:cNvPr>
          <p:cNvSpPr>
            <a:spLocks xmlns:a="http://schemas.openxmlformats.org/drawingml/2006/main" noGrp="1"/>
          </p:cNvSpPr>
          <p:nvPr/>
        </p:nvSpPr>
        <p:spPr>
          <a:xfrm xmlns:a="http://schemas.openxmlformats.org/drawingml/2006/main">
            <a:off x="1047750" y="5133975"/>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C27A16"/>
                </a:solidFill>
              </a:defRPr>
            </a:pPr>
            <a:r>
              <a:rPr sz="1500" b="1">
                <a:solidFill>
                  <a:srgbClr val="C27A16"/>
                </a:solidFill>
              </a:rPr>
              <a:t>Runtime</a:t>
            </a:r>
          </a:p>
        </p:txBody>
      </p:sp>
      <p:sp>
        <p:nvSpPr>
          <p:cNvPr id="26" name="">
            <a:extLst xmlns:a="http://schemas.openxmlformats.org/drawingml/2006/main">
              <a:ext uri="{FF2B5EF4-FFF2-40B4-BE49-F238E27FC236}">
                <a16:creationId xmlns:a16="http://schemas.microsoft.com/office/drawing/2014/main" id="{09D35751-F80C-4D31-8950-F4E514DBB4E2}"/>
              </a:ext>
            </a:extLst>
          </p:cNvPr>
          <p:cNvSpPr>
            <a:spLocks xmlns:a="http://schemas.openxmlformats.org/drawingml/2006/main" noGrp="1"/>
          </p:cNvSpPr>
          <p:nvPr/>
        </p:nvSpPr>
        <p:spPr>
          <a:xfrm xmlns:a="http://schemas.openxmlformats.org/drawingml/2006/main">
            <a:off x="3143250" y="5133975"/>
            <a:ext cx="790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127"/>
                </a:solidFill>
              </a:defRPr>
            </a:pPr>
            <a:r>
              <a:rPr sz="1350" b="0">
                <a:solidFill>
                  <a:srgbClr val="243127"/>
                </a:solidFill>
              </a:rPr>
              <a:t>Docker Compose · Gunicorn-ready settings · S3-compatible storage</a:t>
            </a:r>
          </a:p>
        </p:txBody>
      </p:sp>
      <p:sp>
        <p:nvSpPr>
          <p:cNvPr id="27" name="">
            <a:extLst xmlns:a="http://schemas.openxmlformats.org/drawingml/2006/main">
              <a:ext uri="{FF2B5EF4-FFF2-40B4-BE49-F238E27FC236}">
                <a16:creationId xmlns:a16="http://schemas.microsoft.com/office/drawing/2014/main" id="{34E92407-8FAE-4082-BF17-6BEC74D210DE}"/>
              </a:ext>
            </a:extLst>
          </p:cNvPr>
          <p:cNvSpPr>
            <a:spLocks xmlns:a="http://schemas.openxmlformats.org/drawingml/2006/main" noGrp="1"/>
          </p:cNvSpPr>
          <p:nvPr/>
        </p:nvSpPr>
        <p:spPr>
          <a:xfrm xmlns:a="http://schemas.openxmlformats.org/drawingml/2006/main">
            <a:off x="723900" y="57912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531B"/>
                </a:solidFill>
              </a:defRPr>
            </a:pPr>
            <a:r>
              <a:rPr sz="1500" b="1">
                <a:solidFill>
                  <a:srgbClr val="17531B"/>
                </a:solidFill>
              </a:rPr>
              <a:t>Why these choices</a:t>
            </a:r>
          </a:p>
        </p:txBody>
      </p:sp>
      <p:sp>
        <p:nvSpPr>
          <p:cNvPr id="28" name="">
            <a:extLst xmlns:a="http://schemas.openxmlformats.org/drawingml/2006/main">
              <a:ext uri="{FF2B5EF4-FFF2-40B4-BE49-F238E27FC236}">
                <a16:creationId xmlns:a16="http://schemas.microsoft.com/office/drawing/2014/main" id="{4E3C87F3-EF83-483B-91B8-B4059D692ED4}"/>
              </a:ext>
            </a:extLst>
          </p:cNvPr>
          <p:cNvSpPr>
            <a:spLocks xmlns:a="http://schemas.openxmlformats.org/drawingml/2006/main" noGrp="1"/>
          </p:cNvSpPr>
          <p:nvPr/>
        </p:nvSpPr>
        <p:spPr>
          <a:xfrm xmlns:a="http://schemas.openxmlformats.org/drawingml/2006/main">
            <a:off x="2647950" y="5781675"/>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17064"/>
                </a:solidFill>
              </a:defRPr>
            </a:pPr>
            <a:r>
              <a:rPr sz="1275" b="0">
                <a:solidFill>
                  <a:srgbClr val="617064"/>
                </a:solidFill>
              </a:rPr>
              <a:t>One maintainable monolith for business rules; separate workers for slow AI and report jobs; replaceable provider and automation boundaries.</a:t>
            </a:r>
          </a:p>
        </p:txBody>
      </p:sp>
      <p:sp>
        <p:nvSpPr>
          <p:cNvPr id="29" name="">
            <a:extLst xmlns:a="http://schemas.openxmlformats.org/drawingml/2006/main">
              <a:ext uri="{FF2B5EF4-FFF2-40B4-BE49-F238E27FC236}">
                <a16:creationId xmlns:a16="http://schemas.microsoft.com/office/drawing/2014/main" id="{1C662A4F-7488-43C1-B01B-C712D5AA93C5}"/>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8CE"/>
          </a:solidFill>
          <a:ln xmlns:a="http://schemas.openxmlformats.org/drawingml/2006/main" w="0">
            <a:solidFill>
              <a:srgbClr val="D7D8CE"/>
            </a:solidFill>
            <a:prstDash val="solid"/>
          </a:ln>
        </p:spPr>
      </p:sp>
      <p:sp>
        <p:nvSpPr>
          <p:cNvPr id="30" name="">
            <a:extLst xmlns:a="http://schemas.openxmlformats.org/drawingml/2006/main">
              <a:ext uri="{FF2B5EF4-FFF2-40B4-BE49-F238E27FC236}">
                <a16:creationId xmlns:a16="http://schemas.microsoft.com/office/drawing/2014/main" id="{19B859D4-303E-4CDD-A895-3B76FE7AE6F3}"/>
              </a:ext>
            </a:extLst>
          </p:cNvPr>
          <p:cNvSpPr>
            <a:spLocks xmlns:a="http://schemas.openxmlformats.org/drawingml/2006/main" noGrp="1"/>
          </p:cNvSpPr>
          <p:nvPr/>
        </p:nvSpPr>
        <p:spPr>
          <a:xfrm xmlns:a="http://schemas.openxmlformats.org/drawingml/2006/main">
            <a:off x="685800" y="65246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17064"/>
                </a:solidFill>
              </a:defRPr>
            </a:pPr>
            <a:r>
              <a:rPr sz="825" b="1">
                <a:solidFill>
                  <a:srgbClr val="617064"/>
                </a:solidFill>
              </a:rPr>
              <a:t>INSIGHT TRACKER</a:t>
            </a:r>
          </a:p>
        </p:txBody>
      </p:sp>
      <p:sp>
        <p:nvSpPr>
          <p:cNvPr id="31" name="">
            <a:extLst xmlns:a="http://schemas.openxmlformats.org/drawingml/2006/main">
              <a:ext uri="{FF2B5EF4-FFF2-40B4-BE49-F238E27FC236}">
                <a16:creationId xmlns:a16="http://schemas.microsoft.com/office/drawing/2014/main" id="{F3A3A9C5-8386-454B-9AFC-7153E9CF57C1}"/>
              </a:ext>
            </a:extLst>
          </p:cNvPr>
          <p:cNvSpPr>
            <a:spLocks xmlns:a="http://schemas.openxmlformats.org/drawingml/2006/main" noGrp="1"/>
          </p:cNvSpPr>
          <p:nvPr/>
        </p:nvSpPr>
        <p:spPr>
          <a:xfrm xmlns:a="http://schemas.openxmlformats.org/drawingml/2006/main">
            <a:off x="11049000" y="65055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17064"/>
                </a:solidFill>
              </a:defRPr>
            </a:pPr>
            <a:r>
              <a:rPr sz="900" b="1">
                <a:solidFill>
                  <a:srgbClr val="617064"/>
                </a:solidFill>
              </a:rPr>
              <a:t>11</a:t>
            </a:r>
          </a:p>
        </p:txBody>
      </p:sp>
    </p:spTree>
    <p:extLst>
      <p:ext uri="{BB962C8B-B14F-4D97-AF65-F5344CB8AC3E}">
        <p14:creationId xmlns:p14="http://schemas.microsoft.com/office/powerpoint/2010/main" val="1334983762"/>
      </p:ext>
    </p:extLst>
  </p:cSld>
</p:sld>
</file>

<file path=ppt/slides/slide12.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21" name="kicker-12">
            <a:extLst xmlns:a="http://schemas.openxmlformats.org/drawingml/2006/main">
              <a:ext uri="{FF2B5EF4-FFF2-40B4-BE49-F238E27FC236}">
                <a16:creationId xmlns:a16="http://schemas.microsoft.com/office/drawing/2014/main" id="{5165F1FE-E7FB-4169-AA37-DE60251BFB53}"/>
              </a:ext>
            </a:extLst>
          </p:cNvPr>
          <p:cNvSpPr>
            <a:spLocks xmlns:a="http://schemas.openxmlformats.org/drawingml/2006/main" noGrp="1"/>
          </p:cNvSpPr>
          <p:nvPr/>
        </p:nvSpPr>
        <p:spPr>
          <a:xfrm xmlns:a="http://schemas.openxmlformats.org/drawingml/2006/main">
            <a:off x="685800" y="400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7531B"/>
                </a:solidFill>
              </a:defRPr>
            </a:pPr>
            <a:r>
              <a:rPr sz="1050" b="1">
                <a:solidFill>
                  <a:srgbClr val="17531B"/>
                </a:solidFill>
              </a:rPr>
              <a:t>LOCALIZATION</a:t>
            </a:r>
          </a:p>
        </p:txBody>
      </p:sp>
      <p:sp>
        <p:nvSpPr>
          <p:cNvPr id="2" name="title-12">
            <a:extLst xmlns:a="http://schemas.openxmlformats.org/drawingml/2006/main">
              <a:ext uri="{FF2B5EF4-FFF2-40B4-BE49-F238E27FC236}">
                <a16:creationId xmlns:a16="http://schemas.microsoft.com/office/drawing/2014/main" id="{0A1A2381-F7B9-4C2E-BC2A-BD75AE10DD8C}"/>
              </a:ext>
            </a:extLst>
          </p:cNvPr>
          <p:cNvSpPr>
            <a:spLocks xmlns:a="http://schemas.openxmlformats.org/drawingml/2006/main" noGrp="1"/>
          </p:cNvSpPr>
          <p:nvPr/>
        </p:nvSpPr>
        <p:spPr>
          <a:xfrm xmlns:a="http://schemas.openxmlformats.org/drawingml/2006/main">
            <a:off x="685800" y="742950"/>
            <a:ext cx="10744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43127"/>
                </a:solidFill>
              </a:defRPr>
            </a:pPr>
            <a:r>
              <a:rPr sz="2850" b="1">
                <a:solidFill>
                  <a:srgbClr val="243127"/>
                </a:solidFill>
              </a:rPr>
              <a:t>Arabic support is part of the architecture</a:t>
            </a:r>
          </a:p>
        </p:txBody>
      </p:sp>
      <p:sp>
        <p:nvSpPr>
          <p:cNvPr id="3" name="">
            <a:extLst xmlns:a="http://schemas.openxmlformats.org/drawingml/2006/main">
              <a:ext uri="{FF2B5EF4-FFF2-40B4-BE49-F238E27FC236}">
                <a16:creationId xmlns:a16="http://schemas.microsoft.com/office/drawing/2014/main" id="{022C387F-1DE3-4C50-AFF4-61D53F5EE011}"/>
              </a:ext>
            </a:extLst>
          </p:cNvPr>
          <p:cNvSpPr>
            <a:spLocks xmlns:a="http://schemas.openxmlformats.org/drawingml/2006/main" noGrp="1"/>
          </p:cNvSpPr>
          <p:nvPr/>
        </p:nvSpPr>
        <p:spPr>
          <a:xfrm xmlns:a="http://schemas.openxmlformats.org/drawingml/2006/main">
            <a:off x="609600" y="1543050"/>
            <a:ext cx="6343650" cy="3638550"/>
          </a:xfrm>
          <a:prstGeom xmlns:a="http://schemas.openxmlformats.org/drawingml/2006/main" prst="roundRect">
            <a:avLst>
              <a:gd name="adj" fmla="val 4188"/>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2ae0c18c1d846b4"/>
          <a:srcRect xmlns:a="http://schemas.openxmlformats.org/drawingml/2006/main" l="60" t="0" r="60" b="0"/>
          <a:stretch xmlns:a="http://schemas.openxmlformats.org/drawingml/2006/main">
            <a:fillRect l="0" t="0" r="0" b="0"/>
          </a:stretch>
        </p:blipFill>
        <p:spPr>
          <a:xfrm xmlns:a="http://schemas.openxmlformats.org/drawingml/2006/main">
            <a:off x="685800" y="1619250"/>
            <a:ext cx="6191250" cy="3486150"/>
          </a:xfrm>
          <a:prstGeom xmlns:a="http://schemas.openxmlformats.org/drawingml/2006/main" prst="roundRect">
            <a:avLst>
              <a:gd name="adj" fmla="val 3279"/>
            </a:avLst>
          </a:prstGeom>
        </p:spPr>
      </p:pic>
      <p:sp>
        <p:nvSpPr>
          <p:cNvPr id="5" name="">
            <a:extLst xmlns:a="http://schemas.openxmlformats.org/drawingml/2006/main">
              <a:ext uri="{FF2B5EF4-FFF2-40B4-BE49-F238E27FC236}">
                <a16:creationId xmlns:a16="http://schemas.microsoft.com/office/drawing/2014/main" id="{07D6FF49-3499-4135-88F6-015A5BBD565C}"/>
              </a:ext>
            </a:extLst>
          </p:cNvPr>
          <p:cNvSpPr>
            <a:spLocks xmlns:a="http://schemas.openxmlformats.org/drawingml/2006/main" noGrp="1"/>
          </p:cNvSpPr>
          <p:nvPr/>
        </p:nvSpPr>
        <p:spPr>
          <a:xfrm xmlns:a="http://schemas.openxmlformats.org/drawingml/2006/main">
            <a:off x="7334250" y="1676400"/>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7531B"/>
                </a:solidFill>
              </a:defRPr>
            </a:pPr>
            <a:r>
              <a:rPr sz="2100" b="1">
                <a:solidFill>
                  <a:srgbClr val="17531B"/>
                </a:solidFill>
              </a:rPr>
              <a:t>Designed for Arabic and English</a:t>
            </a:r>
          </a:p>
        </p:txBody>
      </p:sp>
      <p:sp>
        <p:nvSpPr>
          <p:cNvPr id="6" name="">
            <a:extLst xmlns:a="http://schemas.openxmlformats.org/drawingml/2006/main">
              <a:ext uri="{FF2B5EF4-FFF2-40B4-BE49-F238E27FC236}">
                <a16:creationId xmlns:a16="http://schemas.microsoft.com/office/drawing/2014/main" id="{38601A35-8E72-4AF9-8937-36481DF3586A}"/>
              </a:ext>
            </a:extLst>
          </p:cNvPr>
          <p:cNvSpPr>
            <a:spLocks xmlns:a="http://schemas.openxmlformats.org/drawingml/2006/main" noGrp="1"/>
          </p:cNvSpPr>
          <p:nvPr/>
        </p:nvSpPr>
        <p:spPr>
          <a:xfrm xmlns:a="http://schemas.openxmlformats.org/drawingml/2006/main">
            <a:off x="7372350" y="2305050"/>
            <a:ext cx="147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531B"/>
                </a:solidFill>
              </a:defRPr>
            </a:pPr>
            <a:r>
              <a:rPr sz="1425" b="1">
                <a:solidFill>
                  <a:srgbClr val="17531B"/>
                </a:solidFill>
              </a:rPr>
              <a:t>RTL / LTR</a:t>
            </a:r>
          </a:p>
        </p:txBody>
      </p:sp>
      <p:sp>
        <p:nvSpPr>
          <p:cNvPr id="7" name="">
            <a:extLst xmlns:a="http://schemas.openxmlformats.org/drawingml/2006/main">
              <a:ext uri="{FF2B5EF4-FFF2-40B4-BE49-F238E27FC236}">
                <a16:creationId xmlns:a16="http://schemas.microsoft.com/office/drawing/2014/main" id="{86A47520-B69D-41F0-9D2B-8984436F834D}"/>
              </a:ext>
            </a:extLst>
          </p:cNvPr>
          <p:cNvSpPr>
            <a:spLocks xmlns:a="http://schemas.openxmlformats.org/drawingml/2006/main" noGrp="1"/>
          </p:cNvSpPr>
          <p:nvPr/>
        </p:nvSpPr>
        <p:spPr>
          <a:xfrm xmlns:a="http://schemas.openxmlformats.org/drawingml/2006/main">
            <a:off x="8972550" y="2305050"/>
            <a:ext cx="2343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Layouts mirror correctly for each language.</a:t>
            </a:r>
          </a:p>
        </p:txBody>
      </p:sp>
      <p:sp>
        <p:nvSpPr>
          <p:cNvPr id="8" name="">
            <a:extLst xmlns:a="http://schemas.openxmlformats.org/drawingml/2006/main">
              <a:ext uri="{FF2B5EF4-FFF2-40B4-BE49-F238E27FC236}">
                <a16:creationId xmlns:a16="http://schemas.microsoft.com/office/drawing/2014/main" id="{1DE98456-B0E0-48BC-85E8-C6C6A37B469D}"/>
              </a:ext>
            </a:extLst>
          </p:cNvPr>
          <p:cNvSpPr>
            <a:spLocks xmlns:a="http://schemas.openxmlformats.org/drawingml/2006/main" noGrp="1"/>
          </p:cNvSpPr>
          <p:nvPr/>
        </p:nvSpPr>
        <p:spPr>
          <a:xfrm xmlns:a="http://schemas.openxmlformats.org/drawingml/2006/main">
            <a:off x="7372350" y="2924175"/>
            <a:ext cx="147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819067"/>
                </a:solidFill>
              </a:defRPr>
            </a:pPr>
            <a:r>
              <a:rPr sz="1425" b="1">
                <a:solidFill>
                  <a:srgbClr val="819067"/>
                </a:solidFill>
              </a:rPr>
              <a:t>Hijri + Gregorian</a:t>
            </a:r>
          </a:p>
        </p:txBody>
      </p:sp>
      <p:sp>
        <p:nvSpPr>
          <p:cNvPr id="9" name="">
            <a:extLst xmlns:a="http://schemas.openxmlformats.org/drawingml/2006/main">
              <a:ext uri="{FF2B5EF4-FFF2-40B4-BE49-F238E27FC236}">
                <a16:creationId xmlns:a16="http://schemas.microsoft.com/office/drawing/2014/main" id="{5B7F8168-444D-4109-AEAB-75E118CA8AA7}"/>
              </a:ext>
            </a:extLst>
          </p:cNvPr>
          <p:cNvSpPr>
            <a:spLocks xmlns:a="http://schemas.openxmlformats.org/drawingml/2006/main" noGrp="1"/>
          </p:cNvSpPr>
          <p:nvPr/>
        </p:nvSpPr>
        <p:spPr>
          <a:xfrm xmlns:a="http://schemas.openxmlformats.org/drawingml/2006/main">
            <a:off x="8972550" y="2924175"/>
            <a:ext cx="2343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Dates appear in operational and report views.</a:t>
            </a:r>
          </a:p>
        </p:txBody>
      </p:sp>
      <p:sp>
        <p:nvSpPr>
          <p:cNvPr id="10" name="">
            <a:extLst xmlns:a="http://schemas.openxmlformats.org/drawingml/2006/main">
              <a:ext uri="{FF2B5EF4-FFF2-40B4-BE49-F238E27FC236}">
                <a16:creationId xmlns:a16="http://schemas.microsoft.com/office/drawing/2014/main" id="{5AFC6A91-073C-4593-A79C-BF4B07AAC120}"/>
              </a:ext>
            </a:extLst>
          </p:cNvPr>
          <p:cNvSpPr>
            <a:spLocks xmlns:a="http://schemas.openxmlformats.org/drawingml/2006/main" noGrp="1"/>
          </p:cNvSpPr>
          <p:nvPr/>
        </p:nvSpPr>
        <p:spPr>
          <a:xfrm xmlns:a="http://schemas.openxmlformats.org/drawingml/2006/main">
            <a:off x="7372350" y="3543300"/>
            <a:ext cx="147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531B"/>
                </a:solidFill>
              </a:defRPr>
            </a:pPr>
            <a:r>
              <a:rPr sz="1425" b="1">
                <a:solidFill>
                  <a:srgbClr val="17531B"/>
                </a:solidFill>
              </a:rPr>
              <a:t>Stable codes</a:t>
            </a:r>
          </a:p>
        </p:txBody>
      </p:sp>
      <p:sp>
        <p:nvSpPr>
          <p:cNvPr id="11" name="">
            <a:extLst xmlns:a="http://schemas.openxmlformats.org/drawingml/2006/main">
              <a:ext uri="{FF2B5EF4-FFF2-40B4-BE49-F238E27FC236}">
                <a16:creationId xmlns:a16="http://schemas.microsoft.com/office/drawing/2014/main" id="{88E0E190-B6CC-42C4-840E-E94AB1AB5988}"/>
              </a:ext>
            </a:extLst>
          </p:cNvPr>
          <p:cNvSpPr>
            <a:spLocks xmlns:a="http://schemas.openxmlformats.org/drawingml/2006/main" noGrp="1"/>
          </p:cNvSpPr>
          <p:nvPr/>
        </p:nvSpPr>
        <p:spPr>
          <a:xfrm xmlns:a="http://schemas.openxmlformats.org/drawingml/2006/main">
            <a:off x="8972550" y="3543300"/>
            <a:ext cx="2343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Business logic uses codes, not translated labels.</a:t>
            </a:r>
          </a:p>
        </p:txBody>
      </p:sp>
      <p:sp>
        <p:nvSpPr>
          <p:cNvPr id="12" name="">
            <a:extLst xmlns:a="http://schemas.openxmlformats.org/drawingml/2006/main">
              <a:ext uri="{FF2B5EF4-FFF2-40B4-BE49-F238E27FC236}">
                <a16:creationId xmlns:a16="http://schemas.microsoft.com/office/drawing/2014/main" id="{16B7A68F-C8AA-4EFF-9A3E-0004D57767CC}"/>
              </a:ext>
            </a:extLst>
          </p:cNvPr>
          <p:cNvSpPr>
            <a:spLocks xmlns:a="http://schemas.openxmlformats.org/drawingml/2006/main" noGrp="1"/>
          </p:cNvSpPr>
          <p:nvPr/>
        </p:nvSpPr>
        <p:spPr>
          <a:xfrm xmlns:a="http://schemas.openxmlformats.org/drawingml/2006/main">
            <a:off x="7372350" y="4162425"/>
            <a:ext cx="147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819067"/>
                </a:solidFill>
              </a:defRPr>
            </a:pPr>
            <a:r>
              <a:rPr sz="1425" b="1">
                <a:solidFill>
                  <a:srgbClr val="819067"/>
                </a:solidFill>
              </a:rPr>
              <a:t>Arabic search</a:t>
            </a:r>
          </a:p>
        </p:txBody>
      </p:sp>
      <p:sp>
        <p:nvSpPr>
          <p:cNvPr id="13" name="">
            <a:extLst xmlns:a="http://schemas.openxmlformats.org/drawingml/2006/main">
              <a:ext uri="{FF2B5EF4-FFF2-40B4-BE49-F238E27FC236}">
                <a16:creationId xmlns:a16="http://schemas.microsoft.com/office/drawing/2014/main" id="{37EB9288-4F09-45F3-96CB-7C2BB049E47E}"/>
              </a:ext>
            </a:extLst>
          </p:cNvPr>
          <p:cNvSpPr>
            <a:spLocks xmlns:a="http://schemas.openxmlformats.org/drawingml/2006/main" noGrp="1"/>
          </p:cNvSpPr>
          <p:nvPr/>
        </p:nvSpPr>
        <p:spPr>
          <a:xfrm xmlns:a="http://schemas.openxmlformats.org/drawingml/2006/main">
            <a:off x="8972550" y="4162425"/>
            <a:ext cx="2343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Approved normalization supports identity and search.</a:t>
            </a:r>
          </a:p>
        </p:txBody>
      </p:sp>
      <p:sp>
        <p:nvSpPr>
          <p:cNvPr id="14" name="">
            <a:extLst xmlns:a="http://schemas.openxmlformats.org/drawingml/2006/main">
              <a:ext uri="{FF2B5EF4-FFF2-40B4-BE49-F238E27FC236}">
                <a16:creationId xmlns:a16="http://schemas.microsoft.com/office/drawing/2014/main" id="{CFF26174-BC74-4A41-B60B-E68420711C20}"/>
              </a:ext>
            </a:extLst>
          </p:cNvPr>
          <p:cNvSpPr>
            <a:spLocks xmlns:a="http://schemas.openxmlformats.org/drawingml/2006/main" noGrp="1"/>
          </p:cNvSpPr>
          <p:nvPr/>
        </p:nvSpPr>
        <p:spPr>
          <a:xfrm xmlns:a="http://schemas.openxmlformats.org/drawingml/2006/main">
            <a:off x="7372350" y="4781550"/>
            <a:ext cx="147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531B"/>
                </a:solidFill>
              </a:defRPr>
            </a:pPr>
            <a:r>
              <a:rPr sz="1425" b="1">
                <a:solidFill>
                  <a:srgbClr val="17531B"/>
                </a:solidFill>
              </a:rPr>
              <a:t>Mobile</a:t>
            </a:r>
          </a:p>
        </p:txBody>
      </p:sp>
      <p:sp>
        <p:nvSpPr>
          <p:cNvPr id="15" name="">
            <a:extLst xmlns:a="http://schemas.openxmlformats.org/drawingml/2006/main">
              <a:ext uri="{FF2B5EF4-FFF2-40B4-BE49-F238E27FC236}">
                <a16:creationId xmlns:a16="http://schemas.microsoft.com/office/drawing/2014/main" id="{D509854B-CF7E-49CE-A994-D82D014A9C16}"/>
              </a:ext>
            </a:extLst>
          </p:cNvPr>
          <p:cNvSpPr>
            <a:spLocks xmlns:a="http://schemas.openxmlformats.org/drawingml/2006/main" noGrp="1"/>
          </p:cNvSpPr>
          <p:nvPr/>
        </p:nvSpPr>
        <p:spPr>
          <a:xfrm xmlns:a="http://schemas.openxmlformats.org/drawingml/2006/main">
            <a:off x="8972550" y="4781550"/>
            <a:ext cx="2343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43127"/>
                </a:solidFill>
              </a:defRPr>
            </a:pPr>
            <a:r>
              <a:rPr sz="1200" b="0">
                <a:solidFill>
                  <a:srgbClr val="243127"/>
                </a:solidFill>
              </a:rPr>
              <a:t>Critical workflows are tested at narrow widths.</a:t>
            </a:r>
          </a:p>
        </p:txBody>
      </p:sp>
      <p:sp>
        <p:nvSpPr>
          <p:cNvPr id="16" name="">
            <a:extLst xmlns:a="http://schemas.openxmlformats.org/drawingml/2006/main">
              <a:ext uri="{FF2B5EF4-FFF2-40B4-BE49-F238E27FC236}">
                <a16:creationId xmlns:a16="http://schemas.microsoft.com/office/drawing/2014/main" id="{F5608DAB-3A05-4B8F-9B1F-633A11A075E8}"/>
              </a:ext>
            </a:extLst>
          </p:cNvPr>
          <p:cNvSpPr>
            <a:spLocks xmlns:a="http://schemas.openxmlformats.org/drawingml/2006/main" noGrp="1"/>
          </p:cNvSpPr>
          <p:nvPr/>
        </p:nvSpPr>
        <p:spPr>
          <a:xfrm xmlns:a="http://schemas.openxmlformats.org/drawingml/2006/main">
            <a:off x="7334250" y="5600700"/>
            <a:ext cx="3143250" cy="323850"/>
          </a:xfrm>
          <a:prstGeom xmlns:a="http://schemas.openxmlformats.org/drawingml/2006/main" prst="roundRect">
            <a:avLst>
              <a:gd name="adj" fmla="val 50000"/>
            </a:avLst>
          </a:prstGeom>
          <a:solidFill xmlns:a="http://schemas.openxmlformats.org/drawingml/2006/main">
            <a:srgbClr val="E9ECE2"/>
          </a:solidFill>
          <a:ln xmlns:a="http://schemas.openxmlformats.org/drawingml/2006/main" w="0">
            <a:solidFill>
              <a:srgbClr val="E9ECE2"/>
            </a:solidFill>
            <a:prstDash val="solid"/>
          </a:ln>
        </p:spPr>
      </p:sp>
      <p:sp>
        <p:nvSpPr>
          <p:cNvPr id="17" name="">
            <a:extLst xmlns:a="http://schemas.openxmlformats.org/drawingml/2006/main">
              <a:ext uri="{FF2B5EF4-FFF2-40B4-BE49-F238E27FC236}">
                <a16:creationId xmlns:a16="http://schemas.microsoft.com/office/drawing/2014/main" id="{6911FA07-DA02-460A-B2F0-3BE806340D3E}"/>
              </a:ext>
            </a:extLst>
          </p:cNvPr>
          <p:cNvSpPr>
            <a:spLocks xmlns:a="http://schemas.openxmlformats.org/drawingml/2006/main" noGrp="1"/>
          </p:cNvSpPr>
          <p:nvPr/>
        </p:nvSpPr>
        <p:spPr>
          <a:xfrm xmlns:a="http://schemas.openxmlformats.org/drawingml/2006/main">
            <a:off x="7448550" y="5667375"/>
            <a:ext cx="2914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0A400C"/>
                </a:solidFill>
              </a:defRPr>
            </a:pPr>
            <a:r>
              <a:rPr sz="1050" b="1">
                <a:solidFill>
                  <a:srgbClr val="0A400C"/>
                </a:solidFill>
              </a:rPr>
              <a:t>First-class, not translated later</a:t>
            </a:r>
          </a:p>
        </p:txBody>
      </p:sp>
      <p:sp>
        <p:nvSpPr>
          <p:cNvPr id="18" name="">
            <a:extLst xmlns:a="http://schemas.openxmlformats.org/drawingml/2006/main">
              <a:ext uri="{FF2B5EF4-FFF2-40B4-BE49-F238E27FC236}">
                <a16:creationId xmlns:a16="http://schemas.microsoft.com/office/drawing/2014/main" id="{61193399-51FC-49A3-8C77-7B8F9C7B8E10}"/>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8CE"/>
          </a:solidFill>
          <a:ln xmlns:a="http://schemas.openxmlformats.org/drawingml/2006/main" w="0">
            <a:solidFill>
              <a:srgbClr val="D7D8CE"/>
            </a:solidFill>
            <a:prstDash val="solid"/>
          </a:ln>
        </p:spPr>
      </p:sp>
      <p:sp>
        <p:nvSpPr>
          <p:cNvPr id="19" name="">
            <a:extLst xmlns:a="http://schemas.openxmlformats.org/drawingml/2006/main">
              <a:ext uri="{FF2B5EF4-FFF2-40B4-BE49-F238E27FC236}">
                <a16:creationId xmlns:a16="http://schemas.microsoft.com/office/drawing/2014/main" id="{8EAE842B-EF3F-424B-B952-036F51B89BED}"/>
              </a:ext>
            </a:extLst>
          </p:cNvPr>
          <p:cNvSpPr>
            <a:spLocks xmlns:a="http://schemas.openxmlformats.org/drawingml/2006/main" noGrp="1"/>
          </p:cNvSpPr>
          <p:nvPr/>
        </p:nvSpPr>
        <p:spPr>
          <a:xfrm xmlns:a="http://schemas.openxmlformats.org/drawingml/2006/main">
            <a:off x="685800" y="65246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17064"/>
                </a:solidFill>
              </a:defRPr>
            </a:pPr>
            <a:r>
              <a:rPr sz="825" b="1">
                <a:solidFill>
                  <a:srgbClr val="617064"/>
                </a:solidFill>
              </a:rPr>
              <a:t>INSIGHT TRACKER</a:t>
            </a:r>
          </a:p>
        </p:txBody>
      </p:sp>
      <p:sp>
        <p:nvSpPr>
          <p:cNvPr id="20" name="">
            <a:extLst xmlns:a="http://schemas.openxmlformats.org/drawingml/2006/main">
              <a:ext uri="{FF2B5EF4-FFF2-40B4-BE49-F238E27FC236}">
                <a16:creationId xmlns:a16="http://schemas.microsoft.com/office/drawing/2014/main" id="{3DCE03B0-F715-40AB-B473-E0CC86D093B6}"/>
              </a:ext>
            </a:extLst>
          </p:cNvPr>
          <p:cNvSpPr>
            <a:spLocks xmlns:a="http://schemas.openxmlformats.org/drawingml/2006/main" noGrp="1"/>
          </p:cNvSpPr>
          <p:nvPr/>
        </p:nvSpPr>
        <p:spPr>
          <a:xfrm xmlns:a="http://schemas.openxmlformats.org/drawingml/2006/main">
            <a:off x="11049000" y="65055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17064"/>
                </a:solidFill>
              </a:defRPr>
            </a:pPr>
            <a:r>
              <a:rPr sz="900" b="1">
                <a:solidFill>
                  <a:srgbClr val="617064"/>
                </a:solidFill>
              </a:rPr>
              <a:t>12</a:t>
            </a:r>
          </a:p>
        </p:txBody>
      </p:sp>
    </p:spTree>
    <p:extLst>
      <p:ext uri="{BB962C8B-B14F-4D97-AF65-F5344CB8AC3E}">
        <p14:creationId xmlns:p14="http://schemas.microsoft.com/office/powerpoint/2010/main" val="1028936146"/>
      </p:ext>
    </p:extLst>
  </p:cSld>
</p:sld>
</file>

<file path=ppt/slides/slide13.xml><?xml version="1.0" encoding="utf-8"?>
<p:sld xmlns:p="http://schemas.openxmlformats.org/presentationml/2006/main">
  <p:cSld>
    <p:bg>
      <p:bgPr>
        <a:solidFill xmlns:a="http://schemas.openxmlformats.org/drawingml/2006/main">
          <a:srgbClr val="F3F1E8"/>
        </a:solidFill>
      </p:bgPr>
    </p:bg>
    <p:spTree>
      <p:nvGrpSpPr>
        <p:cNvPr id="1" name=""/>
        <p:cNvGrpSpPr/>
        <p:nvPr/>
      </p:nvGrpSpPr>
      <p:grpSpPr>
        <a:xfrm xmlns:a="http://schemas.openxmlformats.org/drawingml/2006/main"/>
      </p:grpSpPr>
      <p:sp>
        <p:nvSpPr>
          <p:cNvPr id="34" name="kicker-13">
            <a:extLst xmlns:a="http://schemas.openxmlformats.org/drawingml/2006/main">
              <a:ext uri="{FF2B5EF4-FFF2-40B4-BE49-F238E27FC236}">
                <a16:creationId xmlns:a16="http://schemas.microsoft.com/office/drawing/2014/main" id="{5F2F40A4-0CCA-4703-9F97-19599BA2FA54}"/>
              </a:ext>
            </a:extLst>
          </p:cNvPr>
          <p:cNvSpPr>
            <a:spLocks xmlns:a="http://schemas.openxmlformats.org/drawingml/2006/main" noGrp="1"/>
          </p:cNvSpPr>
          <p:nvPr/>
        </p:nvSpPr>
        <p:spPr>
          <a:xfrm xmlns:a="http://schemas.openxmlformats.org/drawingml/2006/main">
            <a:off x="685800" y="400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7531B"/>
                </a:solidFill>
              </a:defRPr>
            </a:pPr>
            <a:r>
              <a:rPr sz="1050" b="1">
                <a:solidFill>
                  <a:srgbClr val="17531B"/>
                </a:solidFill>
              </a:rPr>
              <a:t>VERIFICATION</a:t>
            </a:r>
          </a:p>
        </p:txBody>
      </p:sp>
      <p:sp>
        <p:nvSpPr>
          <p:cNvPr id="2" name="title-13">
            <a:extLst xmlns:a="http://schemas.openxmlformats.org/drawingml/2006/main">
              <a:ext uri="{FF2B5EF4-FFF2-40B4-BE49-F238E27FC236}">
                <a16:creationId xmlns:a16="http://schemas.microsoft.com/office/drawing/2014/main" id="{75379453-BB86-400D-8182-743FB06647DB}"/>
              </a:ext>
            </a:extLst>
          </p:cNvPr>
          <p:cNvSpPr>
            <a:spLocks xmlns:a="http://schemas.openxmlformats.org/drawingml/2006/main" noGrp="1"/>
          </p:cNvSpPr>
          <p:nvPr/>
        </p:nvSpPr>
        <p:spPr>
          <a:xfrm xmlns:a="http://schemas.openxmlformats.org/drawingml/2006/main">
            <a:off x="685800" y="742950"/>
            <a:ext cx="10744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43127"/>
                </a:solidFill>
              </a:defRPr>
            </a:pPr>
            <a:r>
              <a:rPr sz="2850" b="1">
                <a:solidFill>
                  <a:srgbClr val="243127"/>
                </a:solidFill>
              </a:rPr>
              <a:t>Tests target failure paths, not only happy paths</a:t>
            </a:r>
          </a:p>
        </p:txBody>
      </p:sp>
      <p:sp>
        <p:nvSpPr>
          <p:cNvPr id="3" name="">
            <a:extLst xmlns:a="http://schemas.openxmlformats.org/drawingml/2006/main">
              <a:ext uri="{FF2B5EF4-FFF2-40B4-BE49-F238E27FC236}">
                <a16:creationId xmlns:a16="http://schemas.microsoft.com/office/drawing/2014/main" id="{632DDD39-5F20-43BD-ABEE-82C263BE08E1}"/>
              </a:ext>
            </a:extLst>
          </p:cNvPr>
          <p:cNvSpPr>
            <a:spLocks xmlns:a="http://schemas.openxmlformats.org/drawingml/2006/main" noGrp="1"/>
          </p:cNvSpPr>
          <p:nvPr/>
        </p:nvSpPr>
        <p:spPr>
          <a:xfrm xmlns:a="http://schemas.openxmlformats.org/drawingml/2006/main">
            <a:off x="685800" y="1619250"/>
            <a:ext cx="2857500" cy="1666875"/>
          </a:xfrm>
          <a:prstGeom xmlns:a="http://schemas.openxmlformats.org/drawingml/2006/main" prst="roundRect">
            <a:avLst>
              <a:gd name="adj" fmla="val 6857"/>
            </a:avLst>
          </a:prstGeom>
          <a:solidFill xmlns:a="http://schemas.openxmlformats.org/drawingml/2006/main">
            <a:srgbClr val="0A400C"/>
          </a:solidFill>
          <a:ln xmlns:a="http://schemas.openxmlformats.org/drawingml/2006/main" w="0">
            <a:solidFill>
              <a:srgbClr val="0A400C"/>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1DCF51BC-49CE-42A2-AAD8-B338955504A4}"/>
              </a:ext>
            </a:extLst>
          </p:cNvPr>
          <p:cNvSpPr>
            <a:spLocks xmlns:a="http://schemas.openxmlformats.org/drawingml/2006/main" noGrp="1"/>
          </p:cNvSpPr>
          <p:nvPr/>
        </p:nvSpPr>
        <p:spPr>
          <a:xfrm xmlns:a="http://schemas.openxmlformats.org/drawingml/2006/main">
            <a:off x="914400" y="19240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4350" b="1">
                <a:solidFill>
                  <a:srgbClr val="FFFFFF"/>
                </a:solidFill>
              </a:defRPr>
            </a:pPr>
            <a:r>
              <a:rPr sz="4350" b="1">
                <a:solidFill>
                  <a:srgbClr val="FFFFFF"/>
                </a:solidFill>
              </a:rPr>
              <a:t>244</a:t>
            </a:r>
          </a:p>
        </p:txBody>
      </p:sp>
      <p:sp>
        <p:nvSpPr>
          <p:cNvPr id="5" name="">
            <a:extLst xmlns:a="http://schemas.openxmlformats.org/drawingml/2006/main">
              <a:ext uri="{FF2B5EF4-FFF2-40B4-BE49-F238E27FC236}">
                <a16:creationId xmlns:a16="http://schemas.microsoft.com/office/drawing/2014/main" id="{33615F5F-2ED0-4490-B040-48C08772FD5C}"/>
              </a:ext>
            </a:extLst>
          </p:cNvPr>
          <p:cNvSpPr>
            <a:spLocks xmlns:a="http://schemas.openxmlformats.org/drawingml/2006/main" noGrp="1"/>
          </p:cNvSpPr>
          <p:nvPr/>
        </p:nvSpPr>
        <p:spPr>
          <a:xfrm xmlns:a="http://schemas.openxmlformats.org/drawingml/2006/main">
            <a:off x="952500" y="2724150"/>
            <a:ext cx="2305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D7E2D3"/>
                </a:solidFill>
              </a:defRPr>
            </a:pPr>
            <a:r>
              <a:rPr sz="1275" b="0">
                <a:solidFill>
                  <a:srgbClr val="D7E2D3"/>
                </a:solidFill>
              </a:rPr>
              <a:t>automated tests in the latest full quality gate</a:t>
            </a:r>
          </a:p>
        </p:txBody>
      </p:sp>
      <p:sp>
        <p:nvSpPr>
          <p:cNvPr id="6" name="">
            <a:extLst xmlns:a="http://schemas.openxmlformats.org/drawingml/2006/main">
              <a:ext uri="{FF2B5EF4-FFF2-40B4-BE49-F238E27FC236}">
                <a16:creationId xmlns:a16="http://schemas.microsoft.com/office/drawing/2014/main" id="{3C131834-D4EB-4ECB-AC25-D46F87150AD3}"/>
              </a:ext>
            </a:extLst>
          </p:cNvPr>
          <p:cNvSpPr>
            <a:spLocks xmlns:a="http://schemas.openxmlformats.org/drawingml/2006/main" noGrp="1"/>
          </p:cNvSpPr>
          <p:nvPr/>
        </p:nvSpPr>
        <p:spPr>
          <a:xfrm xmlns:a="http://schemas.openxmlformats.org/drawingml/2006/main">
            <a:off x="3790950" y="1619250"/>
            <a:ext cx="2857500" cy="1666875"/>
          </a:xfrm>
          <a:prstGeom xmlns:a="http://schemas.openxmlformats.org/drawingml/2006/main" prst="roundRect">
            <a:avLst>
              <a:gd name="adj" fmla="val 6857"/>
            </a:avLst>
          </a:prstGeom>
          <a:solidFill xmlns:a="http://schemas.openxmlformats.org/drawingml/2006/main">
            <a:srgbClr val="17531B"/>
          </a:solidFill>
          <a:ln xmlns:a="http://schemas.openxmlformats.org/drawingml/2006/main" w="0">
            <a:solidFill>
              <a:srgbClr val="17531B"/>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9130AFFF-2D64-446A-9CA1-CBEABA5728AD}"/>
              </a:ext>
            </a:extLst>
          </p:cNvPr>
          <p:cNvSpPr>
            <a:spLocks xmlns:a="http://schemas.openxmlformats.org/drawingml/2006/main" noGrp="1"/>
          </p:cNvSpPr>
          <p:nvPr/>
        </p:nvSpPr>
        <p:spPr>
          <a:xfrm xmlns:a="http://schemas.openxmlformats.org/drawingml/2006/main">
            <a:off x="4019550" y="19240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4350" b="1">
                <a:solidFill>
                  <a:srgbClr val="FFFFFF"/>
                </a:solidFill>
              </a:defRPr>
            </a:pPr>
            <a:r>
              <a:rPr sz="4350" b="1">
                <a:solidFill>
                  <a:srgbClr val="FFFFFF"/>
                </a:solidFill>
              </a:rPr>
              <a:t>33</a:t>
            </a:r>
          </a:p>
        </p:txBody>
      </p:sp>
      <p:sp>
        <p:nvSpPr>
          <p:cNvPr id="8" name="">
            <a:extLst xmlns:a="http://schemas.openxmlformats.org/drawingml/2006/main">
              <a:ext uri="{FF2B5EF4-FFF2-40B4-BE49-F238E27FC236}">
                <a16:creationId xmlns:a16="http://schemas.microsoft.com/office/drawing/2014/main" id="{D307E234-09AE-47C4-A3AB-CA90BCDDB63F}"/>
              </a:ext>
            </a:extLst>
          </p:cNvPr>
          <p:cNvSpPr>
            <a:spLocks xmlns:a="http://schemas.openxmlformats.org/drawingml/2006/main" noGrp="1"/>
          </p:cNvSpPr>
          <p:nvPr/>
        </p:nvSpPr>
        <p:spPr>
          <a:xfrm xmlns:a="http://schemas.openxmlformats.org/drawingml/2006/main">
            <a:off x="4057650" y="2724150"/>
            <a:ext cx="2305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D7E2D3"/>
                </a:solidFill>
              </a:defRPr>
            </a:pPr>
            <a:r>
              <a:rPr sz="1275" b="0">
                <a:solidFill>
                  <a:srgbClr val="D7E2D3"/>
                </a:solidFill>
              </a:rPr>
              <a:t>focused Telegram regressions after fixes</a:t>
            </a:r>
          </a:p>
        </p:txBody>
      </p:sp>
      <p:sp>
        <p:nvSpPr>
          <p:cNvPr id="9" name="">
            <a:extLst xmlns:a="http://schemas.openxmlformats.org/drawingml/2006/main">
              <a:ext uri="{FF2B5EF4-FFF2-40B4-BE49-F238E27FC236}">
                <a16:creationId xmlns:a16="http://schemas.microsoft.com/office/drawing/2014/main" id="{B1CFCEA3-BABB-4844-8797-1FC2853D64A1}"/>
              </a:ext>
            </a:extLst>
          </p:cNvPr>
          <p:cNvSpPr>
            <a:spLocks xmlns:a="http://schemas.openxmlformats.org/drawingml/2006/main" noGrp="1"/>
          </p:cNvSpPr>
          <p:nvPr/>
        </p:nvSpPr>
        <p:spPr>
          <a:xfrm xmlns:a="http://schemas.openxmlformats.org/drawingml/2006/main">
            <a:off x="6896100" y="1619250"/>
            <a:ext cx="4610100" cy="1666875"/>
          </a:xfrm>
          <a:prstGeom xmlns:a="http://schemas.openxmlformats.org/drawingml/2006/main" prst="roundRect">
            <a:avLst>
              <a:gd name="adj" fmla="val 6857"/>
            </a:avLst>
          </a:prstGeom>
          <a:solidFill xmlns:a="http://schemas.openxmlformats.org/drawingml/2006/main">
            <a:srgbClr val="FFFFFF"/>
          </a:solidFill>
          <a:ln xmlns:a="http://schemas.openxmlformats.org/drawingml/2006/main" w="9525">
            <a:solidFill>
              <a:srgbClr val="D7D8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983B816F-A17F-4798-8DB0-00FD68258126}"/>
              </a:ext>
            </a:extLst>
          </p:cNvPr>
          <p:cNvSpPr>
            <a:spLocks xmlns:a="http://schemas.openxmlformats.org/drawingml/2006/main" noGrp="1"/>
          </p:cNvSpPr>
          <p:nvPr/>
        </p:nvSpPr>
        <p:spPr>
          <a:xfrm xmlns:a="http://schemas.openxmlformats.org/drawingml/2006/main">
            <a:off x="7181850" y="18669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819067"/>
                </a:solidFill>
              </a:defRPr>
            </a:pPr>
            <a:r>
              <a:rPr sz="1800" b="1">
                <a:solidFill>
                  <a:srgbClr val="819067"/>
                </a:solidFill>
              </a:rPr>
              <a:t>Quality tools</a:t>
            </a:r>
          </a:p>
        </p:txBody>
      </p:sp>
      <p:sp>
        <p:nvSpPr>
          <p:cNvPr id="11" name="">
            <a:extLst xmlns:a="http://schemas.openxmlformats.org/drawingml/2006/main">
              <a:ext uri="{FF2B5EF4-FFF2-40B4-BE49-F238E27FC236}">
                <a16:creationId xmlns:a16="http://schemas.microsoft.com/office/drawing/2014/main" id="{D0A42AD7-4DB4-4A46-8716-7556D6292E64}"/>
              </a:ext>
            </a:extLst>
          </p:cNvPr>
          <p:cNvSpPr>
            <a:spLocks xmlns:a="http://schemas.openxmlformats.org/drawingml/2006/main" noGrp="1"/>
          </p:cNvSpPr>
          <p:nvPr/>
        </p:nvSpPr>
        <p:spPr>
          <a:xfrm xmlns:a="http://schemas.openxmlformats.org/drawingml/2006/main">
            <a:off x="7181850" y="2324100"/>
            <a:ext cx="3905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127"/>
                </a:solidFill>
              </a:defRPr>
            </a:pPr>
            <a:r>
              <a:rPr sz="1350" b="0">
                <a:solidFill>
                  <a:srgbClr val="243127"/>
                </a:solidFill>
              </a:rPr>
              <a:t>pytest · Playwright · Ruff · mypy</a:t>
            </a:r>
          </a:p>
          <a:p xmlns:a="http://schemas.openxmlformats.org/drawingml/2006/main">
            <a:pPr algn="l">
              <a:defRPr sz="1350" b="0">
                <a:solidFill>
                  <a:srgbClr val="243127"/>
                </a:solidFill>
              </a:defRPr>
            </a:pPr>
            <a:r>
              <a:rPr sz="1350" b="0">
                <a:solidFill>
                  <a:srgbClr val="243127"/>
                </a:solidFill>
              </a:rPr>
              <a:t>Django checks · migration checks · browser QA</a:t>
            </a:r>
          </a:p>
        </p:txBody>
      </p:sp>
      <p:sp>
        <p:nvSpPr>
          <p:cNvPr id="12" name="">
            <a:extLst xmlns:a="http://schemas.openxmlformats.org/drawingml/2006/main">
              <a:ext uri="{FF2B5EF4-FFF2-40B4-BE49-F238E27FC236}">
                <a16:creationId xmlns:a16="http://schemas.microsoft.com/office/drawing/2014/main" id="{5FC918A3-CEF3-4741-A515-E6226487D7F8}"/>
              </a:ext>
            </a:extLst>
          </p:cNvPr>
          <p:cNvSpPr>
            <a:spLocks xmlns:a="http://schemas.openxmlformats.org/drawingml/2006/main" noGrp="1"/>
          </p:cNvSpPr>
          <p:nvPr/>
        </p:nvSpPr>
        <p:spPr>
          <a:xfrm xmlns:a="http://schemas.openxmlformats.org/drawingml/2006/main">
            <a:off x="685800" y="37338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7531B"/>
                </a:solidFill>
              </a:defRPr>
            </a:pPr>
            <a:r>
              <a:rPr sz="1875" b="1">
                <a:solidFill>
                  <a:srgbClr val="17531B"/>
                </a:solidFill>
              </a:rPr>
              <a:t>Security cases exercised</a:t>
            </a:r>
          </a:p>
        </p:txBody>
      </p:sp>
      <p:sp>
        <p:nvSpPr>
          <p:cNvPr id="13" name="">
            <a:extLst xmlns:a="http://schemas.openxmlformats.org/drawingml/2006/main">
              <a:ext uri="{FF2B5EF4-FFF2-40B4-BE49-F238E27FC236}">
                <a16:creationId xmlns:a16="http://schemas.microsoft.com/office/drawing/2014/main" id="{56ED750A-2E03-4F26-9225-95D37F7174D1}"/>
              </a:ext>
            </a:extLst>
          </p:cNvPr>
          <p:cNvSpPr>
            <a:spLocks xmlns:a="http://schemas.openxmlformats.org/drawingml/2006/main" noGrp="1"/>
          </p:cNvSpPr>
          <p:nvPr/>
        </p:nvSpPr>
        <p:spPr>
          <a:xfrm xmlns:a="http://schemas.openxmlformats.org/drawingml/2006/main">
            <a:off x="723900" y="4381500"/>
            <a:ext cx="171450" cy="17145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14" name="">
            <a:extLst xmlns:a="http://schemas.openxmlformats.org/drawingml/2006/main">
              <a:ext uri="{FF2B5EF4-FFF2-40B4-BE49-F238E27FC236}">
                <a16:creationId xmlns:a16="http://schemas.microsoft.com/office/drawing/2014/main" id="{FF59A1E5-7D6D-4F3C-99C3-D1BEFA7BF853}"/>
              </a:ext>
            </a:extLst>
          </p:cNvPr>
          <p:cNvSpPr>
            <a:spLocks xmlns:a="http://schemas.openxmlformats.org/drawingml/2006/main" noGrp="1"/>
          </p:cNvSpPr>
          <p:nvPr/>
        </p:nvSpPr>
        <p:spPr>
          <a:xfrm xmlns:a="http://schemas.openxmlformats.org/drawingml/2006/main">
            <a:off x="723900" y="43719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a:t>
            </a:r>
          </a:p>
        </p:txBody>
      </p:sp>
      <p:sp>
        <p:nvSpPr>
          <p:cNvPr id="15" name="">
            <a:extLst xmlns:a="http://schemas.openxmlformats.org/drawingml/2006/main">
              <a:ext uri="{FF2B5EF4-FFF2-40B4-BE49-F238E27FC236}">
                <a16:creationId xmlns:a16="http://schemas.microsoft.com/office/drawing/2014/main" id="{438BF6A6-A19C-4D9C-A2B8-E18CEE73BB0D}"/>
              </a:ext>
            </a:extLst>
          </p:cNvPr>
          <p:cNvSpPr>
            <a:spLocks xmlns:a="http://schemas.openxmlformats.org/drawingml/2006/main" noGrp="1"/>
          </p:cNvSpPr>
          <p:nvPr/>
        </p:nvSpPr>
        <p:spPr>
          <a:xfrm xmlns:a="http://schemas.openxmlformats.org/drawingml/2006/main">
            <a:off x="1028700" y="43243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127"/>
                </a:solidFill>
              </a:defRPr>
            </a:pPr>
            <a:r>
              <a:rPr sz="1275" b="0">
                <a:solidFill>
                  <a:srgbClr val="243127"/>
                </a:solidFill>
              </a:rPr>
              <a:t>Unauthorized and forged IDs</a:t>
            </a:r>
          </a:p>
        </p:txBody>
      </p:sp>
      <p:sp>
        <p:nvSpPr>
          <p:cNvPr id="16" name="">
            <a:extLst xmlns:a="http://schemas.openxmlformats.org/drawingml/2006/main">
              <a:ext uri="{FF2B5EF4-FFF2-40B4-BE49-F238E27FC236}">
                <a16:creationId xmlns:a16="http://schemas.microsoft.com/office/drawing/2014/main" id="{01BEC9CA-26C1-4E43-B378-086CAE12E7C1}"/>
              </a:ext>
            </a:extLst>
          </p:cNvPr>
          <p:cNvSpPr>
            <a:spLocks xmlns:a="http://schemas.openxmlformats.org/drawingml/2006/main" noGrp="1"/>
          </p:cNvSpPr>
          <p:nvPr/>
        </p:nvSpPr>
        <p:spPr>
          <a:xfrm xmlns:a="http://schemas.openxmlformats.org/drawingml/2006/main">
            <a:off x="6096000" y="4381500"/>
            <a:ext cx="171450" cy="17145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17" name="">
            <a:extLst xmlns:a="http://schemas.openxmlformats.org/drawingml/2006/main">
              <a:ext uri="{FF2B5EF4-FFF2-40B4-BE49-F238E27FC236}">
                <a16:creationId xmlns:a16="http://schemas.microsoft.com/office/drawing/2014/main" id="{D624179B-FF6A-48F7-BF6D-463FF57022BE}"/>
              </a:ext>
            </a:extLst>
          </p:cNvPr>
          <p:cNvSpPr>
            <a:spLocks xmlns:a="http://schemas.openxmlformats.org/drawingml/2006/main" noGrp="1"/>
          </p:cNvSpPr>
          <p:nvPr/>
        </p:nvSpPr>
        <p:spPr>
          <a:xfrm xmlns:a="http://schemas.openxmlformats.org/drawingml/2006/main">
            <a:off x="6096000" y="43719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a:t>
            </a:r>
          </a:p>
        </p:txBody>
      </p:sp>
      <p:sp>
        <p:nvSpPr>
          <p:cNvPr id="18" name="">
            <a:extLst xmlns:a="http://schemas.openxmlformats.org/drawingml/2006/main">
              <a:ext uri="{FF2B5EF4-FFF2-40B4-BE49-F238E27FC236}">
                <a16:creationId xmlns:a16="http://schemas.microsoft.com/office/drawing/2014/main" id="{030B18F6-4935-4CA6-B297-FFBCA007B244}"/>
              </a:ext>
            </a:extLst>
          </p:cNvPr>
          <p:cNvSpPr>
            <a:spLocks xmlns:a="http://schemas.openxmlformats.org/drawingml/2006/main" noGrp="1"/>
          </p:cNvSpPr>
          <p:nvPr/>
        </p:nvSpPr>
        <p:spPr>
          <a:xfrm xmlns:a="http://schemas.openxmlformats.org/drawingml/2006/main">
            <a:off x="6400800" y="43243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127"/>
                </a:solidFill>
              </a:defRPr>
            </a:pPr>
            <a:r>
              <a:rPr sz="1275" b="0">
                <a:solidFill>
                  <a:srgbClr val="243127"/>
                </a:solidFill>
              </a:rPr>
              <a:t>Prompt injection and secret requests</a:t>
            </a:r>
          </a:p>
        </p:txBody>
      </p:sp>
      <p:sp>
        <p:nvSpPr>
          <p:cNvPr id="19" name="">
            <a:extLst xmlns:a="http://schemas.openxmlformats.org/drawingml/2006/main">
              <a:ext uri="{FF2B5EF4-FFF2-40B4-BE49-F238E27FC236}">
                <a16:creationId xmlns:a16="http://schemas.microsoft.com/office/drawing/2014/main" id="{8DC3F606-E9E8-4E98-9A41-9CF3236B4152}"/>
              </a:ext>
            </a:extLst>
          </p:cNvPr>
          <p:cNvSpPr>
            <a:spLocks xmlns:a="http://schemas.openxmlformats.org/drawingml/2006/main" noGrp="1"/>
          </p:cNvSpPr>
          <p:nvPr/>
        </p:nvSpPr>
        <p:spPr>
          <a:xfrm xmlns:a="http://schemas.openxmlformats.org/drawingml/2006/main">
            <a:off x="723900" y="4895850"/>
            <a:ext cx="171450" cy="17145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20" name="">
            <a:extLst xmlns:a="http://schemas.openxmlformats.org/drawingml/2006/main">
              <a:ext uri="{FF2B5EF4-FFF2-40B4-BE49-F238E27FC236}">
                <a16:creationId xmlns:a16="http://schemas.microsoft.com/office/drawing/2014/main" id="{CD49D707-D450-4D38-A85B-D226582A8FE9}"/>
              </a:ext>
            </a:extLst>
          </p:cNvPr>
          <p:cNvSpPr>
            <a:spLocks xmlns:a="http://schemas.openxmlformats.org/drawingml/2006/main" noGrp="1"/>
          </p:cNvSpPr>
          <p:nvPr/>
        </p:nvSpPr>
        <p:spPr>
          <a:xfrm xmlns:a="http://schemas.openxmlformats.org/drawingml/2006/main">
            <a:off x="723900" y="488632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a:t>
            </a:r>
          </a:p>
        </p:txBody>
      </p:sp>
      <p:sp>
        <p:nvSpPr>
          <p:cNvPr id="21" name="">
            <a:extLst xmlns:a="http://schemas.openxmlformats.org/drawingml/2006/main">
              <a:ext uri="{FF2B5EF4-FFF2-40B4-BE49-F238E27FC236}">
                <a16:creationId xmlns:a16="http://schemas.microsoft.com/office/drawing/2014/main" id="{D81FCB17-6D39-4DD6-8B0D-5B181E65895E}"/>
              </a:ext>
            </a:extLst>
          </p:cNvPr>
          <p:cNvSpPr>
            <a:spLocks xmlns:a="http://schemas.openxmlformats.org/drawingml/2006/main" noGrp="1"/>
          </p:cNvSpPr>
          <p:nvPr/>
        </p:nvSpPr>
        <p:spPr>
          <a:xfrm xmlns:a="http://schemas.openxmlformats.org/drawingml/2006/main">
            <a:off x="1028700" y="48387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127"/>
                </a:solidFill>
              </a:defRPr>
            </a:pPr>
            <a:r>
              <a:rPr sz="1275" b="0">
                <a:solidFill>
                  <a:srgbClr val="243127"/>
                </a:solidFill>
              </a:rPr>
              <a:t>Stale proposals and revoked access</a:t>
            </a:r>
          </a:p>
        </p:txBody>
      </p:sp>
      <p:sp>
        <p:nvSpPr>
          <p:cNvPr id="22" name="">
            <a:extLst xmlns:a="http://schemas.openxmlformats.org/drawingml/2006/main">
              <a:ext uri="{FF2B5EF4-FFF2-40B4-BE49-F238E27FC236}">
                <a16:creationId xmlns:a16="http://schemas.microsoft.com/office/drawing/2014/main" id="{2E1CB3E2-F2B2-45B0-9F04-B54300406D02}"/>
              </a:ext>
            </a:extLst>
          </p:cNvPr>
          <p:cNvSpPr>
            <a:spLocks xmlns:a="http://schemas.openxmlformats.org/drawingml/2006/main" noGrp="1"/>
          </p:cNvSpPr>
          <p:nvPr/>
        </p:nvSpPr>
        <p:spPr>
          <a:xfrm xmlns:a="http://schemas.openxmlformats.org/drawingml/2006/main">
            <a:off x="6096000" y="4895850"/>
            <a:ext cx="171450" cy="17145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23" name="">
            <a:extLst xmlns:a="http://schemas.openxmlformats.org/drawingml/2006/main">
              <a:ext uri="{FF2B5EF4-FFF2-40B4-BE49-F238E27FC236}">
                <a16:creationId xmlns:a16="http://schemas.microsoft.com/office/drawing/2014/main" id="{FA63039F-5E83-4E9F-8B38-0CACEAEB8255}"/>
              </a:ext>
            </a:extLst>
          </p:cNvPr>
          <p:cNvSpPr>
            <a:spLocks xmlns:a="http://schemas.openxmlformats.org/drawingml/2006/main" noGrp="1"/>
          </p:cNvSpPr>
          <p:nvPr/>
        </p:nvSpPr>
        <p:spPr>
          <a:xfrm xmlns:a="http://schemas.openxmlformats.org/drawingml/2006/main">
            <a:off x="6096000" y="488632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a:t>
            </a:r>
          </a:p>
        </p:txBody>
      </p:sp>
      <p:sp>
        <p:nvSpPr>
          <p:cNvPr id="24" name="">
            <a:extLst xmlns:a="http://schemas.openxmlformats.org/drawingml/2006/main">
              <a:ext uri="{FF2B5EF4-FFF2-40B4-BE49-F238E27FC236}">
                <a16:creationId xmlns:a16="http://schemas.microsoft.com/office/drawing/2014/main" id="{72C6D632-EED4-4396-8FDB-F693ADDB6EAE}"/>
              </a:ext>
            </a:extLst>
          </p:cNvPr>
          <p:cNvSpPr>
            <a:spLocks xmlns:a="http://schemas.openxmlformats.org/drawingml/2006/main" noGrp="1"/>
          </p:cNvSpPr>
          <p:nvPr/>
        </p:nvSpPr>
        <p:spPr>
          <a:xfrm xmlns:a="http://schemas.openxmlformats.org/drawingml/2006/main">
            <a:off x="6400800" y="48387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127"/>
                </a:solidFill>
              </a:defRPr>
            </a:pPr>
            <a:r>
              <a:rPr sz="1275" b="0">
                <a:solidFill>
                  <a:srgbClr val="243127"/>
                </a:solidFill>
              </a:rPr>
              <a:t>Duplicate execution and replay</a:t>
            </a:r>
          </a:p>
        </p:txBody>
      </p:sp>
      <p:sp>
        <p:nvSpPr>
          <p:cNvPr id="25" name="">
            <a:extLst xmlns:a="http://schemas.openxmlformats.org/drawingml/2006/main">
              <a:ext uri="{FF2B5EF4-FFF2-40B4-BE49-F238E27FC236}">
                <a16:creationId xmlns:a16="http://schemas.microsoft.com/office/drawing/2014/main" id="{A2E69B27-842D-4C7F-9596-60A64255E32D}"/>
              </a:ext>
            </a:extLst>
          </p:cNvPr>
          <p:cNvSpPr>
            <a:spLocks xmlns:a="http://schemas.openxmlformats.org/drawingml/2006/main" noGrp="1"/>
          </p:cNvSpPr>
          <p:nvPr/>
        </p:nvSpPr>
        <p:spPr>
          <a:xfrm xmlns:a="http://schemas.openxmlformats.org/drawingml/2006/main">
            <a:off x="723900" y="5410200"/>
            <a:ext cx="171450" cy="17145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26" name="">
            <a:extLst xmlns:a="http://schemas.openxmlformats.org/drawingml/2006/main">
              <a:ext uri="{FF2B5EF4-FFF2-40B4-BE49-F238E27FC236}">
                <a16:creationId xmlns:a16="http://schemas.microsoft.com/office/drawing/2014/main" id="{8C7AFF2F-6097-4659-82C9-594C8E4E9466}"/>
              </a:ext>
            </a:extLst>
          </p:cNvPr>
          <p:cNvSpPr>
            <a:spLocks xmlns:a="http://schemas.openxmlformats.org/drawingml/2006/main" noGrp="1"/>
          </p:cNvSpPr>
          <p:nvPr/>
        </p:nvSpPr>
        <p:spPr>
          <a:xfrm xmlns:a="http://schemas.openxmlformats.org/drawingml/2006/main">
            <a:off x="723900" y="54006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a:t>
            </a:r>
          </a:p>
        </p:txBody>
      </p:sp>
      <p:sp>
        <p:nvSpPr>
          <p:cNvPr id="27" name="">
            <a:extLst xmlns:a="http://schemas.openxmlformats.org/drawingml/2006/main">
              <a:ext uri="{FF2B5EF4-FFF2-40B4-BE49-F238E27FC236}">
                <a16:creationId xmlns:a16="http://schemas.microsoft.com/office/drawing/2014/main" id="{F74D007C-DF5B-48C2-875A-16325A1B678C}"/>
              </a:ext>
            </a:extLst>
          </p:cNvPr>
          <p:cNvSpPr>
            <a:spLocks xmlns:a="http://schemas.openxmlformats.org/drawingml/2006/main" noGrp="1"/>
          </p:cNvSpPr>
          <p:nvPr/>
        </p:nvSpPr>
        <p:spPr>
          <a:xfrm xmlns:a="http://schemas.openxmlformats.org/drawingml/2006/main">
            <a:off x="1028700" y="53530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127"/>
                </a:solidFill>
              </a:defRPr>
            </a:pPr>
            <a:r>
              <a:rPr sz="1275" b="0">
                <a:solidFill>
                  <a:srgbClr val="243127"/>
                </a:solidFill>
              </a:rPr>
              <a:t>Provider timeout and invalid schema</a:t>
            </a:r>
          </a:p>
        </p:txBody>
      </p:sp>
      <p:sp>
        <p:nvSpPr>
          <p:cNvPr id="28" name="">
            <a:extLst xmlns:a="http://schemas.openxmlformats.org/drawingml/2006/main">
              <a:ext uri="{FF2B5EF4-FFF2-40B4-BE49-F238E27FC236}">
                <a16:creationId xmlns:a16="http://schemas.microsoft.com/office/drawing/2014/main" id="{50CDDA98-40B7-40D0-B83B-E0E4C1A5C501}"/>
              </a:ext>
            </a:extLst>
          </p:cNvPr>
          <p:cNvSpPr>
            <a:spLocks xmlns:a="http://schemas.openxmlformats.org/drawingml/2006/main" noGrp="1"/>
          </p:cNvSpPr>
          <p:nvPr/>
        </p:nvSpPr>
        <p:spPr>
          <a:xfrm xmlns:a="http://schemas.openxmlformats.org/drawingml/2006/main">
            <a:off x="6096000" y="5410200"/>
            <a:ext cx="171450" cy="171450"/>
          </a:xfrm>
          <a:prstGeom xmlns:a="http://schemas.openxmlformats.org/drawingml/2006/main" prst="ellipse">
            <a:avLst/>
          </a:prstGeom>
          <a:solidFill xmlns:a="http://schemas.openxmlformats.org/drawingml/2006/main">
            <a:srgbClr val="17531B"/>
          </a:solidFill>
          <a:ln xmlns:a="http://schemas.openxmlformats.org/drawingml/2006/main" w="0">
            <a:solidFill>
              <a:srgbClr val="17531B"/>
            </a:solidFill>
            <a:prstDash val="solid"/>
          </a:ln>
        </p:spPr>
      </p:sp>
      <p:sp>
        <p:nvSpPr>
          <p:cNvPr id="29" name="">
            <a:extLst xmlns:a="http://schemas.openxmlformats.org/drawingml/2006/main">
              <a:ext uri="{FF2B5EF4-FFF2-40B4-BE49-F238E27FC236}">
                <a16:creationId xmlns:a16="http://schemas.microsoft.com/office/drawing/2014/main" id="{C6CB049D-8219-4EC0-875C-1357FC6E0E74}"/>
              </a:ext>
            </a:extLst>
          </p:cNvPr>
          <p:cNvSpPr>
            <a:spLocks xmlns:a="http://schemas.openxmlformats.org/drawingml/2006/main" noGrp="1"/>
          </p:cNvSpPr>
          <p:nvPr/>
        </p:nvSpPr>
        <p:spPr>
          <a:xfrm xmlns:a="http://schemas.openxmlformats.org/drawingml/2006/main">
            <a:off x="6096000" y="54006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a:t>
            </a:r>
          </a:p>
        </p:txBody>
      </p:sp>
      <p:sp>
        <p:nvSpPr>
          <p:cNvPr id="30" name="">
            <a:extLst xmlns:a="http://schemas.openxmlformats.org/drawingml/2006/main">
              <a:ext uri="{FF2B5EF4-FFF2-40B4-BE49-F238E27FC236}">
                <a16:creationId xmlns:a16="http://schemas.microsoft.com/office/drawing/2014/main" id="{D196AB21-ED7F-4000-BB68-ECF751DA5E22}"/>
              </a:ext>
            </a:extLst>
          </p:cNvPr>
          <p:cNvSpPr>
            <a:spLocks xmlns:a="http://schemas.openxmlformats.org/drawingml/2006/main" noGrp="1"/>
          </p:cNvSpPr>
          <p:nvPr/>
        </p:nvSpPr>
        <p:spPr>
          <a:xfrm xmlns:a="http://schemas.openxmlformats.org/drawingml/2006/main">
            <a:off x="6400800" y="53530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127"/>
                </a:solidFill>
              </a:defRPr>
            </a:pPr>
            <a:r>
              <a:rPr sz="1275" b="0">
                <a:solidFill>
                  <a:srgbClr val="243127"/>
                </a:solidFill>
              </a:rPr>
              <a:t>Arabic RTL and responsive browser flow</a:t>
            </a:r>
          </a:p>
        </p:txBody>
      </p:sp>
      <p:sp>
        <p:nvSpPr>
          <p:cNvPr id="31" name="">
            <a:extLst xmlns:a="http://schemas.openxmlformats.org/drawingml/2006/main">
              <a:ext uri="{FF2B5EF4-FFF2-40B4-BE49-F238E27FC236}">
                <a16:creationId xmlns:a16="http://schemas.microsoft.com/office/drawing/2014/main" id="{A9FF4952-9888-4289-AA0D-AD9BE68F2CCF}"/>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8CE"/>
          </a:solidFill>
          <a:ln xmlns:a="http://schemas.openxmlformats.org/drawingml/2006/main" w="0">
            <a:solidFill>
              <a:srgbClr val="D7D8CE"/>
            </a:solidFill>
            <a:prstDash val="solid"/>
          </a:ln>
        </p:spPr>
      </p:sp>
      <p:sp>
        <p:nvSpPr>
          <p:cNvPr id="32" name="">
            <a:extLst xmlns:a="http://schemas.openxmlformats.org/drawingml/2006/main">
              <a:ext uri="{FF2B5EF4-FFF2-40B4-BE49-F238E27FC236}">
                <a16:creationId xmlns:a16="http://schemas.microsoft.com/office/drawing/2014/main" id="{9779FCF0-57A8-46F4-8796-B0A559BC7825}"/>
              </a:ext>
            </a:extLst>
          </p:cNvPr>
          <p:cNvSpPr>
            <a:spLocks xmlns:a="http://schemas.openxmlformats.org/drawingml/2006/main" noGrp="1"/>
          </p:cNvSpPr>
          <p:nvPr/>
        </p:nvSpPr>
        <p:spPr>
          <a:xfrm xmlns:a="http://schemas.openxmlformats.org/drawingml/2006/main">
            <a:off x="685800" y="65246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17064"/>
                </a:solidFill>
              </a:defRPr>
            </a:pPr>
            <a:r>
              <a:rPr sz="825" b="1">
                <a:solidFill>
                  <a:srgbClr val="617064"/>
                </a:solidFill>
              </a:rPr>
              <a:t>INSIGHT TRACKER</a:t>
            </a:r>
          </a:p>
        </p:txBody>
      </p:sp>
      <p:sp>
        <p:nvSpPr>
          <p:cNvPr id="33" name="">
            <a:extLst xmlns:a="http://schemas.openxmlformats.org/drawingml/2006/main">
              <a:ext uri="{FF2B5EF4-FFF2-40B4-BE49-F238E27FC236}">
                <a16:creationId xmlns:a16="http://schemas.microsoft.com/office/drawing/2014/main" id="{11F1AB31-6603-4A3F-B0AB-B7961648E83A}"/>
              </a:ext>
            </a:extLst>
          </p:cNvPr>
          <p:cNvSpPr>
            <a:spLocks xmlns:a="http://schemas.openxmlformats.org/drawingml/2006/main" noGrp="1"/>
          </p:cNvSpPr>
          <p:nvPr/>
        </p:nvSpPr>
        <p:spPr>
          <a:xfrm xmlns:a="http://schemas.openxmlformats.org/drawingml/2006/main">
            <a:off x="11049000" y="65055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17064"/>
                </a:solidFill>
              </a:defRPr>
            </a:pPr>
            <a:r>
              <a:rPr sz="900" b="1">
                <a:solidFill>
                  <a:srgbClr val="617064"/>
                </a:solidFill>
              </a:rPr>
              <a:t>13</a:t>
            </a:r>
          </a:p>
        </p:txBody>
      </p:sp>
    </p:spTree>
    <p:extLst>
      <p:ext uri="{BB962C8B-B14F-4D97-AF65-F5344CB8AC3E}">
        <p14:creationId xmlns:p14="http://schemas.microsoft.com/office/powerpoint/2010/main" val="923421067"/>
      </p:ext>
    </p:extLst>
  </p:cSld>
</p:sld>
</file>

<file path=ppt/slides/slide14.xml><?xml version="1.0" encoding="utf-8"?>
<p:sld xmlns:p="http://schemas.openxmlformats.org/presentationml/2006/main">
  <p:cSld>
    <p:bg>
      <p:bgPr>
        <a:solidFill xmlns:a="http://schemas.openxmlformats.org/drawingml/2006/main">
          <a:srgbClr val="0A400C"/>
        </a:solidFill>
      </p:bgPr>
    </p:bg>
    <p:spTree>
      <p:nvGrpSpPr>
        <p:cNvPr id="1" name=""/>
        <p:cNvGrpSpPr/>
        <p:nvPr/>
      </p:nvGrpSpPr>
      <p:grpSpPr>
        <a:xfrm xmlns:a="http://schemas.openxmlformats.org/drawingml/2006/main"/>
      </p:grpSpPr>
      <p:sp>
        <p:nvSpPr>
          <p:cNvPr id="26" name="kicker-14">
            <a:extLst xmlns:a="http://schemas.openxmlformats.org/drawingml/2006/main">
              <a:ext uri="{FF2B5EF4-FFF2-40B4-BE49-F238E27FC236}">
                <a16:creationId xmlns:a16="http://schemas.microsoft.com/office/drawing/2014/main" id="{94BD4DB7-F65D-4D4E-8388-B3CF0D453731}"/>
              </a:ext>
            </a:extLst>
          </p:cNvPr>
          <p:cNvSpPr>
            <a:spLocks xmlns:a="http://schemas.openxmlformats.org/drawingml/2006/main" noGrp="1"/>
          </p:cNvSpPr>
          <p:nvPr/>
        </p:nvSpPr>
        <p:spPr>
          <a:xfrm xmlns:a="http://schemas.openxmlformats.org/drawingml/2006/main">
            <a:off x="685800" y="400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FD9C7"/>
                </a:solidFill>
              </a:defRPr>
            </a:pPr>
            <a:r>
              <a:rPr sz="1050" b="1">
                <a:solidFill>
                  <a:srgbClr val="CFD9C7"/>
                </a:solidFill>
              </a:rPr>
              <a:t>WHAT MATTERS</a:t>
            </a:r>
          </a:p>
        </p:txBody>
      </p:sp>
      <p:sp>
        <p:nvSpPr>
          <p:cNvPr id="2" name="title-14">
            <a:extLst xmlns:a="http://schemas.openxmlformats.org/drawingml/2006/main">
              <a:ext uri="{FF2B5EF4-FFF2-40B4-BE49-F238E27FC236}">
                <a16:creationId xmlns:a16="http://schemas.microsoft.com/office/drawing/2014/main" id="{D6CD3973-EEB0-45C5-B53D-059881FBEB6F}"/>
              </a:ext>
            </a:extLst>
          </p:cNvPr>
          <p:cNvSpPr>
            <a:spLocks xmlns:a="http://schemas.openxmlformats.org/drawingml/2006/main" noGrp="1"/>
          </p:cNvSpPr>
          <p:nvPr/>
        </p:nvSpPr>
        <p:spPr>
          <a:xfrm xmlns:a="http://schemas.openxmlformats.org/drawingml/2006/main">
            <a:off x="685800" y="742950"/>
            <a:ext cx="10744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The project demonstrates applied AI engineering</a:t>
            </a:r>
          </a:p>
        </p:txBody>
      </p:sp>
      <p:sp>
        <p:nvSpPr>
          <p:cNvPr id="3" name="">
            <a:extLst xmlns:a="http://schemas.openxmlformats.org/drawingml/2006/main">
              <a:ext uri="{FF2B5EF4-FFF2-40B4-BE49-F238E27FC236}">
                <a16:creationId xmlns:a16="http://schemas.microsoft.com/office/drawing/2014/main" id="{F749880F-8E12-4E42-A38E-6104C2DDBF51}"/>
              </a:ext>
            </a:extLst>
          </p:cNvPr>
          <p:cNvSpPr>
            <a:spLocks xmlns:a="http://schemas.openxmlformats.org/drawingml/2006/main" noGrp="1"/>
          </p:cNvSpPr>
          <p:nvPr/>
        </p:nvSpPr>
        <p:spPr>
          <a:xfrm xmlns:a="http://schemas.openxmlformats.org/drawingml/2006/main">
            <a:off x="762000" y="1600200"/>
            <a:ext cx="495300" cy="495300"/>
          </a:xfrm>
          <a:prstGeom xmlns:a="http://schemas.openxmlformats.org/drawingml/2006/main" prst="ellipse">
            <a:avLst/>
          </a:prstGeom>
          <a:solidFill xmlns:a="http://schemas.openxmlformats.org/drawingml/2006/main">
            <a:srgbClr val="819067"/>
          </a:solidFill>
          <a:ln xmlns:a="http://schemas.openxmlformats.org/drawingml/2006/main" w="0">
            <a:solidFill>
              <a:srgbClr val="819067"/>
            </a:solidFill>
            <a:prstDash val="solid"/>
          </a:ln>
        </p:spPr>
      </p:sp>
      <p:sp>
        <p:nvSpPr>
          <p:cNvPr id="4" name="">
            <a:extLst xmlns:a="http://schemas.openxmlformats.org/drawingml/2006/main">
              <a:ext uri="{FF2B5EF4-FFF2-40B4-BE49-F238E27FC236}">
                <a16:creationId xmlns:a16="http://schemas.microsoft.com/office/drawing/2014/main" id="{37996DF1-A01B-4FBA-AB26-A6E5EBD87C9F}"/>
              </a:ext>
            </a:extLst>
          </p:cNvPr>
          <p:cNvSpPr>
            <a:spLocks xmlns:a="http://schemas.openxmlformats.org/drawingml/2006/main" noGrp="1"/>
          </p:cNvSpPr>
          <p:nvPr/>
        </p:nvSpPr>
        <p:spPr>
          <a:xfrm xmlns:a="http://schemas.openxmlformats.org/drawingml/2006/main">
            <a:off x="762000" y="174307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1</a:t>
            </a:r>
          </a:p>
        </p:txBody>
      </p:sp>
      <p:sp>
        <p:nvSpPr>
          <p:cNvPr id="5" name="">
            <a:extLst xmlns:a="http://schemas.openxmlformats.org/drawingml/2006/main">
              <a:ext uri="{FF2B5EF4-FFF2-40B4-BE49-F238E27FC236}">
                <a16:creationId xmlns:a16="http://schemas.microsoft.com/office/drawing/2014/main" id="{8692D058-0792-4547-96EB-1D1229E8E60D}"/>
              </a:ext>
            </a:extLst>
          </p:cNvPr>
          <p:cNvSpPr>
            <a:spLocks xmlns:a="http://schemas.openxmlformats.org/drawingml/2006/main" noGrp="1"/>
          </p:cNvSpPr>
          <p:nvPr/>
        </p:nvSpPr>
        <p:spPr>
          <a:xfrm xmlns:a="http://schemas.openxmlformats.org/drawingml/2006/main">
            <a:off x="1466850" y="1619250"/>
            <a:ext cx="2857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FFFF"/>
                </a:solidFill>
              </a:defRPr>
            </a:pPr>
            <a:r>
              <a:rPr sz="1875" b="1">
                <a:solidFill>
                  <a:srgbClr val="FFFFFF"/>
                </a:solidFill>
              </a:rPr>
              <a:t>Grounded AI</a:t>
            </a:r>
          </a:p>
        </p:txBody>
      </p:sp>
      <p:sp>
        <p:nvSpPr>
          <p:cNvPr id="6" name="">
            <a:extLst xmlns:a="http://schemas.openxmlformats.org/drawingml/2006/main">
              <a:ext uri="{FF2B5EF4-FFF2-40B4-BE49-F238E27FC236}">
                <a16:creationId xmlns:a16="http://schemas.microsoft.com/office/drawing/2014/main" id="{AF38C621-13B1-4076-8C03-6F056E9F1147}"/>
              </a:ext>
            </a:extLst>
          </p:cNvPr>
          <p:cNvSpPr>
            <a:spLocks xmlns:a="http://schemas.openxmlformats.org/drawingml/2006/main" noGrp="1"/>
          </p:cNvSpPr>
          <p:nvPr/>
        </p:nvSpPr>
        <p:spPr>
          <a:xfrm xmlns:a="http://schemas.openxmlformats.org/drawingml/2006/main">
            <a:off x="4514850" y="1657350"/>
            <a:ext cx="647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D5E1D0"/>
                </a:solidFill>
              </a:defRPr>
            </a:pPr>
            <a:r>
              <a:rPr sz="1425" b="0">
                <a:solidFill>
                  <a:srgbClr val="D5E1D0"/>
                </a:solidFill>
              </a:rPr>
              <a:t>Live evidence, strict schemas and citations</a:t>
            </a:r>
          </a:p>
        </p:txBody>
      </p:sp>
      <p:sp>
        <p:nvSpPr>
          <p:cNvPr id="7" name="">
            <a:extLst xmlns:a="http://schemas.openxmlformats.org/drawingml/2006/main">
              <a:ext uri="{FF2B5EF4-FFF2-40B4-BE49-F238E27FC236}">
                <a16:creationId xmlns:a16="http://schemas.microsoft.com/office/drawing/2014/main" id="{2FC74AF8-4C9D-4451-A5DD-67CFBB5F0E52}"/>
              </a:ext>
            </a:extLst>
          </p:cNvPr>
          <p:cNvSpPr>
            <a:spLocks xmlns:a="http://schemas.openxmlformats.org/drawingml/2006/main" noGrp="1"/>
          </p:cNvSpPr>
          <p:nvPr/>
        </p:nvSpPr>
        <p:spPr>
          <a:xfrm xmlns:a="http://schemas.openxmlformats.org/drawingml/2006/main">
            <a:off x="762000" y="2419350"/>
            <a:ext cx="495300" cy="495300"/>
          </a:xfrm>
          <a:prstGeom xmlns:a="http://schemas.openxmlformats.org/drawingml/2006/main" prst="ellipse">
            <a:avLst/>
          </a:prstGeom>
          <a:solidFill xmlns:a="http://schemas.openxmlformats.org/drawingml/2006/main">
            <a:srgbClr val="819067"/>
          </a:solidFill>
          <a:ln xmlns:a="http://schemas.openxmlformats.org/drawingml/2006/main" w="0">
            <a:solidFill>
              <a:srgbClr val="819067"/>
            </a:solidFill>
            <a:prstDash val="solid"/>
          </a:ln>
        </p:spPr>
      </p:sp>
      <p:sp>
        <p:nvSpPr>
          <p:cNvPr id="8" name="">
            <a:extLst xmlns:a="http://schemas.openxmlformats.org/drawingml/2006/main">
              <a:ext uri="{FF2B5EF4-FFF2-40B4-BE49-F238E27FC236}">
                <a16:creationId xmlns:a16="http://schemas.microsoft.com/office/drawing/2014/main" id="{D063DCBD-C685-42D4-9950-BB5AC3BEF10F}"/>
              </a:ext>
            </a:extLst>
          </p:cNvPr>
          <p:cNvSpPr>
            <a:spLocks xmlns:a="http://schemas.openxmlformats.org/drawingml/2006/main" noGrp="1"/>
          </p:cNvSpPr>
          <p:nvPr/>
        </p:nvSpPr>
        <p:spPr>
          <a:xfrm xmlns:a="http://schemas.openxmlformats.org/drawingml/2006/main">
            <a:off x="762000" y="256222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2</a:t>
            </a:r>
          </a:p>
        </p:txBody>
      </p:sp>
      <p:sp>
        <p:nvSpPr>
          <p:cNvPr id="9" name="">
            <a:extLst xmlns:a="http://schemas.openxmlformats.org/drawingml/2006/main">
              <a:ext uri="{FF2B5EF4-FFF2-40B4-BE49-F238E27FC236}">
                <a16:creationId xmlns:a16="http://schemas.microsoft.com/office/drawing/2014/main" id="{3A9A5F45-C05F-42A4-924A-137F9C3DB234}"/>
              </a:ext>
            </a:extLst>
          </p:cNvPr>
          <p:cNvSpPr>
            <a:spLocks xmlns:a="http://schemas.openxmlformats.org/drawingml/2006/main" noGrp="1"/>
          </p:cNvSpPr>
          <p:nvPr/>
        </p:nvSpPr>
        <p:spPr>
          <a:xfrm xmlns:a="http://schemas.openxmlformats.org/drawingml/2006/main">
            <a:off x="1466850" y="2438400"/>
            <a:ext cx="2857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FFFF"/>
                </a:solidFill>
              </a:defRPr>
            </a:pPr>
            <a:r>
              <a:rPr sz="1875" b="1">
                <a:solidFill>
                  <a:srgbClr val="FFFFFF"/>
                </a:solidFill>
              </a:rPr>
              <a:t>Agentic behavior</a:t>
            </a:r>
          </a:p>
        </p:txBody>
      </p:sp>
      <p:sp>
        <p:nvSpPr>
          <p:cNvPr id="10" name="">
            <a:extLst xmlns:a="http://schemas.openxmlformats.org/drawingml/2006/main">
              <a:ext uri="{FF2B5EF4-FFF2-40B4-BE49-F238E27FC236}">
                <a16:creationId xmlns:a16="http://schemas.microsoft.com/office/drawing/2014/main" id="{DBE04DDA-34AD-442A-8461-8E54852A7534}"/>
              </a:ext>
            </a:extLst>
          </p:cNvPr>
          <p:cNvSpPr>
            <a:spLocks xmlns:a="http://schemas.openxmlformats.org/drawingml/2006/main" noGrp="1"/>
          </p:cNvSpPr>
          <p:nvPr/>
        </p:nvSpPr>
        <p:spPr>
          <a:xfrm xmlns:a="http://schemas.openxmlformats.org/drawingml/2006/main">
            <a:off x="4514850" y="2476500"/>
            <a:ext cx="647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D5E1D0"/>
                </a:solidFill>
              </a:defRPr>
            </a:pPr>
            <a:r>
              <a:rPr sz="1425" b="0">
                <a:solidFill>
                  <a:srgbClr val="D5E1D0"/>
                </a:solidFill>
              </a:rPr>
              <a:t>Dynamic tools, observation and reviewed memory</a:t>
            </a:r>
          </a:p>
        </p:txBody>
      </p:sp>
      <p:sp>
        <p:nvSpPr>
          <p:cNvPr id="11" name="">
            <a:extLst xmlns:a="http://schemas.openxmlformats.org/drawingml/2006/main">
              <a:ext uri="{FF2B5EF4-FFF2-40B4-BE49-F238E27FC236}">
                <a16:creationId xmlns:a16="http://schemas.microsoft.com/office/drawing/2014/main" id="{1B0144D3-CBAE-4B0F-ACF8-D5477590F1DA}"/>
              </a:ext>
            </a:extLst>
          </p:cNvPr>
          <p:cNvSpPr>
            <a:spLocks xmlns:a="http://schemas.openxmlformats.org/drawingml/2006/main" noGrp="1"/>
          </p:cNvSpPr>
          <p:nvPr/>
        </p:nvSpPr>
        <p:spPr>
          <a:xfrm xmlns:a="http://schemas.openxmlformats.org/drawingml/2006/main">
            <a:off x="762000" y="3238500"/>
            <a:ext cx="495300" cy="495300"/>
          </a:xfrm>
          <a:prstGeom xmlns:a="http://schemas.openxmlformats.org/drawingml/2006/main" prst="ellipse">
            <a:avLst/>
          </a:prstGeom>
          <a:solidFill xmlns:a="http://schemas.openxmlformats.org/drawingml/2006/main">
            <a:srgbClr val="819067"/>
          </a:solidFill>
          <a:ln xmlns:a="http://schemas.openxmlformats.org/drawingml/2006/main" w="0">
            <a:solidFill>
              <a:srgbClr val="819067"/>
            </a:solidFill>
            <a:prstDash val="solid"/>
          </a:ln>
        </p:spPr>
      </p:sp>
      <p:sp>
        <p:nvSpPr>
          <p:cNvPr id="12" name="">
            <a:extLst xmlns:a="http://schemas.openxmlformats.org/drawingml/2006/main">
              <a:ext uri="{FF2B5EF4-FFF2-40B4-BE49-F238E27FC236}">
                <a16:creationId xmlns:a16="http://schemas.microsoft.com/office/drawing/2014/main" id="{97A91E0B-61B9-4154-8349-A8C055996B1B}"/>
              </a:ext>
            </a:extLst>
          </p:cNvPr>
          <p:cNvSpPr>
            <a:spLocks xmlns:a="http://schemas.openxmlformats.org/drawingml/2006/main" noGrp="1"/>
          </p:cNvSpPr>
          <p:nvPr/>
        </p:nvSpPr>
        <p:spPr>
          <a:xfrm xmlns:a="http://schemas.openxmlformats.org/drawingml/2006/main">
            <a:off x="762000" y="338137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3</a:t>
            </a:r>
          </a:p>
        </p:txBody>
      </p:sp>
      <p:sp>
        <p:nvSpPr>
          <p:cNvPr id="13" name="">
            <a:extLst xmlns:a="http://schemas.openxmlformats.org/drawingml/2006/main">
              <a:ext uri="{FF2B5EF4-FFF2-40B4-BE49-F238E27FC236}">
                <a16:creationId xmlns:a16="http://schemas.microsoft.com/office/drawing/2014/main" id="{29029832-F8BB-4427-B682-76BFBA982571}"/>
              </a:ext>
            </a:extLst>
          </p:cNvPr>
          <p:cNvSpPr>
            <a:spLocks xmlns:a="http://schemas.openxmlformats.org/drawingml/2006/main" noGrp="1"/>
          </p:cNvSpPr>
          <p:nvPr/>
        </p:nvSpPr>
        <p:spPr>
          <a:xfrm xmlns:a="http://schemas.openxmlformats.org/drawingml/2006/main">
            <a:off x="1466850" y="3257550"/>
            <a:ext cx="2857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FFFF"/>
                </a:solidFill>
              </a:defRPr>
            </a:pPr>
            <a:r>
              <a:rPr sz="1875" b="1">
                <a:solidFill>
                  <a:srgbClr val="FFFFFF"/>
                </a:solidFill>
              </a:rPr>
              <a:t>Safe action</a:t>
            </a:r>
          </a:p>
        </p:txBody>
      </p:sp>
      <p:sp>
        <p:nvSpPr>
          <p:cNvPr id="14" name="">
            <a:extLst xmlns:a="http://schemas.openxmlformats.org/drawingml/2006/main">
              <a:ext uri="{FF2B5EF4-FFF2-40B4-BE49-F238E27FC236}">
                <a16:creationId xmlns:a16="http://schemas.microsoft.com/office/drawing/2014/main" id="{133F8ECB-C0F6-411B-8252-9389A6762F77}"/>
              </a:ext>
            </a:extLst>
          </p:cNvPr>
          <p:cNvSpPr>
            <a:spLocks xmlns:a="http://schemas.openxmlformats.org/drawingml/2006/main" noGrp="1"/>
          </p:cNvSpPr>
          <p:nvPr/>
        </p:nvSpPr>
        <p:spPr>
          <a:xfrm xmlns:a="http://schemas.openxmlformats.org/drawingml/2006/main">
            <a:off x="4514850" y="3295650"/>
            <a:ext cx="647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D5E1D0"/>
                </a:solidFill>
              </a:defRPr>
            </a:pPr>
            <a:r>
              <a:rPr sz="1425" b="0">
                <a:solidFill>
                  <a:srgbClr val="D5E1D0"/>
                </a:solidFill>
              </a:rPr>
              <a:t>Human approval, stale checks and idempotent execution</a:t>
            </a:r>
          </a:p>
        </p:txBody>
      </p:sp>
      <p:sp>
        <p:nvSpPr>
          <p:cNvPr id="15" name="">
            <a:extLst xmlns:a="http://schemas.openxmlformats.org/drawingml/2006/main">
              <a:ext uri="{FF2B5EF4-FFF2-40B4-BE49-F238E27FC236}">
                <a16:creationId xmlns:a16="http://schemas.microsoft.com/office/drawing/2014/main" id="{DFF3B0B8-6342-481C-B2C5-DF09678AC085}"/>
              </a:ext>
            </a:extLst>
          </p:cNvPr>
          <p:cNvSpPr>
            <a:spLocks xmlns:a="http://schemas.openxmlformats.org/drawingml/2006/main" noGrp="1"/>
          </p:cNvSpPr>
          <p:nvPr/>
        </p:nvSpPr>
        <p:spPr>
          <a:xfrm xmlns:a="http://schemas.openxmlformats.org/drawingml/2006/main">
            <a:off x="762000" y="4057650"/>
            <a:ext cx="495300" cy="495300"/>
          </a:xfrm>
          <a:prstGeom xmlns:a="http://schemas.openxmlformats.org/drawingml/2006/main" prst="ellipse">
            <a:avLst/>
          </a:prstGeom>
          <a:solidFill xmlns:a="http://schemas.openxmlformats.org/drawingml/2006/main">
            <a:srgbClr val="819067"/>
          </a:solidFill>
          <a:ln xmlns:a="http://schemas.openxmlformats.org/drawingml/2006/main" w="0">
            <a:solidFill>
              <a:srgbClr val="819067"/>
            </a:solidFill>
            <a:prstDash val="solid"/>
          </a:ln>
        </p:spPr>
      </p:sp>
      <p:sp>
        <p:nvSpPr>
          <p:cNvPr id="16" name="">
            <a:extLst xmlns:a="http://schemas.openxmlformats.org/drawingml/2006/main">
              <a:ext uri="{FF2B5EF4-FFF2-40B4-BE49-F238E27FC236}">
                <a16:creationId xmlns:a16="http://schemas.microsoft.com/office/drawing/2014/main" id="{60F55A6A-B362-433A-8DA5-2752927CDC5F}"/>
              </a:ext>
            </a:extLst>
          </p:cNvPr>
          <p:cNvSpPr>
            <a:spLocks xmlns:a="http://schemas.openxmlformats.org/drawingml/2006/main" noGrp="1"/>
          </p:cNvSpPr>
          <p:nvPr/>
        </p:nvSpPr>
        <p:spPr>
          <a:xfrm xmlns:a="http://schemas.openxmlformats.org/drawingml/2006/main">
            <a:off x="762000" y="420052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4</a:t>
            </a:r>
          </a:p>
        </p:txBody>
      </p:sp>
      <p:sp>
        <p:nvSpPr>
          <p:cNvPr id="17" name="">
            <a:extLst xmlns:a="http://schemas.openxmlformats.org/drawingml/2006/main">
              <a:ext uri="{FF2B5EF4-FFF2-40B4-BE49-F238E27FC236}">
                <a16:creationId xmlns:a16="http://schemas.microsoft.com/office/drawing/2014/main" id="{A9DF5A0D-359A-4B5A-8CC3-7B8B82899928}"/>
              </a:ext>
            </a:extLst>
          </p:cNvPr>
          <p:cNvSpPr>
            <a:spLocks xmlns:a="http://schemas.openxmlformats.org/drawingml/2006/main" noGrp="1"/>
          </p:cNvSpPr>
          <p:nvPr/>
        </p:nvSpPr>
        <p:spPr>
          <a:xfrm xmlns:a="http://schemas.openxmlformats.org/drawingml/2006/main">
            <a:off x="1466850" y="4076700"/>
            <a:ext cx="2857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FFFF"/>
                </a:solidFill>
              </a:defRPr>
            </a:pPr>
            <a:r>
              <a:rPr sz="1875" b="1">
                <a:solidFill>
                  <a:srgbClr val="FFFFFF"/>
                </a:solidFill>
              </a:rPr>
              <a:t>Automation</a:t>
            </a:r>
          </a:p>
        </p:txBody>
      </p:sp>
      <p:sp>
        <p:nvSpPr>
          <p:cNvPr id="18" name="">
            <a:extLst xmlns:a="http://schemas.openxmlformats.org/drawingml/2006/main">
              <a:ext uri="{FF2B5EF4-FFF2-40B4-BE49-F238E27FC236}">
                <a16:creationId xmlns:a16="http://schemas.microsoft.com/office/drawing/2014/main" id="{953C8EAD-5BE3-4F19-9467-CB12E186F602}"/>
              </a:ext>
            </a:extLst>
          </p:cNvPr>
          <p:cNvSpPr>
            <a:spLocks xmlns:a="http://schemas.openxmlformats.org/drawingml/2006/main" noGrp="1"/>
          </p:cNvSpPr>
          <p:nvPr/>
        </p:nvSpPr>
        <p:spPr>
          <a:xfrm xmlns:a="http://schemas.openxmlformats.org/drawingml/2006/main">
            <a:off x="4514850" y="4114800"/>
            <a:ext cx="647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D5E1D0"/>
                </a:solidFill>
              </a:defRPr>
            </a:pPr>
            <a:r>
              <a:rPr sz="1425" b="0">
                <a:solidFill>
                  <a:srgbClr val="D5E1D0"/>
                </a:solidFill>
              </a:rPr>
              <a:t>Telegram, n8n, scheduled alerts and PDF delivery</a:t>
            </a:r>
          </a:p>
        </p:txBody>
      </p:sp>
      <p:sp>
        <p:nvSpPr>
          <p:cNvPr id="19" name="">
            <a:extLst xmlns:a="http://schemas.openxmlformats.org/drawingml/2006/main">
              <a:ext uri="{FF2B5EF4-FFF2-40B4-BE49-F238E27FC236}">
                <a16:creationId xmlns:a16="http://schemas.microsoft.com/office/drawing/2014/main" id="{A0CA3AED-2A82-455D-B029-244C6716211B}"/>
              </a:ext>
            </a:extLst>
          </p:cNvPr>
          <p:cNvSpPr>
            <a:spLocks xmlns:a="http://schemas.openxmlformats.org/drawingml/2006/main" noGrp="1"/>
          </p:cNvSpPr>
          <p:nvPr/>
        </p:nvSpPr>
        <p:spPr>
          <a:xfrm xmlns:a="http://schemas.openxmlformats.org/drawingml/2006/main">
            <a:off x="762000" y="4876800"/>
            <a:ext cx="495300" cy="495300"/>
          </a:xfrm>
          <a:prstGeom xmlns:a="http://schemas.openxmlformats.org/drawingml/2006/main" prst="ellipse">
            <a:avLst/>
          </a:prstGeom>
          <a:solidFill xmlns:a="http://schemas.openxmlformats.org/drawingml/2006/main">
            <a:srgbClr val="D7B657"/>
          </a:solidFill>
          <a:ln xmlns:a="http://schemas.openxmlformats.org/drawingml/2006/main" w="0">
            <a:solidFill>
              <a:srgbClr val="D7B657"/>
            </a:solidFill>
            <a:prstDash val="solid"/>
          </a:ln>
        </p:spPr>
      </p:sp>
      <p:sp>
        <p:nvSpPr>
          <p:cNvPr id="20" name="">
            <a:extLst xmlns:a="http://schemas.openxmlformats.org/drawingml/2006/main">
              <a:ext uri="{FF2B5EF4-FFF2-40B4-BE49-F238E27FC236}">
                <a16:creationId xmlns:a16="http://schemas.microsoft.com/office/drawing/2014/main" id="{C1C549DF-257D-4C35-AAC0-9C1168476928}"/>
              </a:ext>
            </a:extLst>
          </p:cNvPr>
          <p:cNvSpPr>
            <a:spLocks xmlns:a="http://schemas.openxmlformats.org/drawingml/2006/main" noGrp="1"/>
          </p:cNvSpPr>
          <p:nvPr/>
        </p:nvSpPr>
        <p:spPr>
          <a:xfrm xmlns:a="http://schemas.openxmlformats.org/drawingml/2006/main">
            <a:off x="762000" y="501967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0A400C"/>
                </a:solidFill>
              </a:defRPr>
            </a:pPr>
            <a:r>
              <a:rPr sz="1125" b="1">
                <a:solidFill>
                  <a:srgbClr val="0A400C"/>
                </a:solidFill>
              </a:rPr>
              <a:t>5</a:t>
            </a:r>
          </a:p>
        </p:txBody>
      </p:sp>
      <p:sp>
        <p:nvSpPr>
          <p:cNvPr id="21" name="">
            <a:extLst xmlns:a="http://schemas.openxmlformats.org/drawingml/2006/main">
              <a:ext uri="{FF2B5EF4-FFF2-40B4-BE49-F238E27FC236}">
                <a16:creationId xmlns:a16="http://schemas.microsoft.com/office/drawing/2014/main" id="{005F6522-B295-48D7-963A-F94D59E5F90E}"/>
              </a:ext>
            </a:extLst>
          </p:cNvPr>
          <p:cNvSpPr>
            <a:spLocks xmlns:a="http://schemas.openxmlformats.org/drawingml/2006/main" noGrp="1"/>
          </p:cNvSpPr>
          <p:nvPr/>
        </p:nvSpPr>
        <p:spPr>
          <a:xfrm xmlns:a="http://schemas.openxmlformats.org/drawingml/2006/main">
            <a:off x="1466850" y="4895850"/>
            <a:ext cx="2857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FFFF"/>
                </a:solidFill>
              </a:defRPr>
            </a:pPr>
            <a:r>
              <a:rPr sz="1875" b="1">
                <a:solidFill>
                  <a:srgbClr val="FFFFFF"/>
                </a:solidFill>
              </a:rPr>
              <a:t>Production thinking</a:t>
            </a:r>
          </a:p>
        </p:txBody>
      </p:sp>
      <p:sp>
        <p:nvSpPr>
          <p:cNvPr id="22" name="">
            <a:extLst xmlns:a="http://schemas.openxmlformats.org/drawingml/2006/main">
              <a:ext uri="{FF2B5EF4-FFF2-40B4-BE49-F238E27FC236}">
                <a16:creationId xmlns:a16="http://schemas.microsoft.com/office/drawing/2014/main" id="{8AF06B71-A25C-4D90-8670-4DDA2472247D}"/>
              </a:ext>
            </a:extLst>
          </p:cNvPr>
          <p:cNvSpPr>
            <a:spLocks xmlns:a="http://schemas.openxmlformats.org/drawingml/2006/main" noGrp="1"/>
          </p:cNvSpPr>
          <p:nvPr/>
        </p:nvSpPr>
        <p:spPr>
          <a:xfrm xmlns:a="http://schemas.openxmlformats.org/drawingml/2006/main">
            <a:off x="4514850" y="4933950"/>
            <a:ext cx="647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D5E1D0"/>
                </a:solidFill>
              </a:defRPr>
            </a:pPr>
            <a:r>
              <a:rPr sz="1425" b="0">
                <a:solidFill>
                  <a:srgbClr val="D5E1D0"/>
                </a:solidFill>
              </a:rPr>
              <a:t>Permissions, privacy, tests, retries and deployment boundaries</a:t>
            </a:r>
          </a:p>
        </p:txBody>
      </p:sp>
      <p:sp>
        <p:nvSpPr>
          <p:cNvPr id="23" name="">
            <a:extLst xmlns:a="http://schemas.openxmlformats.org/drawingml/2006/main">
              <a:ext uri="{FF2B5EF4-FFF2-40B4-BE49-F238E27FC236}">
                <a16:creationId xmlns:a16="http://schemas.microsoft.com/office/drawing/2014/main" id="{CCAE780F-E833-4850-812A-D7A4436BD48B}"/>
              </a:ext>
            </a:extLst>
          </p:cNvPr>
          <p:cNvSpPr>
            <a:spLocks xmlns:a="http://schemas.openxmlformats.org/drawingml/2006/main" noGrp="1"/>
          </p:cNvSpPr>
          <p:nvPr/>
        </p:nvSpPr>
        <p:spPr>
          <a:xfrm xmlns:a="http://schemas.openxmlformats.org/drawingml/2006/main">
            <a:off x="762000" y="5848350"/>
            <a:ext cx="10668000" cy="9525"/>
          </a:xfrm>
          <a:prstGeom xmlns:a="http://schemas.openxmlformats.org/drawingml/2006/main" prst="rect">
            <a:avLst/>
          </a:prstGeom>
          <a:solidFill xmlns:a="http://schemas.openxmlformats.org/drawingml/2006/main">
            <a:srgbClr val="557359"/>
          </a:solidFill>
          <a:ln xmlns:a="http://schemas.openxmlformats.org/drawingml/2006/main" w="0">
            <a:solidFill>
              <a:srgbClr val="557359"/>
            </a:solidFill>
            <a:prstDash val="solid"/>
          </a:ln>
        </p:spPr>
      </p:sp>
      <p:sp>
        <p:nvSpPr>
          <p:cNvPr id="24" name="">
            <a:extLst xmlns:a="http://schemas.openxmlformats.org/drawingml/2006/main">
              <a:ext uri="{FF2B5EF4-FFF2-40B4-BE49-F238E27FC236}">
                <a16:creationId xmlns:a16="http://schemas.microsoft.com/office/drawing/2014/main" id="{9A631022-CAE5-49C1-BB10-D4F4B94186E5}"/>
              </a:ext>
            </a:extLst>
          </p:cNvPr>
          <p:cNvSpPr>
            <a:spLocks xmlns:a="http://schemas.openxmlformats.org/drawingml/2006/main" noGrp="1"/>
          </p:cNvSpPr>
          <p:nvPr/>
        </p:nvSpPr>
        <p:spPr>
          <a:xfrm xmlns:a="http://schemas.openxmlformats.org/drawingml/2006/main">
            <a:off x="781050" y="601980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C9D8C4"/>
                </a:solidFill>
              </a:defRPr>
            </a:pPr>
            <a:r>
              <a:rPr sz="1350" b="0">
                <a:solidFill>
                  <a:srgbClr val="C9D8C4"/>
                </a:solidFill>
              </a:rPr>
              <a:t>Next step: replace the temporary tunnel with stable HTTPS, add monitoring, and run a controlled pilot with fictional or approved data.</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2e37e35571604fad"/>
          <a:stretch xmlns:a="http://schemas.openxmlformats.org/drawingml/2006/main"/>
        </p:blipFill>
        <p:spPr>
          <a:xfrm xmlns:a="http://schemas.openxmlformats.org/drawingml/2006/main">
            <a:off x="10738515" y="5962650"/>
            <a:ext cx="373320" cy="400050"/>
          </a:xfrm>
          <a:prstGeom xmlns:a="http://schemas.openxmlformats.org/drawingml/2006/main" prst="rect">
            <a:avLst/>
          </a:prstGeom>
        </p:spPr>
      </p:pic>
    </p:spTree>
    <p:extLst>
      <p:ext uri="{BB962C8B-B14F-4D97-AF65-F5344CB8AC3E}">
        <p14:creationId xmlns:p14="http://schemas.microsoft.com/office/powerpoint/2010/main" val="12176528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2026-08-09T08:58:11.4310000Z</dcterms:created>
  <dcterms:modified xsi:type="dcterms:W3CDTF">2026-08-09T08:58:11.4310000Z</dcterms:modified>
</coreProperties>
</file>